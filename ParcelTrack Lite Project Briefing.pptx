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3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4351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am introducing the group project for STTCK3033 Secure Software Development: ParcelTrack Lite, a secure parcel tracking system. You will work in groups of three, and the final deadline is Week 14. By the end of this briefing you should know what to build, who builds what, how security is assessed, and what you must submit.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the main assessment for CLO3: integrating appropriate theories and techniques to solve a secure software development problem. That means you are not only building features; you are applying secure design, secure coding and security testing to a realistic system. The deadline is Week 14, and you work in groups of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RapidExpress is a fictional local courier in the northern region of Malaysia that delivers parcels for Shopee and Lazada sellers. Today everything runs over WhatsApp and phone calls. They want a simple web system instead. The important point: the system holds personal data, so security is a requirement from day one, not something added at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kinds of user. Three log in: sellers, riders and admins. The fourth, the public user, never logs in and can only track a parcel by its tracking number. Keep these roles in mind, because almost every security requirement depends on who is allowed to do what. Sellers and admins use office PCs; riders use Android phones over 4G; the tracking page is open to anyone on the internet.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parcel moves through the same four statuses. The seller registers it, the admin assigns a rider, the rider takes it out for delivery, and finally records Delivered or Failed with a photo. Two things to design for from the start: every status change must record who made it and when, and the public tracking page must never reveal personal data, only status, date and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split into three modules, and all three are required. Member 1 owns login and user management. Member 2 owns parcel registration and the public tracking page, including generating tracking numbers that cannot be guessed. Member 3 owns delivery updates, the proof-of-delivery upload and the admin dashboard. Each member builds, secures, tests and demonstrates their own module, and then the group integrates all three into one working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this is a group project, marking is individual. Each of you owns one module, writes its code, and is assessed on its security controls, testing and demonstration. Please agree on who takes which module early and submit the allocation by Week 5 using the shared sheet. If you are less confident as a developer, you may start from the ParcelTrack Lite starter kit, an insecure working PHP app that you convert and then secure. If you use it, declare it with your allocation and commit the untouched kit first, because you are marked only on what you change and the security you add. Git is optional, but if you use it, your commit history is good evidence of your own work. The database design, the common layout and the integration are shared, so plan those together from the start.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your access control specification. Notice the qualifiers: sellers see only their own parcels, riders see only parcels assigned to them, and the public sees status only. The most common mistake in student projects is enforcing this only in the user interface, for example by hiding a button. That is not access control. Every request must be checked on the server, including requests where someone changes a parcel ID in the URL.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threats map directly onto your modules. SQL injection and weak password storage affect login and search. Broken access control and guessable tracking numbers affect registration and tracking. XSS and malicious file upload affect the parcel lists and the proof-of-delivery photo. For each threat that touches your module, you should define a security requirement, implement a control, and show a test that proves the control works.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RapidExpress has five organisational security policies. A policy states what the company expects; your job is to turn each relevant policy into concrete security requirements for your module, which say how the system meets it. For example, P2 becomes a password length rule and secure password hashing; P4 means configuration files or environment variables for secrets and fake test data; P5 means an audit log that never stores passwords or full addresses. The full policy wording is in the case study document.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choose any one of three stacks: PHP with MySQL, Python with Flask or Django, or Java with Spring Boot. The whole group uses the same stack so the modules integrate. Git is optional but recommended. Remember the operating context: riders use phones on mobile data, and the tracking page is public on the internet, which is why the deployment requirement on the next slide matters.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change from earlier versions of the brief. Deployment is now part of the marking. If your group deploys ParcelTrack Lite on a cloud server and demonstrates it from there, you receive full marks for the deployment criterion. A system that runs only locally, for example on XAMPP, Laragon or Docker on a laptop, is still accepted, but 5 marks are deducted from the deployment criterion. Many providers have free tiers or student credits, so plan your hosting early rather than in Week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dates to remember. By Week 5, submit your module allocation. By Week 14, you deliver two things: a live demonstration of about 30 minutes per group, where each member spends roughly 10 minutes showing the security requirements of their own module, and a security test case document organised by module, giving the input, expected result and actual result of each test, with the owner's name.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three things to do this week: form your group and agree on a stack, assign the modules and submit the allocation by Week 5, and plan your cloud hosting early. As you design, map every threat that touches your module to a control and a test case, because that is what you will demonstrate in Week 14. The full case study document has all the details.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34"/>
            <a:ext cx="10566400" cy="41656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34"/>
            <a:ext cx="10566400" cy="41656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ocs.google.com/spreadsheets/d/1hfPWKGwtQZexaybJU_yMVaZOhdNPqhhoONAIBC215Ts/edit?gid=0#gid=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E7BD1"/>
          </a:solidFill>
          <a:ln/>
        </p:spPr>
        <p:txBody>
          <a:bodyPr/>
          <a:lstStyle/>
          <a:p>
            <a:endParaRPr lang="en-MY"/>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7FB2EA"/>
                </a:solidFill>
                <a:latin typeface="IBM Plex Sans" pitchFamily="34" charset="0"/>
                <a:ea typeface="IBM Plex Sans" pitchFamily="34" charset="-122"/>
                <a:cs typeface="IBM Plex Sans" pitchFamily="34" charset="-120"/>
              </a:rPr>
              <a:t>STTCK3033 SECURE SOFTWARE DEVELOPMENT · GROUP PROJECT</a:t>
            </a:r>
            <a:endParaRPr lang="en-US" sz="1200" dirty="0"/>
          </a:p>
        </p:txBody>
      </p:sp>
      <p:sp>
        <p:nvSpPr>
          <p:cNvPr id="4" name="Text 2"/>
          <p:cNvSpPr>
            <a:spLocks noGrp="1"/>
          </p:cNvSpPr>
          <p:nvPr>
            <p:ph type="title"/>
          </p:nvPr>
        </p:nvSpPr>
        <p:spPr>
          <a:xfrm>
            <a:off x="812800" y="2418159"/>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4F6FA"/>
                </a:solidFill>
                <a:latin typeface="Space Grotesk" pitchFamily="34" charset="0"/>
                <a:ea typeface="Space Grotesk" pitchFamily="34" charset="-122"/>
                <a:cs typeface="Space Grotesk" pitchFamily="34" charset="-120"/>
              </a:rPr>
              <a:t>ParcelTrack Lite</a:t>
            </a:r>
            <a:endParaRPr lang="en-US" sz="6400" dirty="0"/>
          </a:p>
        </p:txBody>
      </p:sp>
      <p:sp>
        <p:nvSpPr>
          <p:cNvPr id="5" name="Text 3"/>
          <p:cNvSpPr/>
          <p:nvPr/>
        </p:nvSpPr>
        <p:spPr>
          <a:xfrm>
            <a:off x="812800" y="3474773"/>
            <a:ext cx="10883392" cy="388607"/>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D0E6"/>
                </a:solidFill>
                <a:latin typeface="IBM Plex Sans" pitchFamily="34" charset="0"/>
                <a:ea typeface="IBM Plex Sans" pitchFamily="34" charset="-122"/>
                <a:cs typeface="IBM Plex Sans" pitchFamily="34" charset="-120"/>
              </a:rPr>
              <a:t>Designing and building a secure parcel tracking system</a:t>
            </a:r>
            <a:endParaRPr lang="en-US" sz="2200" dirty="0"/>
          </a:p>
        </p:txBody>
      </p:sp>
      <p:sp>
        <p:nvSpPr>
          <p:cNvPr id="6" name="Shape 4"/>
          <p:cNvSpPr/>
          <p:nvPr/>
        </p:nvSpPr>
        <p:spPr>
          <a:xfrm>
            <a:off x="812800" y="5236303"/>
            <a:ext cx="10566400" cy="0"/>
          </a:xfrm>
          <a:prstGeom prst="line">
            <a:avLst/>
          </a:prstGeom>
          <a:noFill/>
          <a:ln w="12700">
            <a:solidFill>
              <a:srgbClr val="2C3D63"/>
            </a:solidFill>
            <a:prstDash val="solid"/>
          </a:ln>
        </p:spPr>
        <p:txBody>
          <a:bodyPr/>
          <a:lstStyle/>
          <a:p>
            <a:endParaRPr lang="en-MY"/>
          </a:p>
        </p:txBody>
      </p:sp>
      <p:sp>
        <p:nvSpPr>
          <p:cNvPr id="7" name="Text 5"/>
          <p:cNvSpPr/>
          <p:nvPr/>
        </p:nvSpPr>
        <p:spPr>
          <a:xfrm>
            <a:off x="812800" y="5496653"/>
            <a:ext cx="287843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FA8C8"/>
                </a:solidFill>
                <a:latin typeface="IBM Plex Sans" pitchFamily="34" charset="0"/>
                <a:ea typeface="IBM Plex Sans" pitchFamily="34" charset="-122"/>
                <a:cs typeface="IBM Plex Sans" pitchFamily="34" charset="-120"/>
              </a:rPr>
              <a:t>LECTURER</a:t>
            </a:r>
            <a:endParaRPr lang="en-US" sz="1200" dirty="0"/>
          </a:p>
        </p:txBody>
      </p:sp>
      <p:sp>
        <p:nvSpPr>
          <p:cNvPr id="8" name="Text 6"/>
          <p:cNvSpPr/>
          <p:nvPr/>
        </p:nvSpPr>
        <p:spPr>
          <a:xfrm>
            <a:off x="812800" y="5760773"/>
            <a:ext cx="335351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6FA"/>
                </a:solidFill>
                <a:latin typeface="IBM Plex Sans" pitchFamily="34" charset="0"/>
                <a:ea typeface="IBM Plex Sans" pitchFamily="34" charset="-122"/>
                <a:cs typeface="IBM Plex Sans" pitchFamily="34" charset="-120"/>
              </a:rPr>
              <a:t>Munya Saleh Saeed Ba Matraf</a:t>
            </a:r>
            <a:endParaRPr lang="en-US" sz="1600" dirty="0"/>
          </a:p>
        </p:txBody>
      </p:sp>
      <p:sp>
        <p:nvSpPr>
          <p:cNvPr id="9" name="Text 7"/>
          <p:cNvSpPr/>
          <p:nvPr/>
        </p:nvSpPr>
        <p:spPr>
          <a:xfrm>
            <a:off x="4216995" y="5496653"/>
            <a:ext cx="99194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FA8C8"/>
                </a:solidFill>
                <a:latin typeface="IBM Plex Sans" pitchFamily="34" charset="0"/>
                <a:ea typeface="IBM Plex Sans" pitchFamily="34" charset="-122"/>
                <a:cs typeface="IBM Plex Sans" pitchFamily="34" charset="-120"/>
              </a:rPr>
              <a:t>DEADLINE</a:t>
            </a:r>
            <a:endParaRPr lang="en-US" sz="1200" dirty="0"/>
          </a:p>
        </p:txBody>
      </p:sp>
      <p:sp>
        <p:nvSpPr>
          <p:cNvPr id="10" name="Text 8"/>
          <p:cNvSpPr/>
          <p:nvPr/>
        </p:nvSpPr>
        <p:spPr>
          <a:xfrm>
            <a:off x="4216995" y="5760773"/>
            <a:ext cx="99194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6FA"/>
                </a:solidFill>
                <a:latin typeface="IBM Plex Sans" pitchFamily="34" charset="0"/>
                <a:ea typeface="IBM Plex Sans" pitchFamily="34" charset="-122"/>
                <a:cs typeface="IBM Plex Sans" pitchFamily="34" charset="-120"/>
              </a:rPr>
              <a:t>Week 14</a:t>
            </a:r>
            <a:endParaRPr lang="en-US" sz="1600" dirty="0"/>
          </a:p>
        </p:txBody>
      </p:sp>
      <p:sp>
        <p:nvSpPr>
          <p:cNvPr id="11" name="Text 9"/>
          <p:cNvSpPr/>
          <p:nvPr/>
        </p:nvSpPr>
        <p:spPr>
          <a:xfrm>
            <a:off x="5653220" y="5496653"/>
            <a:ext cx="153259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FA8C8"/>
                </a:solidFill>
                <a:latin typeface="IBM Plex Sans" pitchFamily="34" charset="0"/>
                <a:ea typeface="IBM Plex Sans" pitchFamily="34" charset="-122"/>
                <a:cs typeface="IBM Plex Sans" pitchFamily="34" charset="-120"/>
              </a:rPr>
              <a:t>GROUP SIZE</a:t>
            </a:r>
            <a:endParaRPr lang="en-US" sz="1200" dirty="0"/>
          </a:p>
        </p:txBody>
      </p:sp>
      <p:sp>
        <p:nvSpPr>
          <p:cNvPr id="12" name="Text 10"/>
          <p:cNvSpPr/>
          <p:nvPr/>
        </p:nvSpPr>
        <p:spPr>
          <a:xfrm>
            <a:off x="5653220" y="5760773"/>
            <a:ext cx="177815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6FA"/>
                </a:solidFill>
                <a:latin typeface="IBM Plex Sans" pitchFamily="34" charset="0"/>
                <a:ea typeface="IBM Plex Sans" pitchFamily="34" charset="-122"/>
                <a:cs typeface="IBM Plex Sans" pitchFamily="34" charset="-120"/>
              </a:rPr>
              <a:t>Three members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COURSE INFORMATION</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this project assesses</a:t>
            </a:r>
            <a:endParaRPr lang="en-US" sz="3200" dirty="0"/>
          </a:p>
        </p:txBody>
      </p:sp>
      <p:sp>
        <p:nvSpPr>
          <p:cNvPr id="4" name="Shape 2"/>
          <p:cNvSpPr/>
          <p:nvPr/>
        </p:nvSpPr>
        <p:spPr>
          <a:xfrm>
            <a:off x="812800" y="1936684"/>
            <a:ext cx="4724400" cy="0"/>
          </a:xfrm>
          <a:prstGeom prst="line">
            <a:avLst/>
          </a:prstGeom>
          <a:noFill/>
          <a:ln w="12700">
            <a:solidFill>
              <a:srgbClr val="D3DAE4"/>
            </a:solidFill>
            <a:prstDash val="solid"/>
          </a:ln>
        </p:spPr>
        <p:txBody>
          <a:bodyPr/>
          <a:lstStyle/>
          <a:p>
            <a:endParaRPr lang="en-MY"/>
          </a:p>
        </p:txBody>
      </p:sp>
      <p:sp>
        <p:nvSpPr>
          <p:cNvPr id="5" name="Text 3"/>
          <p:cNvSpPr/>
          <p:nvPr/>
        </p:nvSpPr>
        <p:spPr>
          <a:xfrm>
            <a:off x="812800" y="2095434"/>
            <a:ext cx="486613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686"/>
                </a:solidFill>
                <a:latin typeface="IBM Plex Sans" pitchFamily="34" charset="0"/>
                <a:ea typeface="IBM Plex Sans" pitchFamily="34" charset="-122"/>
                <a:cs typeface="IBM Plex Sans" pitchFamily="34" charset="-120"/>
              </a:rPr>
              <a:t>COURSE</a:t>
            </a:r>
            <a:endParaRPr lang="en-US" sz="1200" dirty="0"/>
          </a:p>
        </p:txBody>
      </p:sp>
      <p:sp>
        <p:nvSpPr>
          <p:cNvPr id="6" name="Text 4"/>
          <p:cNvSpPr/>
          <p:nvPr/>
        </p:nvSpPr>
        <p:spPr>
          <a:xfrm>
            <a:off x="812800" y="2359554"/>
            <a:ext cx="486613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STTCK3033 Secure Software Development</a:t>
            </a:r>
            <a:endParaRPr lang="en-US" sz="1600" dirty="0"/>
          </a:p>
        </p:txBody>
      </p:sp>
      <p:sp>
        <p:nvSpPr>
          <p:cNvPr id="7" name="Shape 5"/>
          <p:cNvSpPr/>
          <p:nvPr/>
        </p:nvSpPr>
        <p:spPr>
          <a:xfrm>
            <a:off x="812800" y="2802731"/>
            <a:ext cx="4724400" cy="0"/>
          </a:xfrm>
          <a:prstGeom prst="line">
            <a:avLst/>
          </a:prstGeom>
          <a:noFill/>
          <a:ln w="12700">
            <a:solidFill>
              <a:srgbClr val="D3DAE4"/>
            </a:solidFill>
            <a:prstDash val="solid"/>
          </a:ln>
        </p:spPr>
        <p:txBody>
          <a:bodyPr/>
          <a:lstStyle/>
          <a:p>
            <a:endParaRPr lang="en-MY"/>
          </a:p>
        </p:txBody>
      </p:sp>
      <p:sp>
        <p:nvSpPr>
          <p:cNvPr id="8" name="Text 6"/>
          <p:cNvSpPr/>
          <p:nvPr/>
        </p:nvSpPr>
        <p:spPr>
          <a:xfrm>
            <a:off x="812800" y="2961481"/>
            <a:ext cx="486613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686"/>
                </a:solidFill>
                <a:latin typeface="IBM Plex Sans" pitchFamily="34" charset="0"/>
                <a:ea typeface="IBM Plex Sans" pitchFamily="34" charset="-122"/>
                <a:cs typeface="IBM Plex Sans" pitchFamily="34" charset="-120"/>
              </a:rPr>
              <a:t>LECTURER</a:t>
            </a:r>
            <a:endParaRPr lang="en-US" sz="1200" dirty="0"/>
          </a:p>
        </p:txBody>
      </p:sp>
      <p:sp>
        <p:nvSpPr>
          <p:cNvPr id="9" name="Text 7"/>
          <p:cNvSpPr/>
          <p:nvPr/>
        </p:nvSpPr>
        <p:spPr>
          <a:xfrm>
            <a:off x="812800" y="3225602"/>
            <a:ext cx="486613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Munya Saleh Saeed Ba Matraf</a:t>
            </a:r>
            <a:endParaRPr lang="en-US" sz="1600" dirty="0"/>
          </a:p>
        </p:txBody>
      </p:sp>
      <p:sp>
        <p:nvSpPr>
          <p:cNvPr id="10" name="Shape 8"/>
          <p:cNvSpPr/>
          <p:nvPr/>
        </p:nvSpPr>
        <p:spPr>
          <a:xfrm>
            <a:off x="812800" y="3668779"/>
            <a:ext cx="4724400" cy="0"/>
          </a:xfrm>
          <a:prstGeom prst="line">
            <a:avLst/>
          </a:prstGeom>
          <a:noFill/>
          <a:ln w="12700">
            <a:solidFill>
              <a:srgbClr val="D3DAE4"/>
            </a:solidFill>
            <a:prstDash val="solid"/>
          </a:ln>
        </p:spPr>
        <p:txBody>
          <a:bodyPr/>
          <a:lstStyle/>
          <a:p>
            <a:endParaRPr lang="en-MY"/>
          </a:p>
        </p:txBody>
      </p:sp>
      <p:sp>
        <p:nvSpPr>
          <p:cNvPr id="11" name="Text 9"/>
          <p:cNvSpPr/>
          <p:nvPr/>
        </p:nvSpPr>
        <p:spPr>
          <a:xfrm>
            <a:off x="812800" y="3827529"/>
            <a:ext cx="486613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686"/>
                </a:solidFill>
                <a:latin typeface="IBM Plex Sans" pitchFamily="34" charset="0"/>
                <a:ea typeface="IBM Plex Sans" pitchFamily="34" charset="-122"/>
                <a:cs typeface="IBM Plex Sans" pitchFamily="34" charset="-120"/>
              </a:rPr>
              <a:t>DEADLINE</a:t>
            </a:r>
            <a:endParaRPr lang="en-US" sz="1200" dirty="0"/>
          </a:p>
        </p:txBody>
      </p:sp>
      <p:sp>
        <p:nvSpPr>
          <p:cNvPr id="12" name="Text 10"/>
          <p:cNvSpPr/>
          <p:nvPr/>
        </p:nvSpPr>
        <p:spPr>
          <a:xfrm>
            <a:off x="812800" y="4091649"/>
            <a:ext cx="486613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Week 14</a:t>
            </a:r>
            <a:endParaRPr lang="en-US" sz="1600" dirty="0"/>
          </a:p>
        </p:txBody>
      </p:sp>
      <p:sp>
        <p:nvSpPr>
          <p:cNvPr id="13" name="Shape 11"/>
          <p:cNvSpPr/>
          <p:nvPr/>
        </p:nvSpPr>
        <p:spPr>
          <a:xfrm>
            <a:off x="812800" y="4534826"/>
            <a:ext cx="4724400" cy="0"/>
          </a:xfrm>
          <a:prstGeom prst="line">
            <a:avLst/>
          </a:prstGeom>
          <a:noFill/>
          <a:ln w="12700">
            <a:solidFill>
              <a:srgbClr val="D3DAE4"/>
            </a:solidFill>
            <a:prstDash val="solid"/>
          </a:ln>
        </p:spPr>
        <p:txBody>
          <a:bodyPr/>
          <a:lstStyle/>
          <a:p>
            <a:endParaRPr lang="en-MY"/>
          </a:p>
        </p:txBody>
      </p:sp>
      <p:sp>
        <p:nvSpPr>
          <p:cNvPr id="14" name="Shape 12"/>
          <p:cNvSpPr/>
          <p:nvPr/>
        </p:nvSpPr>
        <p:spPr>
          <a:xfrm>
            <a:off x="812800" y="5400874"/>
            <a:ext cx="4724400" cy="0"/>
          </a:xfrm>
          <a:prstGeom prst="line">
            <a:avLst/>
          </a:prstGeom>
          <a:noFill/>
          <a:ln w="12700">
            <a:solidFill>
              <a:srgbClr val="D3DAE4"/>
            </a:solidFill>
            <a:prstDash val="solid"/>
          </a:ln>
        </p:spPr>
        <p:txBody>
          <a:bodyPr/>
          <a:lstStyle/>
          <a:p>
            <a:endParaRPr lang="en-MY"/>
          </a:p>
        </p:txBody>
      </p:sp>
      <p:sp>
        <p:nvSpPr>
          <p:cNvPr id="15" name="Text 13"/>
          <p:cNvSpPr/>
          <p:nvPr/>
        </p:nvSpPr>
        <p:spPr>
          <a:xfrm>
            <a:off x="812800" y="4693576"/>
            <a:ext cx="486613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686"/>
                </a:solidFill>
                <a:latin typeface="IBM Plex Sans" pitchFamily="34" charset="0"/>
                <a:ea typeface="IBM Plex Sans" pitchFamily="34" charset="-122"/>
                <a:cs typeface="IBM Plex Sans" pitchFamily="34" charset="-120"/>
              </a:rPr>
              <a:t>FORMAT</a:t>
            </a:r>
            <a:endParaRPr lang="en-US" sz="1200" dirty="0"/>
          </a:p>
        </p:txBody>
      </p:sp>
      <p:sp>
        <p:nvSpPr>
          <p:cNvPr id="16" name="Text 14"/>
          <p:cNvSpPr/>
          <p:nvPr/>
        </p:nvSpPr>
        <p:spPr>
          <a:xfrm>
            <a:off x="812800" y="4957697"/>
            <a:ext cx="486613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Group project, three members per group</a:t>
            </a:r>
            <a:endParaRPr lang="en-US" sz="1600" dirty="0"/>
          </a:p>
        </p:txBody>
      </p:sp>
      <p:sp>
        <p:nvSpPr>
          <p:cNvPr id="17" name="Shape 15"/>
          <p:cNvSpPr/>
          <p:nvPr/>
        </p:nvSpPr>
        <p:spPr>
          <a:xfrm>
            <a:off x="5842000" y="1930334"/>
            <a:ext cx="5537200" cy="3911666"/>
          </a:xfrm>
          <a:prstGeom prst="roundRect">
            <a:avLst>
              <a:gd name="adj" fmla="val 3896"/>
            </a:avLst>
          </a:prstGeom>
          <a:solidFill>
            <a:srgbClr val="14213D"/>
          </a:solidFill>
          <a:ln/>
        </p:spPr>
        <p:txBody>
          <a:bodyPr/>
          <a:lstStyle/>
          <a:p>
            <a:endParaRPr lang="en-MY"/>
          </a:p>
        </p:txBody>
      </p:sp>
      <p:sp>
        <p:nvSpPr>
          <p:cNvPr id="18" name="Text 16"/>
          <p:cNvSpPr/>
          <p:nvPr/>
        </p:nvSpPr>
        <p:spPr>
          <a:xfrm>
            <a:off x="6248400" y="3133064"/>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2EA"/>
                </a:solidFill>
                <a:latin typeface="IBM Plex Sans" pitchFamily="34" charset="0"/>
                <a:ea typeface="IBM Plex Sans" pitchFamily="34" charset="-122"/>
                <a:cs typeface="IBM Plex Sans" pitchFamily="34" charset="-120"/>
              </a:rPr>
              <a:t>COURSE LEARNING OUTCOME · CLO2</a:t>
            </a:r>
            <a:endParaRPr lang="en-US" sz="1200" dirty="0"/>
          </a:p>
        </p:txBody>
      </p:sp>
      <p:sp>
        <p:nvSpPr>
          <p:cNvPr id="19" name="Text 17"/>
          <p:cNvSpPr/>
          <p:nvPr/>
        </p:nvSpPr>
        <p:spPr>
          <a:xfrm>
            <a:off x="6248400" y="3549584"/>
            <a:ext cx="4866132" cy="1115020"/>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F4F6FA"/>
                </a:solidFill>
                <a:latin typeface="Space Grotesk" pitchFamily="34" charset="0"/>
                <a:ea typeface="Space Grotesk" pitchFamily="34" charset="-122"/>
                <a:cs typeface="Space Grotesk" pitchFamily="34" charset="-120"/>
              </a:rPr>
              <a:t>Construct a secure software product using appropriate software development tools.</a:t>
            </a:r>
            <a:endParaRPr lang="en-US" sz="22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THE CLIENT · RAPIDEXPRESS SDN. BHD.</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A courier that needs a tracking system</a:t>
            </a:r>
            <a:endParaRPr lang="en-US" sz="3200" dirty="0"/>
          </a:p>
        </p:txBody>
      </p:sp>
      <p:sp>
        <p:nvSpPr>
          <p:cNvPr id="4" name="Shape 2"/>
          <p:cNvSpPr/>
          <p:nvPr/>
        </p:nvSpPr>
        <p:spPr>
          <a:xfrm>
            <a:off x="819150" y="1936685"/>
            <a:ext cx="4762500" cy="2499320"/>
          </a:xfrm>
          <a:prstGeom prst="roundRect">
            <a:avLst>
              <a:gd name="adj" fmla="val 4827"/>
            </a:avLst>
          </a:prstGeom>
          <a:solidFill>
            <a:srgbClr val="FFFFFF"/>
          </a:solidFill>
          <a:ln w="12700">
            <a:solidFill>
              <a:srgbClr val="D3DAE4"/>
            </a:solidFill>
            <a:prstDash val="solid"/>
          </a:ln>
        </p:spPr>
        <p:txBody>
          <a:bodyPr/>
          <a:lstStyle/>
          <a:p>
            <a:endParaRPr lang="en-MY"/>
          </a:p>
        </p:txBody>
      </p:sp>
      <p:sp>
        <p:nvSpPr>
          <p:cNvPr id="5" name="Text 3"/>
          <p:cNvSpPr/>
          <p:nvPr/>
        </p:nvSpPr>
        <p:spPr>
          <a:xfrm>
            <a:off x="1130300" y="2247835"/>
            <a:ext cx="42644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7686"/>
                </a:solidFill>
                <a:latin typeface="IBM Plex Sans" pitchFamily="34" charset="0"/>
                <a:ea typeface="IBM Plex Sans" pitchFamily="34" charset="-122"/>
                <a:cs typeface="IBM Plex Sans" pitchFamily="34" charset="-120"/>
              </a:rPr>
              <a:t>TODAY</a:t>
            </a:r>
            <a:endParaRPr lang="en-US" sz="1200" dirty="0"/>
          </a:p>
        </p:txBody>
      </p:sp>
      <p:sp>
        <p:nvSpPr>
          <p:cNvPr id="6" name="Text 4"/>
          <p:cNvSpPr/>
          <p:nvPr/>
        </p:nvSpPr>
        <p:spPr>
          <a:xfrm>
            <a:off x="1130300" y="2588155"/>
            <a:ext cx="42644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Manual and scattered</a:t>
            </a:r>
            <a:endParaRPr lang="en-US" sz="2000" dirty="0"/>
          </a:p>
        </p:txBody>
      </p:sp>
      <p:sp>
        <p:nvSpPr>
          <p:cNvPr id="7" name="Text 5"/>
          <p:cNvSpPr/>
          <p:nvPr/>
        </p:nvSpPr>
        <p:spPr>
          <a:xfrm>
            <a:off x="1201420" y="3019955"/>
            <a:ext cx="4185666" cy="1130300"/>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3D4A5C"/>
                </a:solidFill>
                <a:latin typeface="IBM Plex Sans" pitchFamily="34" charset="0"/>
                <a:ea typeface="IBM Plex Sans" pitchFamily="34" charset="-122"/>
                <a:cs typeface="IBM Plex Sans" pitchFamily="34" charset="-120"/>
              </a:rPr>
              <a:t>Sellers send parcel details by WhatsApp</a:t>
            </a:r>
            <a:endParaRPr lang="en-US" sz="1500" dirty="0"/>
          </a:p>
          <a:p>
            <a:pPr marL="182880" indent="-182880" algn="l">
              <a:lnSpc>
                <a:spcPts val="2175"/>
              </a:lnSpc>
              <a:buSzPct val="100000"/>
              <a:buChar char="•"/>
            </a:pPr>
            <a:r>
              <a:rPr lang="en-US" sz="1500" dirty="0">
                <a:solidFill>
                  <a:srgbClr val="3D4A5C"/>
                </a:solidFill>
                <a:latin typeface="IBM Plex Sans" pitchFamily="34" charset="0"/>
                <a:ea typeface="IBM Plex Sans" pitchFamily="34" charset="-122"/>
                <a:cs typeface="IBM Plex Sans" pitchFamily="34" charset="-120"/>
              </a:rPr>
              <a:t>Recipients phone the office to ask where parcels are</a:t>
            </a:r>
            <a:endParaRPr lang="en-US" sz="1500" dirty="0"/>
          </a:p>
          <a:p>
            <a:pPr marL="182880" indent="-182880" algn="l">
              <a:lnSpc>
                <a:spcPts val="2175"/>
              </a:lnSpc>
              <a:buSzPct val="100000"/>
              <a:buChar char="•"/>
            </a:pPr>
            <a:r>
              <a:rPr lang="en-US" sz="1500" dirty="0">
                <a:solidFill>
                  <a:srgbClr val="3D4A5C"/>
                </a:solidFill>
                <a:latin typeface="IBM Plex Sans" pitchFamily="34" charset="0"/>
                <a:ea typeface="IBM Plex Sans" pitchFamily="34" charset="-122"/>
                <a:cs typeface="IBM Plex Sans" pitchFamily="34" charset="-120"/>
              </a:rPr>
              <a:t>Records live on chats and paper</a:t>
            </a:r>
            <a:endParaRPr lang="en-US" sz="1500" dirty="0"/>
          </a:p>
        </p:txBody>
      </p:sp>
      <p:pic>
        <p:nvPicPr>
          <p:cNvPr id="8" name="Image 0" descr="arrow-right"/>
          <p:cNvPicPr>
            <a:picLocks noChangeAspect="1"/>
          </p:cNvPicPr>
          <p:nvPr/>
        </p:nvPicPr>
        <p:blipFill>
          <a:blip r:embed="rId3"/>
          <a:srcRect/>
          <a:stretch/>
        </p:blipFill>
        <p:spPr>
          <a:xfrm>
            <a:off x="5791200" y="3008511"/>
            <a:ext cx="609600" cy="355600"/>
          </a:xfrm>
          <a:prstGeom prst="rect">
            <a:avLst/>
          </a:prstGeom>
        </p:spPr>
      </p:pic>
      <p:sp>
        <p:nvSpPr>
          <p:cNvPr id="9" name="Shape 6"/>
          <p:cNvSpPr/>
          <p:nvPr/>
        </p:nvSpPr>
        <p:spPr>
          <a:xfrm>
            <a:off x="6610350" y="1936685"/>
            <a:ext cx="4762500" cy="2499320"/>
          </a:xfrm>
          <a:prstGeom prst="roundRect">
            <a:avLst>
              <a:gd name="adj" fmla="val 4827"/>
            </a:avLst>
          </a:prstGeom>
          <a:solidFill>
            <a:srgbClr val="E3EDF9"/>
          </a:solidFill>
          <a:ln w="12700">
            <a:solidFill>
              <a:srgbClr val="B9D0EC"/>
            </a:solidFill>
            <a:prstDash val="solid"/>
          </a:ln>
        </p:spPr>
        <p:txBody>
          <a:bodyPr/>
          <a:lstStyle/>
          <a:p>
            <a:endParaRPr lang="en-MY"/>
          </a:p>
        </p:txBody>
      </p:sp>
      <p:sp>
        <p:nvSpPr>
          <p:cNvPr id="10" name="Text 7"/>
          <p:cNvSpPr/>
          <p:nvPr/>
        </p:nvSpPr>
        <p:spPr>
          <a:xfrm>
            <a:off x="6921500" y="2247835"/>
            <a:ext cx="42644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A8"/>
                </a:solidFill>
                <a:latin typeface="IBM Plex Sans" pitchFamily="34" charset="0"/>
                <a:ea typeface="IBM Plex Sans" pitchFamily="34" charset="-122"/>
                <a:cs typeface="IBM Plex Sans" pitchFamily="34" charset="-120"/>
              </a:rPr>
              <a:t>GOAL</a:t>
            </a:r>
            <a:endParaRPr lang="en-US" sz="1200" dirty="0"/>
          </a:p>
        </p:txBody>
      </p:sp>
      <p:sp>
        <p:nvSpPr>
          <p:cNvPr id="11" name="Text 8"/>
          <p:cNvSpPr/>
          <p:nvPr/>
        </p:nvSpPr>
        <p:spPr>
          <a:xfrm>
            <a:off x="6921500" y="2588155"/>
            <a:ext cx="42644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One secure web system</a:t>
            </a:r>
            <a:endParaRPr lang="en-US" sz="2000" dirty="0"/>
          </a:p>
        </p:txBody>
      </p:sp>
      <p:sp>
        <p:nvSpPr>
          <p:cNvPr id="12" name="Text 9"/>
          <p:cNvSpPr/>
          <p:nvPr/>
        </p:nvSpPr>
        <p:spPr>
          <a:xfrm>
            <a:off x="6992620" y="3019955"/>
            <a:ext cx="4185666" cy="854075"/>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3D4A5C"/>
                </a:solidFill>
                <a:latin typeface="IBM Plex Sans" pitchFamily="34" charset="0"/>
                <a:ea typeface="IBM Plex Sans" pitchFamily="34" charset="-122"/>
                <a:cs typeface="IBM Plex Sans" pitchFamily="34" charset="-120"/>
              </a:rPr>
              <a:t>Sellers register parcels online</a:t>
            </a:r>
            <a:endParaRPr lang="en-US" sz="1500" dirty="0"/>
          </a:p>
          <a:p>
            <a:pPr marL="182880" indent="-182880" algn="l">
              <a:lnSpc>
                <a:spcPts val="2175"/>
              </a:lnSpc>
              <a:buSzPct val="100000"/>
              <a:buChar char="•"/>
            </a:pPr>
            <a:r>
              <a:rPr lang="en-US" sz="1500" dirty="0">
                <a:solidFill>
                  <a:srgbClr val="3D4A5C"/>
                </a:solidFill>
                <a:latin typeface="IBM Plex Sans" pitchFamily="34" charset="0"/>
                <a:ea typeface="IBM Plex Sans" pitchFamily="34" charset="-122"/>
                <a:cs typeface="IBM Plex Sans" pitchFamily="34" charset="-120"/>
              </a:rPr>
              <a:t>Riders update delivery status</a:t>
            </a:r>
            <a:endParaRPr lang="en-US" sz="1500" dirty="0"/>
          </a:p>
          <a:p>
            <a:pPr marL="182880" indent="-182880" algn="l">
              <a:lnSpc>
                <a:spcPts val="2175"/>
              </a:lnSpc>
              <a:buSzPct val="100000"/>
              <a:buChar char="•"/>
            </a:pPr>
            <a:r>
              <a:rPr lang="en-US" sz="1500" dirty="0">
                <a:solidFill>
                  <a:srgbClr val="3D4A5C"/>
                </a:solidFill>
                <a:latin typeface="IBM Plex Sans" pitchFamily="34" charset="0"/>
                <a:ea typeface="IBM Plex Sans" pitchFamily="34" charset="-122"/>
                <a:cs typeface="IBM Plex Sans" pitchFamily="34" charset="-120"/>
              </a:rPr>
              <a:t>Recipients track parcels without calling</a:t>
            </a:r>
            <a:endParaRPr lang="en-US" sz="1500" dirty="0"/>
          </a:p>
        </p:txBody>
      </p:sp>
      <p:sp>
        <p:nvSpPr>
          <p:cNvPr id="13" name="Shape 10"/>
          <p:cNvSpPr/>
          <p:nvPr/>
        </p:nvSpPr>
        <p:spPr>
          <a:xfrm>
            <a:off x="831850" y="4797955"/>
            <a:ext cx="0" cy="368300"/>
          </a:xfrm>
          <a:prstGeom prst="line">
            <a:avLst/>
          </a:prstGeom>
          <a:noFill/>
          <a:ln w="38100">
            <a:solidFill>
              <a:srgbClr val="C2581B"/>
            </a:solidFill>
            <a:prstDash val="solid"/>
          </a:ln>
        </p:spPr>
        <p:txBody>
          <a:bodyPr/>
          <a:lstStyle/>
          <a:p>
            <a:endParaRPr lang="en-MY"/>
          </a:p>
        </p:txBody>
      </p:sp>
      <p:sp>
        <p:nvSpPr>
          <p:cNvPr id="14" name="Text 11"/>
          <p:cNvSpPr/>
          <p:nvPr/>
        </p:nvSpPr>
        <p:spPr>
          <a:xfrm>
            <a:off x="1054100" y="4848755"/>
            <a:ext cx="1063485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system stores recipient names, phone numbers and addresses, so it must be built securely from the start.</a:t>
            </a:r>
            <a:endParaRPr lang="en-US" sz="15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TARGET USERS</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Four types of user</a:t>
            </a:r>
            <a:endParaRPr lang="en-US" sz="3200" dirty="0"/>
          </a:p>
        </p:txBody>
      </p:sp>
      <p:sp>
        <p:nvSpPr>
          <p:cNvPr id="4" name="Shape 2"/>
          <p:cNvSpPr/>
          <p:nvPr/>
        </p:nvSpPr>
        <p:spPr>
          <a:xfrm>
            <a:off x="819150" y="1936685"/>
            <a:ext cx="2476500" cy="2387600"/>
          </a:xfrm>
          <a:prstGeom prst="roundRect">
            <a:avLst>
              <a:gd name="adj" fmla="val 5053"/>
            </a:avLst>
          </a:prstGeom>
          <a:solidFill>
            <a:srgbClr val="FFFFFF"/>
          </a:solidFill>
          <a:ln w="12700">
            <a:solidFill>
              <a:srgbClr val="D3DAE4"/>
            </a:solidFill>
            <a:prstDash val="solid"/>
          </a:ln>
        </p:spPr>
        <p:txBody>
          <a:bodyPr/>
          <a:lstStyle/>
          <a:p>
            <a:endParaRPr lang="en-MY"/>
          </a:p>
        </p:txBody>
      </p:sp>
      <p:pic>
        <p:nvPicPr>
          <p:cNvPr id="5" name="Image 0" descr="Users"/>
          <p:cNvPicPr>
            <a:picLocks noChangeAspect="1"/>
          </p:cNvPicPr>
          <p:nvPr/>
        </p:nvPicPr>
        <p:blipFill>
          <a:blip r:embed="rId3"/>
          <a:srcRect/>
          <a:stretch/>
        </p:blipFill>
        <p:spPr>
          <a:xfrm>
            <a:off x="1079500" y="2197035"/>
            <a:ext cx="457200" cy="457200"/>
          </a:xfrm>
          <a:prstGeom prst="rect">
            <a:avLst/>
          </a:prstGeom>
        </p:spPr>
      </p:pic>
      <p:sp>
        <p:nvSpPr>
          <p:cNvPr id="6" name="Text 3"/>
          <p:cNvSpPr/>
          <p:nvPr/>
        </p:nvSpPr>
        <p:spPr>
          <a:xfrm>
            <a:off x="1079500" y="2806635"/>
            <a:ext cx="20144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Seller</a:t>
            </a:r>
            <a:endParaRPr lang="en-US" sz="2000" dirty="0"/>
          </a:p>
        </p:txBody>
      </p:sp>
      <p:sp>
        <p:nvSpPr>
          <p:cNvPr id="7" name="Text 4"/>
          <p:cNvSpPr/>
          <p:nvPr/>
        </p:nvSpPr>
        <p:spPr>
          <a:xfrm>
            <a:off x="1079500" y="3263835"/>
            <a:ext cx="201447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IBM Plex Sans" pitchFamily="34" charset="0"/>
                <a:ea typeface="IBM Plex Sans" pitchFamily="34" charset="-122"/>
                <a:cs typeface="IBM Plex Sans" pitchFamily="34" charset="-120"/>
              </a:rPr>
              <a:t>Registers parcels and views their own parcels.</a:t>
            </a:r>
            <a:endParaRPr lang="en-US" sz="1500" dirty="0"/>
          </a:p>
        </p:txBody>
      </p:sp>
      <p:sp>
        <p:nvSpPr>
          <p:cNvPr id="8" name="Shape 5"/>
          <p:cNvSpPr/>
          <p:nvPr/>
        </p:nvSpPr>
        <p:spPr>
          <a:xfrm>
            <a:off x="3511550" y="1936685"/>
            <a:ext cx="2476500" cy="2387600"/>
          </a:xfrm>
          <a:prstGeom prst="roundRect">
            <a:avLst>
              <a:gd name="adj" fmla="val 5053"/>
            </a:avLst>
          </a:prstGeom>
          <a:solidFill>
            <a:srgbClr val="FFFFFF"/>
          </a:solidFill>
          <a:ln w="12700">
            <a:solidFill>
              <a:srgbClr val="D3DAE4"/>
            </a:solidFill>
            <a:prstDash val="solid"/>
          </a:ln>
        </p:spPr>
        <p:txBody>
          <a:bodyPr/>
          <a:lstStyle/>
          <a:p>
            <a:endParaRPr lang="en-MY"/>
          </a:p>
        </p:txBody>
      </p:sp>
      <p:pic>
        <p:nvPicPr>
          <p:cNvPr id="9" name="Image 1" descr="PaperPlane"/>
          <p:cNvPicPr>
            <a:picLocks noChangeAspect="1"/>
          </p:cNvPicPr>
          <p:nvPr/>
        </p:nvPicPr>
        <p:blipFill>
          <a:blip r:embed="rId4"/>
          <a:srcRect/>
          <a:stretch/>
        </p:blipFill>
        <p:spPr>
          <a:xfrm>
            <a:off x="3771900" y="2197035"/>
            <a:ext cx="457200" cy="457200"/>
          </a:xfrm>
          <a:prstGeom prst="rect">
            <a:avLst/>
          </a:prstGeom>
        </p:spPr>
      </p:pic>
      <p:sp>
        <p:nvSpPr>
          <p:cNvPr id="10" name="Text 6"/>
          <p:cNvSpPr/>
          <p:nvPr/>
        </p:nvSpPr>
        <p:spPr>
          <a:xfrm>
            <a:off x="3771900" y="2806635"/>
            <a:ext cx="20144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Rider</a:t>
            </a:r>
            <a:endParaRPr lang="en-US" sz="2000" dirty="0"/>
          </a:p>
        </p:txBody>
      </p:sp>
      <p:sp>
        <p:nvSpPr>
          <p:cNvPr id="11" name="Text 7"/>
          <p:cNvSpPr/>
          <p:nvPr/>
        </p:nvSpPr>
        <p:spPr>
          <a:xfrm>
            <a:off x="3771900" y="3263835"/>
            <a:ext cx="201447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IBM Plex Sans" pitchFamily="34" charset="0"/>
                <a:ea typeface="IBM Plex Sans" pitchFamily="34" charset="-122"/>
                <a:cs typeface="IBM Plex Sans" pitchFamily="34" charset="-120"/>
              </a:rPr>
              <a:t>Views assigned parcels and updates delivery status.</a:t>
            </a:r>
            <a:endParaRPr lang="en-US" sz="1500" dirty="0"/>
          </a:p>
        </p:txBody>
      </p:sp>
      <p:sp>
        <p:nvSpPr>
          <p:cNvPr id="12" name="Shape 8"/>
          <p:cNvSpPr/>
          <p:nvPr/>
        </p:nvSpPr>
        <p:spPr>
          <a:xfrm>
            <a:off x="6203950" y="1936685"/>
            <a:ext cx="2476500" cy="2387600"/>
          </a:xfrm>
          <a:prstGeom prst="roundRect">
            <a:avLst>
              <a:gd name="adj" fmla="val 5053"/>
            </a:avLst>
          </a:prstGeom>
          <a:solidFill>
            <a:srgbClr val="FFFFFF"/>
          </a:solidFill>
          <a:ln w="12700">
            <a:solidFill>
              <a:srgbClr val="D3DAE4"/>
            </a:solidFill>
            <a:prstDash val="solid"/>
          </a:ln>
        </p:spPr>
        <p:txBody>
          <a:bodyPr/>
          <a:lstStyle/>
          <a:p>
            <a:endParaRPr lang="en-MY"/>
          </a:p>
        </p:txBody>
      </p:sp>
      <p:pic>
        <p:nvPicPr>
          <p:cNvPr id="13" name="Image 2" descr="Settings"/>
          <p:cNvPicPr>
            <a:picLocks noChangeAspect="1"/>
          </p:cNvPicPr>
          <p:nvPr/>
        </p:nvPicPr>
        <p:blipFill>
          <a:blip r:embed="rId5"/>
          <a:srcRect/>
          <a:stretch/>
        </p:blipFill>
        <p:spPr>
          <a:xfrm>
            <a:off x="6464300" y="2197035"/>
            <a:ext cx="457200" cy="457200"/>
          </a:xfrm>
          <a:prstGeom prst="rect">
            <a:avLst/>
          </a:prstGeom>
        </p:spPr>
      </p:pic>
      <p:sp>
        <p:nvSpPr>
          <p:cNvPr id="14" name="Text 9"/>
          <p:cNvSpPr/>
          <p:nvPr/>
        </p:nvSpPr>
        <p:spPr>
          <a:xfrm>
            <a:off x="6464300" y="2806635"/>
            <a:ext cx="20144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Admin</a:t>
            </a:r>
            <a:endParaRPr lang="en-US" sz="2000" dirty="0"/>
          </a:p>
        </p:txBody>
      </p:sp>
      <p:sp>
        <p:nvSpPr>
          <p:cNvPr id="15" name="Text 10"/>
          <p:cNvSpPr/>
          <p:nvPr/>
        </p:nvSpPr>
        <p:spPr>
          <a:xfrm>
            <a:off x="6464300" y="3263835"/>
            <a:ext cx="201447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IBM Plex Sans" pitchFamily="34" charset="0"/>
                <a:ea typeface="IBM Plex Sans" pitchFamily="34" charset="-122"/>
                <a:cs typeface="IBM Plex Sans" pitchFamily="34" charset="-120"/>
              </a:rPr>
              <a:t>Manages users and assigns parcels to riders.</a:t>
            </a:r>
            <a:endParaRPr lang="en-US" sz="1500" dirty="0"/>
          </a:p>
        </p:txBody>
      </p:sp>
      <p:sp>
        <p:nvSpPr>
          <p:cNvPr id="16" name="Shape 11"/>
          <p:cNvSpPr/>
          <p:nvPr/>
        </p:nvSpPr>
        <p:spPr>
          <a:xfrm>
            <a:off x="8896350" y="1936685"/>
            <a:ext cx="2476500" cy="2387600"/>
          </a:xfrm>
          <a:prstGeom prst="roundRect">
            <a:avLst>
              <a:gd name="adj" fmla="val 5053"/>
            </a:avLst>
          </a:prstGeom>
          <a:solidFill>
            <a:srgbClr val="FFFFFF"/>
          </a:solidFill>
          <a:ln w="12700">
            <a:solidFill>
              <a:srgbClr val="D3DAE4"/>
            </a:solidFill>
            <a:prstDash val="solid"/>
          </a:ln>
        </p:spPr>
        <p:txBody>
          <a:bodyPr/>
          <a:lstStyle/>
          <a:p>
            <a:endParaRPr lang="en-MY"/>
          </a:p>
        </p:txBody>
      </p:sp>
      <p:pic>
        <p:nvPicPr>
          <p:cNvPr id="17" name="Image 3" descr="Globe"/>
          <p:cNvPicPr>
            <a:picLocks noChangeAspect="1"/>
          </p:cNvPicPr>
          <p:nvPr/>
        </p:nvPicPr>
        <p:blipFill>
          <a:blip r:embed="rId6"/>
          <a:srcRect/>
          <a:stretch/>
        </p:blipFill>
        <p:spPr>
          <a:xfrm>
            <a:off x="9156700" y="2197035"/>
            <a:ext cx="457200" cy="457200"/>
          </a:xfrm>
          <a:prstGeom prst="rect">
            <a:avLst/>
          </a:prstGeom>
        </p:spPr>
      </p:pic>
      <p:sp>
        <p:nvSpPr>
          <p:cNvPr id="18" name="Text 12"/>
          <p:cNvSpPr/>
          <p:nvPr/>
        </p:nvSpPr>
        <p:spPr>
          <a:xfrm>
            <a:off x="9156700" y="2806635"/>
            <a:ext cx="20144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Public user</a:t>
            </a:r>
            <a:endParaRPr lang="en-US" sz="2000" dirty="0"/>
          </a:p>
        </p:txBody>
      </p:sp>
      <p:sp>
        <p:nvSpPr>
          <p:cNvPr id="19" name="Text 13"/>
          <p:cNvSpPr/>
          <p:nvPr/>
        </p:nvSpPr>
        <p:spPr>
          <a:xfrm>
            <a:off x="9156700" y="3263835"/>
            <a:ext cx="201447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IBM Plex Sans" pitchFamily="34" charset="0"/>
                <a:ea typeface="IBM Plex Sans" pitchFamily="34" charset="-122"/>
                <a:cs typeface="IBM Plex Sans" pitchFamily="34" charset="-120"/>
              </a:rPr>
              <a:t>Tracks a parcel by tracking number, with no login.</a:t>
            </a:r>
            <a:endParaRPr lang="en-US" sz="1500" dirty="0"/>
          </a:p>
        </p:txBody>
      </p:sp>
      <p:sp>
        <p:nvSpPr>
          <p:cNvPr id="20" name="Text 14"/>
          <p:cNvSpPr/>
          <p:nvPr/>
        </p:nvSpPr>
        <p:spPr>
          <a:xfrm>
            <a:off x="812800" y="4686235"/>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Expected scale: about 50 sellers, 15 riders, 2 admins and 800 parcels per day.</a:t>
            </a:r>
            <a:endParaRPr lang="en-US" sz="1500" dirty="0"/>
          </a:p>
        </p:txBody>
      </p:sp>
      <p:sp>
        <p:nvSpPr>
          <p:cNvPr id="21"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22"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CORE CONCEPT</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One tracking number, one status history</a:t>
            </a:r>
            <a:endParaRPr lang="en-US" sz="3200" dirty="0"/>
          </a:p>
        </p:txBody>
      </p:sp>
      <p:sp>
        <p:nvSpPr>
          <p:cNvPr id="4" name="Shape 2"/>
          <p:cNvSpPr/>
          <p:nvPr/>
        </p:nvSpPr>
        <p:spPr>
          <a:xfrm>
            <a:off x="819150" y="2138561"/>
            <a:ext cx="2095500" cy="1622954"/>
          </a:xfrm>
          <a:prstGeom prst="roundRect">
            <a:avLst>
              <a:gd name="adj" fmla="val 5869"/>
            </a:avLst>
          </a:prstGeom>
          <a:solidFill>
            <a:srgbClr val="FFFFFF"/>
          </a:solidFill>
          <a:ln w="12700">
            <a:solidFill>
              <a:srgbClr val="D3DAE4"/>
            </a:solidFill>
            <a:prstDash val="solid"/>
          </a:ln>
        </p:spPr>
        <p:txBody>
          <a:bodyPr/>
          <a:lstStyle/>
          <a:p>
            <a:endParaRPr lang="en-MY"/>
          </a:p>
        </p:txBody>
      </p:sp>
      <p:sp>
        <p:nvSpPr>
          <p:cNvPr id="5" name="Text 3"/>
          <p:cNvSpPr/>
          <p:nvPr/>
        </p:nvSpPr>
        <p:spPr>
          <a:xfrm>
            <a:off x="1054100" y="2373511"/>
            <a:ext cx="1676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A8"/>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1054100" y="2688431"/>
            <a:ext cx="167640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Registered</a:t>
            </a:r>
            <a:endParaRPr lang="en-US" sz="1800" dirty="0"/>
          </a:p>
        </p:txBody>
      </p:sp>
      <p:sp>
        <p:nvSpPr>
          <p:cNvPr id="7" name="Text 5"/>
          <p:cNvSpPr/>
          <p:nvPr/>
        </p:nvSpPr>
        <p:spPr>
          <a:xfrm>
            <a:off x="1054100" y="3064340"/>
            <a:ext cx="167640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Seller creates the parcel.</a:t>
            </a:r>
            <a:endParaRPr lang="en-US" sz="1300" dirty="0"/>
          </a:p>
        </p:txBody>
      </p:sp>
      <p:pic>
        <p:nvPicPr>
          <p:cNvPr id="8" name="Image 0" descr="arrow-right"/>
          <p:cNvPicPr>
            <a:picLocks noChangeAspect="1"/>
          </p:cNvPicPr>
          <p:nvPr/>
        </p:nvPicPr>
        <p:blipFill>
          <a:blip r:embed="rId3"/>
          <a:srcRect/>
          <a:stretch/>
        </p:blipFill>
        <p:spPr>
          <a:xfrm>
            <a:off x="3073400" y="2835740"/>
            <a:ext cx="406400" cy="228600"/>
          </a:xfrm>
          <a:prstGeom prst="rect">
            <a:avLst/>
          </a:prstGeom>
        </p:spPr>
      </p:pic>
      <p:sp>
        <p:nvSpPr>
          <p:cNvPr id="9" name="Shape 6"/>
          <p:cNvSpPr/>
          <p:nvPr/>
        </p:nvSpPr>
        <p:spPr>
          <a:xfrm>
            <a:off x="3638550" y="2254120"/>
            <a:ext cx="2095500" cy="1391841"/>
          </a:xfrm>
          <a:prstGeom prst="roundRect">
            <a:avLst>
              <a:gd name="adj" fmla="val 6843"/>
            </a:avLst>
          </a:prstGeom>
          <a:solidFill>
            <a:srgbClr val="FFFFFF"/>
          </a:solidFill>
          <a:ln w="12700">
            <a:solidFill>
              <a:srgbClr val="D3DAE4"/>
            </a:solidFill>
            <a:prstDash val="solid"/>
          </a:ln>
        </p:spPr>
        <p:txBody>
          <a:bodyPr/>
          <a:lstStyle/>
          <a:p>
            <a:endParaRPr lang="en-MY"/>
          </a:p>
        </p:txBody>
      </p:sp>
      <p:sp>
        <p:nvSpPr>
          <p:cNvPr id="10" name="Text 7"/>
          <p:cNvSpPr/>
          <p:nvPr/>
        </p:nvSpPr>
        <p:spPr>
          <a:xfrm>
            <a:off x="3873500" y="2489070"/>
            <a:ext cx="1676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A8"/>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3873500" y="2803990"/>
            <a:ext cx="167640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Assigned</a:t>
            </a:r>
            <a:endParaRPr lang="en-US" sz="1800" dirty="0"/>
          </a:p>
        </p:txBody>
      </p:sp>
      <p:sp>
        <p:nvSpPr>
          <p:cNvPr id="12" name="Text 9"/>
          <p:cNvSpPr/>
          <p:nvPr/>
        </p:nvSpPr>
        <p:spPr>
          <a:xfrm>
            <a:off x="3873500" y="3179896"/>
            <a:ext cx="18542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Admin assigns a rider.</a:t>
            </a:r>
            <a:endParaRPr lang="en-US" sz="1300" dirty="0"/>
          </a:p>
        </p:txBody>
      </p:sp>
      <p:pic>
        <p:nvPicPr>
          <p:cNvPr id="13" name="Image 1" descr="arrow-right"/>
          <p:cNvPicPr>
            <a:picLocks noChangeAspect="1"/>
          </p:cNvPicPr>
          <p:nvPr/>
        </p:nvPicPr>
        <p:blipFill>
          <a:blip r:embed="rId3"/>
          <a:srcRect/>
          <a:stretch/>
        </p:blipFill>
        <p:spPr>
          <a:xfrm>
            <a:off x="5892800" y="2835740"/>
            <a:ext cx="406400" cy="228600"/>
          </a:xfrm>
          <a:prstGeom prst="rect">
            <a:avLst/>
          </a:prstGeom>
        </p:spPr>
      </p:pic>
      <p:sp>
        <p:nvSpPr>
          <p:cNvPr id="14" name="Shape 10"/>
          <p:cNvSpPr/>
          <p:nvPr/>
        </p:nvSpPr>
        <p:spPr>
          <a:xfrm>
            <a:off x="6457950" y="2001441"/>
            <a:ext cx="2095500" cy="1897261"/>
          </a:xfrm>
          <a:prstGeom prst="roundRect">
            <a:avLst>
              <a:gd name="adj" fmla="val 5020"/>
            </a:avLst>
          </a:prstGeom>
          <a:solidFill>
            <a:srgbClr val="FFFFFF"/>
          </a:solidFill>
          <a:ln w="12700">
            <a:solidFill>
              <a:srgbClr val="D3DAE4"/>
            </a:solidFill>
            <a:prstDash val="solid"/>
          </a:ln>
        </p:spPr>
        <p:txBody>
          <a:bodyPr/>
          <a:lstStyle/>
          <a:p>
            <a:endParaRPr lang="en-MY"/>
          </a:p>
        </p:txBody>
      </p:sp>
      <p:sp>
        <p:nvSpPr>
          <p:cNvPr id="15" name="Text 11"/>
          <p:cNvSpPr/>
          <p:nvPr/>
        </p:nvSpPr>
        <p:spPr>
          <a:xfrm>
            <a:off x="6692900" y="2236391"/>
            <a:ext cx="1676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A8"/>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6692900" y="2551311"/>
            <a:ext cx="1676400"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Out for Delivery</a:t>
            </a:r>
            <a:endParaRPr lang="en-US" sz="1800" dirty="0"/>
          </a:p>
        </p:txBody>
      </p:sp>
      <p:sp>
        <p:nvSpPr>
          <p:cNvPr id="17" name="Text 13"/>
          <p:cNvSpPr/>
          <p:nvPr/>
        </p:nvSpPr>
        <p:spPr>
          <a:xfrm>
            <a:off x="6692900" y="3201526"/>
            <a:ext cx="167640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Rider picks up the parcel.</a:t>
            </a:r>
            <a:endParaRPr lang="en-US" sz="1300" dirty="0"/>
          </a:p>
        </p:txBody>
      </p:sp>
      <p:pic>
        <p:nvPicPr>
          <p:cNvPr id="18" name="Image 2" descr="arrow-right"/>
          <p:cNvPicPr>
            <a:picLocks noChangeAspect="1"/>
          </p:cNvPicPr>
          <p:nvPr/>
        </p:nvPicPr>
        <p:blipFill>
          <a:blip r:embed="rId3"/>
          <a:srcRect/>
          <a:stretch/>
        </p:blipFill>
        <p:spPr>
          <a:xfrm>
            <a:off x="8712200" y="2835740"/>
            <a:ext cx="406400" cy="228600"/>
          </a:xfrm>
          <a:prstGeom prst="rect">
            <a:avLst/>
          </a:prstGeom>
        </p:spPr>
      </p:pic>
      <p:sp>
        <p:nvSpPr>
          <p:cNvPr id="19" name="Shape 14"/>
          <p:cNvSpPr/>
          <p:nvPr/>
        </p:nvSpPr>
        <p:spPr>
          <a:xfrm>
            <a:off x="9277350" y="1885885"/>
            <a:ext cx="2095500" cy="2128375"/>
          </a:xfrm>
          <a:prstGeom prst="roundRect">
            <a:avLst>
              <a:gd name="adj" fmla="val 4545"/>
            </a:avLst>
          </a:prstGeom>
          <a:solidFill>
            <a:srgbClr val="FFFFFF"/>
          </a:solidFill>
          <a:ln w="12700">
            <a:solidFill>
              <a:srgbClr val="D3DAE4"/>
            </a:solidFill>
            <a:prstDash val="solid"/>
          </a:ln>
        </p:spPr>
        <p:txBody>
          <a:bodyPr/>
          <a:lstStyle/>
          <a:p>
            <a:endParaRPr lang="en-MY"/>
          </a:p>
        </p:txBody>
      </p:sp>
      <p:sp>
        <p:nvSpPr>
          <p:cNvPr id="20" name="Text 15"/>
          <p:cNvSpPr/>
          <p:nvPr/>
        </p:nvSpPr>
        <p:spPr>
          <a:xfrm>
            <a:off x="9512300" y="2120835"/>
            <a:ext cx="1676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A8"/>
                </a:solidFill>
                <a:latin typeface="IBM Plex Sans" pitchFamily="34" charset="0"/>
                <a:ea typeface="IBM Plex Sans" pitchFamily="34" charset="-122"/>
                <a:cs typeface="IBM Plex Sans" pitchFamily="34" charset="-120"/>
              </a:rPr>
              <a:t>Step 4</a:t>
            </a:r>
            <a:endParaRPr lang="en-US" sz="1200" dirty="0"/>
          </a:p>
        </p:txBody>
      </p:sp>
      <p:sp>
        <p:nvSpPr>
          <p:cNvPr id="21" name="Text 16"/>
          <p:cNvSpPr/>
          <p:nvPr/>
        </p:nvSpPr>
        <p:spPr>
          <a:xfrm>
            <a:off x="9512300" y="2435755"/>
            <a:ext cx="1676400"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Delivered or Failed</a:t>
            </a:r>
            <a:endParaRPr lang="en-US" sz="1800" dirty="0"/>
          </a:p>
        </p:txBody>
      </p:sp>
      <p:sp>
        <p:nvSpPr>
          <p:cNvPr id="22" name="Text 17"/>
          <p:cNvSpPr/>
          <p:nvPr/>
        </p:nvSpPr>
        <p:spPr>
          <a:xfrm>
            <a:off x="9512300" y="3085970"/>
            <a:ext cx="1676400"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Rider records the outcome and uploads a photo as proof.</a:t>
            </a:r>
            <a:endParaRPr lang="en-US" sz="1300" dirty="0"/>
          </a:p>
        </p:txBody>
      </p:sp>
      <p:sp>
        <p:nvSpPr>
          <p:cNvPr id="23" name="Shape 18"/>
          <p:cNvSpPr/>
          <p:nvPr/>
        </p:nvSpPr>
        <p:spPr>
          <a:xfrm>
            <a:off x="812800" y="4325410"/>
            <a:ext cx="5181600" cy="1224227"/>
          </a:xfrm>
          <a:prstGeom prst="roundRect">
            <a:avLst>
              <a:gd name="adj" fmla="val 8299"/>
            </a:avLst>
          </a:prstGeom>
          <a:solidFill>
            <a:srgbClr val="E3EDF9"/>
          </a:solidFill>
          <a:ln/>
        </p:spPr>
        <p:txBody>
          <a:bodyPr/>
          <a:lstStyle/>
          <a:p>
            <a:endParaRPr lang="en-MY"/>
          </a:p>
        </p:txBody>
      </p:sp>
      <p:sp>
        <p:nvSpPr>
          <p:cNvPr id="24" name="Text 19"/>
          <p:cNvSpPr/>
          <p:nvPr/>
        </p:nvSpPr>
        <p:spPr>
          <a:xfrm>
            <a:off x="1041400" y="4554010"/>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Accountability</a:t>
            </a:r>
            <a:endParaRPr lang="en-US" sz="1500" dirty="0"/>
          </a:p>
        </p:txBody>
      </p:sp>
      <p:sp>
        <p:nvSpPr>
          <p:cNvPr id="25" name="Text 20"/>
          <p:cNvSpPr/>
          <p:nvPr/>
        </p:nvSpPr>
        <p:spPr>
          <a:xfrm>
            <a:off x="1041400" y="4858810"/>
            <a:ext cx="486613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Record who changed each parcel status and when.</a:t>
            </a:r>
            <a:endParaRPr lang="en-US" sz="1300" dirty="0"/>
          </a:p>
        </p:txBody>
      </p:sp>
      <p:sp>
        <p:nvSpPr>
          <p:cNvPr id="26" name="Shape 21"/>
          <p:cNvSpPr/>
          <p:nvPr/>
        </p:nvSpPr>
        <p:spPr>
          <a:xfrm>
            <a:off x="6197600" y="4325410"/>
            <a:ext cx="5181600" cy="1224227"/>
          </a:xfrm>
          <a:prstGeom prst="roundRect">
            <a:avLst>
              <a:gd name="adj" fmla="val 8299"/>
            </a:avLst>
          </a:prstGeom>
          <a:solidFill>
            <a:srgbClr val="E3EDF9"/>
          </a:solidFill>
          <a:ln/>
        </p:spPr>
        <p:txBody>
          <a:bodyPr/>
          <a:lstStyle/>
          <a:p>
            <a:endParaRPr lang="en-MY"/>
          </a:p>
        </p:txBody>
      </p:sp>
      <p:sp>
        <p:nvSpPr>
          <p:cNvPr id="27" name="Text 22"/>
          <p:cNvSpPr/>
          <p:nvPr/>
        </p:nvSpPr>
        <p:spPr>
          <a:xfrm>
            <a:off x="6426200" y="4554010"/>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Privacy on the tracking page</a:t>
            </a:r>
            <a:endParaRPr lang="en-US" sz="1500" dirty="0"/>
          </a:p>
        </p:txBody>
      </p:sp>
      <p:sp>
        <p:nvSpPr>
          <p:cNvPr id="28" name="Text 23"/>
          <p:cNvSpPr/>
          <p:nvPr/>
        </p:nvSpPr>
        <p:spPr>
          <a:xfrm>
            <a:off x="6426200" y="4858810"/>
            <a:ext cx="4866132"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Show status, date and time only; never name, phone number or address.</a:t>
            </a:r>
            <a:endParaRPr lang="en-US" sz="1300" dirty="0"/>
          </a:p>
        </p:txBody>
      </p:sp>
      <p:sp>
        <p:nvSpPr>
          <p:cNvPr id="29" name="Text 2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30"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SYSTEM FEATURES</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Three modules, one per member</a:t>
            </a:r>
            <a:endParaRPr lang="en-US" sz="3200" dirty="0"/>
          </a:p>
        </p:txBody>
      </p:sp>
      <p:sp>
        <p:nvSpPr>
          <p:cNvPr id="4" name="Shape 2"/>
          <p:cNvSpPr/>
          <p:nvPr/>
        </p:nvSpPr>
        <p:spPr>
          <a:xfrm>
            <a:off x="819150" y="1936685"/>
            <a:ext cx="3373967" cy="3230629"/>
          </a:xfrm>
          <a:prstGeom prst="roundRect">
            <a:avLst>
              <a:gd name="adj" fmla="val 3735"/>
            </a:avLst>
          </a:prstGeom>
          <a:solidFill>
            <a:srgbClr val="FFFFFF"/>
          </a:solidFill>
          <a:ln w="12700">
            <a:solidFill>
              <a:srgbClr val="D3DAE4"/>
            </a:solidFill>
            <a:prstDash val="solid"/>
          </a:ln>
        </p:spPr>
        <p:txBody>
          <a:bodyPr/>
          <a:lstStyle/>
          <a:p>
            <a:endParaRPr lang="en-MY"/>
          </a:p>
        </p:txBody>
      </p:sp>
      <p:sp>
        <p:nvSpPr>
          <p:cNvPr id="5" name="Text 3"/>
          <p:cNvSpPr/>
          <p:nvPr/>
        </p:nvSpPr>
        <p:spPr>
          <a:xfrm>
            <a:off x="1079500" y="2197035"/>
            <a:ext cx="962686" cy="289520"/>
          </a:xfrm>
          <a:custGeom>
            <a:avLst/>
            <a:gdLst/>
            <a:ahLst/>
            <a:cxnLst/>
            <a:rect l="l" t="t" r="r" b="b"/>
            <a:pathLst>
              <a:path w="962686" h="289520">
                <a:moveTo>
                  <a:pt x="144760" y="0"/>
                </a:moveTo>
                <a:lnTo>
                  <a:pt x="817926" y="0"/>
                </a:lnTo>
                <a:arcTo wR="144760" hR="144760" stAng="16200000" swAng="5400000"/>
                <a:lnTo>
                  <a:pt x="962686" y="144760"/>
                </a:lnTo>
                <a:arcTo wR="144760" hR="144760" stAng="0" swAng="5400000"/>
                <a:lnTo>
                  <a:pt x="144760" y="289520"/>
                </a:lnTo>
                <a:arcTo wR="144760" hR="144760" stAng="5400000" swAng="5400000"/>
                <a:lnTo>
                  <a:pt x="0" y="144760"/>
                </a:lnTo>
                <a:arcTo wR="144760" hR="144760" stAng="10800000" swAng="5400000"/>
                <a:close/>
              </a:path>
            </a:pathLst>
          </a:custGeom>
          <a:solidFill>
            <a:srgbClr val="14213D"/>
          </a:solidFill>
          <a:ln/>
        </p:spPr>
        <p:txBody>
          <a:bodyPr wrap="none" lIns="0" tIns="0" rIns="0" bIns="0" rtlCol="0" anchor="ctr">
            <a:normAutofit/>
          </a:bodyPr>
          <a:lstStyle/>
          <a:p>
            <a:pPr marL="0" indent="0" algn="ctr">
              <a:lnSpc>
                <a:spcPts val="1680"/>
              </a:lnSpc>
              <a:buNone/>
            </a:pPr>
            <a:r>
              <a:rPr lang="en-US" sz="1200" b="1" dirty="0">
                <a:solidFill>
                  <a:srgbClr val="F4F6FA"/>
                </a:solidFill>
                <a:latin typeface="IBM Plex Sans" pitchFamily="34" charset="0"/>
                <a:ea typeface="IBM Plex Sans" pitchFamily="34" charset="-122"/>
                <a:cs typeface="IBM Plex Sans" pitchFamily="34" charset="-120"/>
              </a:rPr>
              <a:t>Member 1</a:t>
            </a:r>
            <a:endParaRPr lang="en-US" sz="1200" dirty="0"/>
          </a:p>
        </p:txBody>
      </p:sp>
      <p:sp>
        <p:nvSpPr>
          <p:cNvPr id="6" name="Text 4"/>
          <p:cNvSpPr/>
          <p:nvPr/>
        </p:nvSpPr>
        <p:spPr>
          <a:xfrm>
            <a:off x="1079500" y="2613555"/>
            <a:ext cx="2938865"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Login and User Management</a:t>
            </a:r>
            <a:endParaRPr lang="en-US" sz="1800" dirty="0"/>
          </a:p>
        </p:txBody>
      </p:sp>
      <p:sp>
        <p:nvSpPr>
          <p:cNvPr id="7" name="Text 5"/>
          <p:cNvSpPr/>
          <p:nvPr/>
        </p:nvSpPr>
        <p:spPr>
          <a:xfrm>
            <a:off x="1164844" y="3289170"/>
            <a:ext cx="2845901" cy="1180968"/>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Login and logout for Seller, Rider and Admin</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Admin creates Rider accounts; Sellers self-register</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Change password</a:t>
            </a:r>
            <a:endParaRPr lang="en-US" sz="1300" dirty="0"/>
          </a:p>
        </p:txBody>
      </p:sp>
      <p:sp>
        <p:nvSpPr>
          <p:cNvPr id="8" name="Shape 6"/>
          <p:cNvSpPr/>
          <p:nvPr/>
        </p:nvSpPr>
        <p:spPr>
          <a:xfrm>
            <a:off x="4409017" y="1936685"/>
            <a:ext cx="3373967" cy="3230629"/>
          </a:xfrm>
          <a:prstGeom prst="roundRect">
            <a:avLst>
              <a:gd name="adj" fmla="val 3735"/>
            </a:avLst>
          </a:prstGeom>
          <a:solidFill>
            <a:srgbClr val="FFFFFF"/>
          </a:solidFill>
          <a:ln w="12700">
            <a:solidFill>
              <a:srgbClr val="D3DAE4"/>
            </a:solidFill>
            <a:prstDash val="solid"/>
          </a:ln>
        </p:spPr>
        <p:txBody>
          <a:bodyPr/>
          <a:lstStyle/>
          <a:p>
            <a:endParaRPr lang="en-MY"/>
          </a:p>
        </p:txBody>
      </p:sp>
      <p:sp>
        <p:nvSpPr>
          <p:cNvPr id="9" name="Text 7"/>
          <p:cNvSpPr/>
          <p:nvPr/>
        </p:nvSpPr>
        <p:spPr>
          <a:xfrm>
            <a:off x="4669367" y="2197035"/>
            <a:ext cx="962686" cy="289520"/>
          </a:xfrm>
          <a:custGeom>
            <a:avLst/>
            <a:gdLst/>
            <a:ahLst/>
            <a:cxnLst/>
            <a:rect l="l" t="t" r="r" b="b"/>
            <a:pathLst>
              <a:path w="962686" h="289520">
                <a:moveTo>
                  <a:pt x="144760" y="0"/>
                </a:moveTo>
                <a:lnTo>
                  <a:pt x="817926" y="0"/>
                </a:lnTo>
                <a:arcTo wR="144760" hR="144760" stAng="16200000" swAng="5400000"/>
                <a:lnTo>
                  <a:pt x="962686" y="144760"/>
                </a:lnTo>
                <a:arcTo wR="144760" hR="144760" stAng="0" swAng="5400000"/>
                <a:lnTo>
                  <a:pt x="144760" y="289520"/>
                </a:lnTo>
                <a:arcTo wR="144760" hR="144760" stAng="5400000" swAng="5400000"/>
                <a:lnTo>
                  <a:pt x="0" y="144760"/>
                </a:lnTo>
                <a:arcTo wR="144760" hR="144760" stAng="10800000" swAng="5400000"/>
                <a:close/>
              </a:path>
            </a:pathLst>
          </a:custGeom>
          <a:solidFill>
            <a:srgbClr val="14213D"/>
          </a:solidFill>
          <a:ln/>
        </p:spPr>
        <p:txBody>
          <a:bodyPr wrap="none" lIns="0" tIns="0" rIns="0" bIns="0" rtlCol="0" anchor="ctr">
            <a:normAutofit/>
          </a:bodyPr>
          <a:lstStyle/>
          <a:p>
            <a:pPr marL="0" indent="0" algn="ctr">
              <a:lnSpc>
                <a:spcPts val="1680"/>
              </a:lnSpc>
              <a:buNone/>
            </a:pPr>
            <a:r>
              <a:rPr lang="en-US" sz="1200" b="1" dirty="0">
                <a:solidFill>
                  <a:srgbClr val="F4F6FA"/>
                </a:solidFill>
                <a:latin typeface="IBM Plex Sans" pitchFamily="34" charset="0"/>
                <a:ea typeface="IBM Plex Sans" pitchFamily="34" charset="-122"/>
                <a:cs typeface="IBM Plex Sans" pitchFamily="34" charset="-120"/>
              </a:rPr>
              <a:t>Member 2</a:t>
            </a:r>
            <a:endParaRPr lang="en-US" sz="1200" dirty="0"/>
          </a:p>
        </p:txBody>
      </p:sp>
      <p:sp>
        <p:nvSpPr>
          <p:cNvPr id="10" name="Text 8"/>
          <p:cNvSpPr/>
          <p:nvPr/>
        </p:nvSpPr>
        <p:spPr>
          <a:xfrm>
            <a:off x="4669367" y="2613555"/>
            <a:ext cx="2938865"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Parcel Registration and Public Tracking</a:t>
            </a:r>
            <a:endParaRPr lang="en-US" sz="1800" dirty="0"/>
          </a:p>
        </p:txBody>
      </p:sp>
      <p:sp>
        <p:nvSpPr>
          <p:cNvPr id="11" name="Text 9"/>
          <p:cNvSpPr/>
          <p:nvPr/>
        </p:nvSpPr>
        <p:spPr>
          <a:xfrm>
            <a:off x="4754711" y="3289170"/>
            <a:ext cx="2845901" cy="1643195"/>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Register parcel with recipient details and weight</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Unique, hard-to-guess tracking number</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Seller sees own parcels only</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Public tracking shows status, date and time only</a:t>
            </a:r>
            <a:endParaRPr lang="en-US" sz="1300" dirty="0"/>
          </a:p>
        </p:txBody>
      </p:sp>
      <p:sp>
        <p:nvSpPr>
          <p:cNvPr id="12" name="Shape 10"/>
          <p:cNvSpPr/>
          <p:nvPr/>
        </p:nvSpPr>
        <p:spPr>
          <a:xfrm>
            <a:off x="7998884" y="1936685"/>
            <a:ext cx="3373967" cy="3230629"/>
          </a:xfrm>
          <a:prstGeom prst="roundRect">
            <a:avLst>
              <a:gd name="adj" fmla="val 3735"/>
            </a:avLst>
          </a:prstGeom>
          <a:solidFill>
            <a:srgbClr val="FFFFFF"/>
          </a:solidFill>
          <a:ln w="12700">
            <a:solidFill>
              <a:srgbClr val="D3DAE4"/>
            </a:solidFill>
            <a:prstDash val="solid"/>
          </a:ln>
        </p:spPr>
        <p:txBody>
          <a:bodyPr/>
          <a:lstStyle/>
          <a:p>
            <a:endParaRPr lang="en-MY"/>
          </a:p>
        </p:txBody>
      </p:sp>
      <p:sp>
        <p:nvSpPr>
          <p:cNvPr id="13" name="Text 11"/>
          <p:cNvSpPr/>
          <p:nvPr/>
        </p:nvSpPr>
        <p:spPr>
          <a:xfrm>
            <a:off x="8259234" y="2197035"/>
            <a:ext cx="962686" cy="289520"/>
          </a:xfrm>
          <a:custGeom>
            <a:avLst/>
            <a:gdLst/>
            <a:ahLst/>
            <a:cxnLst/>
            <a:rect l="l" t="t" r="r" b="b"/>
            <a:pathLst>
              <a:path w="962686" h="289520">
                <a:moveTo>
                  <a:pt x="144760" y="0"/>
                </a:moveTo>
                <a:lnTo>
                  <a:pt x="817926" y="0"/>
                </a:lnTo>
                <a:arcTo wR="144760" hR="144760" stAng="16200000" swAng="5400000"/>
                <a:lnTo>
                  <a:pt x="962686" y="144760"/>
                </a:lnTo>
                <a:arcTo wR="144760" hR="144760" stAng="0" swAng="5400000"/>
                <a:lnTo>
                  <a:pt x="144760" y="289520"/>
                </a:lnTo>
                <a:arcTo wR="144760" hR="144760" stAng="5400000" swAng="5400000"/>
                <a:lnTo>
                  <a:pt x="0" y="144760"/>
                </a:lnTo>
                <a:arcTo wR="144760" hR="144760" stAng="10800000" swAng="5400000"/>
                <a:close/>
              </a:path>
            </a:pathLst>
          </a:custGeom>
          <a:solidFill>
            <a:srgbClr val="14213D"/>
          </a:solidFill>
          <a:ln/>
        </p:spPr>
        <p:txBody>
          <a:bodyPr wrap="none" lIns="0" tIns="0" rIns="0" bIns="0" rtlCol="0" anchor="ctr">
            <a:normAutofit/>
          </a:bodyPr>
          <a:lstStyle/>
          <a:p>
            <a:pPr marL="0" indent="0" algn="ctr">
              <a:lnSpc>
                <a:spcPts val="1680"/>
              </a:lnSpc>
              <a:buNone/>
            </a:pPr>
            <a:r>
              <a:rPr lang="en-US" sz="1200" b="1" dirty="0">
                <a:solidFill>
                  <a:srgbClr val="F4F6FA"/>
                </a:solidFill>
                <a:latin typeface="IBM Plex Sans" pitchFamily="34" charset="0"/>
                <a:ea typeface="IBM Plex Sans" pitchFamily="34" charset="-122"/>
                <a:cs typeface="IBM Plex Sans" pitchFamily="34" charset="-120"/>
              </a:rPr>
              <a:t>Member 3</a:t>
            </a:r>
            <a:endParaRPr lang="en-US" sz="1200" dirty="0"/>
          </a:p>
        </p:txBody>
      </p:sp>
      <p:sp>
        <p:nvSpPr>
          <p:cNvPr id="14" name="Text 12"/>
          <p:cNvSpPr/>
          <p:nvPr/>
        </p:nvSpPr>
        <p:spPr>
          <a:xfrm>
            <a:off x="8259234" y="2613555"/>
            <a:ext cx="2938865"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Delivery Update and Admin Dashboard</a:t>
            </a:r>
            <a:endParaRPr lang="en-US" sz="1800" dirty="0"/>
          </a:p>
        </p:txBody>
      </p:sp>
      <p:sp>
        <p:nvSpPr>
          <p:cNvPr id="15" name="Text 13"/>
          <p:cNvSpPr/>
          <p:nvPr/>
        </p:nvSpPr>
        <p:spPr>
          <a:xfrm>
            <a:off x="8344578" y="3289170"/>
            <a:ext cx="2845901" cy="1412081"/>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Admin assigns parcels to riders</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Rider sees assigned parcels only</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Status update with one JPG or PNG proof photo</a:t>
            </a:r>
            <a:endParaRPr lang="en-US" sz="1300" dirty="0"/>
          </a:p>
          <a:p>
            <a:pPr marL="168656" indent="-168656" algn="l">
              <a:lnSpc>
                <a:spcPts val="1820"/>
              </a:lnSpc>
              <a:buSzPct val="100000"/>
              <a:buChar char="•"/>
            </a:pPr>
            <a:r>
              <a:rPr lang="en-US" sz="1300" dirty="0">
                <a:solidFill>
                  <a:srgbClr val="3D4A5C"/>
                </a:solidFill>
                <a:latin typeface="IBM Plex Sans" pitchFamily="34" charset="0"/>
                <a:ea typeface="IBM Plex Sans" pitchFamily="34" charset="-122"/>
                <a:cs typeface="IBM Plex Sans" pitchFamily="34" charset="-120"/>
              </a:rPr>
              <a:t>Dashboard summary of parcels by status</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MODULE OWNERSHIP</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How the work and marks are divided</a:t>
            </a:r>
            <a:endParaRPr lang="en-US" sz="3200" dirty="0"/>
          </a:p>
        </p:txBody>
      </p:sp>
      <p:sp>
        <p:nvSpPr>
          <p:cNvPr id="4" name="Shape 2"/>
          <p:cNvSpPr/>
          <p:nvPr/>
        </p:nvSpPr>
        <p:spPr>
          <a:xfrm>
            <a:off x="819150" y="1936685"/>
            <a:ext cx="5168900" cy="1643327"/>
          </a:xfrm>
          <a:prstGeom prst="roundRect">
            <a:avLst>
              <a:gd name="adj" fmla="val 5796"/>
            </a:avLst>
          </a:prstGeom>
          <a:solidFill>
            <a:srgbClr val="FFFFFF"/>
          </a:solidFill>
          <a:ln w="12700">
            <a:solidFill>
              <a:srgbClr val="D3DAE4"/>
            </a:solidFill>
            <a:prstDash val="solid"/>
          </a:ln>
        </p:spPr>
        <p:txBody>
          <a:bodyPr/>
          <a:lstStyle/>
          <a:p>
            <a:endParaRPr lang="en-MY"/>
          </a:p>
        </p:txBody>
      </p:sp>
      <p:sp>
        <p:nvSpPr>
          <p:cNvPr id="5" name="Text 3"/>
          <p:cNvSpPr/>
          <p:nvPr/>
        </p:nvSpPr>
        <p:spPr>
          <a:xfrm>
            <a:off x="1079500" y="2197035"/>
            <a:ext cx="478764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One module per member</a:t>
            </a:r>
            <a:endParaRPr lang="en-US" sz="1800" dirty="0"/>
          </a:p>
        </p:txBody>
      </p:sp>
      <p:sp>
        <p:nvSpPr>
          <p:cNvPr id="6" name="Text 4"/>
          <p:cNvSpPr/>
          <p:nvPr/>
        </p:nvSpPr>
        <p:spPr>
          <a:xfrm>
            <a:off x="1079500" y="2572941"/>
            <a:ext cx="4787646"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Each member owns one module. Submit your group's module allocation to the lecturer by </a:t>
            </a:r>
            <a:r>
              <a:rPr lang="en-US" sz="1400" b="1" dirty="0">
                <a:solidFill>
                  <a:srgbClr val="3D4A5C"/>
                </a:solidFill>
                <a:latin typeface="IBM Plex Sans" pitchFamily="34" charset="0"/>
                <a:ea typeface="IBM Plex Sans" pitchFamily="34" charset="-122"/>
                <a:cs typeface="IBM Plex Sans" pitchFamily="34" charset="-120"/>
              </a:rPr>
              <a:t>Week 5</a:t>
            </a:r>
            <a:r>
              <a:rPr lang="en-US" sz="1400" dirty="0">
                <a:solidFill>
                  <a:srgbClr val="3D4A5C"/>
                </a:solidFill>
                <a:latin typeface="IBM Plex Sans" pitchFamily="34" charset="0"/>
                <a:ea typeface="IBM Plex Sans" pitchFamily="34" charset="-122"/>
                <a:cs typeface="IBM Plex Sans" pitchFamily="34" charset="-120"/>
              </a:rPr>
              <a:t> using the </a:t>
            </a:r>
            <a:r>
              <a:rPr lang="en-US" sz="1400" u="sng" dirty="0">
                <a:solidFill>
                  <a:srgbClr val="3D4A5C"/>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allocation sheet</a:t>
            </a:r>
            <a:r>
              <a:rPr lang="en-US" sz="1400" dirty="0">
                <a:solidFill>
                  <a:srgbClr val="3D4A5C"/>
                </a:solidFill>
                <a:latin typeface="IBM Plex Sans" pitchFamily="34" charset="0"/>
                <a:ea typeface="IBM Plex Sans" pitchFamily="34" charset="-122"/>
                <a:cs typeface="IBM Plex Sans" pitchFamily="34" charset="-120"/>
              </a:rPr>
              <a:t>.</a:t>
            </a:r>
            <a:endParaRPr lang="en-US" sz="1400" dirty="0"/>
          </a:p>
        </p:txBody>
      </p:sp>
      <p:sp>
        <p:nvSpPr>
          <p:cNvPr id="7" name="Shape 5"/>
          <p:cNvSpPr/>
          <p:nvPr/>
        </p:nvSpPr>
        <p:spPr>
          <a:xfrm>
            <a:off x="6203950" y="1936685"/>
            <a:ext cx="5168900" cy="1643327"/>
          </a:xfrm>
          <a:prstGeom prst="roundRect">
            <a:avLst>
              <a:gd name="adj" fmla="val 5796"/>
            </a:avLst>
          </a:prstGeom>
          <a:solidFill>
            <a:srgbClr val="FFFFFF"/>
          </a:solidFill>
          <a:ln w="12700">
            <a:solidFill>
              <a:srgbClr val="D3DAE4"/>
            </a:solidFill>
            <a:prstDash val="solid"/>
          </a:ln>
        </p:spPr>
        <p:txBody>
          <a:bodyPr/>
          <a:lstStyle/>
          <a:p>
            <a:endParaRPr lang="en-MY"/>
          </a:p>
        </p:txBody>
      </p:sp>
      <p:sp>
        <p:nvSpPr>
          <p:cNvPr id="8" name="Text 6"/>
          <p:cNvSpPr/>
          <p:nvPr/>
        </p:nvSpPr>
        <p:spPr>
          <a:xfrm>
            <a:off x="6464300" y="2197035"/>
            <a:ext cx="478764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Own code</a:t>
            </a:r>
            <a:endParaRPr lang="en-US" sz="1800" dirty="0"/>
          </a:p>
        </p:txBody>
      </p:sp>
      <p:sp>
        <p:nvSpPr>
          <p:cNvPr id="9" name="Text 7"/>
          <p:cNvSpPr/>
          <p:nvPr/>
        </p:nvSpPr>
        <p:spPr>
          <a:xfrm>
            <a:off x="6464300" y="2572941"/>
            <a:ext cx="4787646"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Write your own module's code, or start from the starter kit: declare it and keep the untouched kit as your first commit.</a:t>
            </a:r>
            <a:endParaRPr lang="en-US" sz="1400" dirty="0"/>
          </a:p>
        </p:txBody>
      </p:sp>
      <p:sp>
        <p:nvSpPr>
          <p:cNvPr id="10" name="Shape 8"/>
          <p:cNvSpPr/>
          <p:nvPr/>
        </p:nvSpPr>
        <p:spPr>
          <a:xfrm>
            <a:off x="819150" y="3795911"/>
            <a:ext cx="5168900" cy="1394420"/>
          </a:xfrm>
          <a:prstGeom prst="roundRect">
            <a:avLst>
              <a:gd name="adj" fmla="val 6831"/>
            </a:avLst>
          </a:prstGeom>
          <a:solidFill>
            <a:srgbClr val="FFFFFF"/>
          </a:solidFill>
          <a:ln w="12700">
            <a:solidFill>
              <a:srgbClr val="D3DAE4"/>
            </a:solidFill>
            <a:prstDash val="solid"/>
          </a:ln>
        </p:spPr>
        <p:txBody>
          <a:bodyPr/>
          <a:lstStyle/>
          <a:p>
            <a:endParaRPr lang="en-MY"/>
          </a:p>
        </p:txBody>
      </p:sp>
      <p:sp>
        <p:nvSpPr>
          <p:cNvPr id="11" name="Text 9"/>
          <p:cNvSpPr/>
          <p:nvPr/>
        </p:nvSpPr>
        <p:spPr>
          <a:xfrm>
            <a:off x="1079500" y="4056261"/>
            <a:ext cx="478764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Individual assessment</a:t>
            </a:r>
            <a:endParaRPr lang="en-US" sz="1800" dirty="0"/>
          </a:p>
        </p:txBody>
      </p:sp>
      <p:sp>
        <p:nvSpPr>
          <p:cNvPr id="12" name="Text 10"/>
          <p:cNvSpPr/>
          <p:nvPr/>
        </p:nvSpPr>
        <p:spPr>
          <a:xfrm>
            <a:off x="1079500" y="4432170"/>
            <a:ext cx="478764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Each member is marked on their own module: its security controls, testing and live demonstration.</a:t>
            </a:r>
            <a:endParaRPr lang="en-US" sz="1400" dirty="0"/>
          </a:p>
        </p:txBody>
      </p:sp>
      <p:sp>
        <p:nvSpPr>
          <p:cNvPr id="13" name="Shape 11"/>
          <p:cNvSpPr/>
          <p:nvPr/>
        </p:nvSpPr>
        <p:spPr>
          <a:xfrm>
            <a:off x="6203950" y="3795911"/>
            <a:ext cx="5168900" cy="1394420"/>
          </a:xfrm>
          <a:prstGeom prst="roundRect">
            <a:avLst>
              <a:gd name="adj" fmla="val 6831"/>
            </a:avLst>
          </a:prstGeom>
          <a:solidFill>
            <a:srgbClr val="FFFFFF"/>
          </a:solidFill>
          <a:ln w="12700">
            <a:solidFill>
              <a:srgbClr val="D3DAE4"/>
            </a:solidFill>
            <a:prstDash val="solid"/>
          </a:ln>
        </p:spPr>
        <p:txBody>
          <a:bodyPr/>
          <a:lstStyle/>
          <a:p>
            <a:endParaRPr lang="en-MY"/>
          </a:p>
        </p:txBody>
      </p:sp>
      <p:sp>
        <p:nvSpPr>
          <p:cNvPr id="14" name="Text 12"/>
          <p:cNvSpPr/>
          <p:nvPr/>
        </p:nvSpPr>
        <p:spPr>
          <a:xfrm>
            <a:off x="6464300" y="4056261"/>
            <a:ext cx="478764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Shared responsibilities</a:t>
            </a:r>
            <a:endParaRPr lang="en-US" sz="1800" dirty="0"/>
          </a:p>
        </p:txBody>
      </p:sp>
      <p:sp>
        <p:nvSpPr>
          <p:cNvPr id="15" name="Text 13"/>
          <p:cNvSpPr/>
          <p:nvPr/>
        </p:nvSpPr>
        <p:spPr>
          <a:xfrm>
            <a:off x="6464300" y="4432170"/>
            <a:ext cx="478764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The database design, layout and integration of the three modules belong to the whole group.</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USER ROLES AND ACCESS</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Who may do what</a:t>
            </a:r>
            <a:endParaRPr lang="en-US" sz="3200" dirty="0"/>
          </a:p>
        </p:txBody>
      </p:sp>
      <p:sp>
        <p:nvSpPr>
          <p:cNvPr id="4" name="Shape 2"/>
          <p:cNvSpPr/>
          <p:nvPr/>
        </p:nvSpPr>
        <p:spPr>
          <a:xfrm>
            <a:off x="812800" y="1828735"/>
            <a:ext cx="10566400" cy="3233870"/>
          </a:xfrm>
          <a:prstGeom prst="rect">
            <a:avLst/>
          </a:prstGeom>
          <a:solidFill>
            <a:srgbClr val="FFFFFF"/>
          </a:solidFill>
          <a:ln/>
        </p:spPr>
        <p:txBody>
          <a:bodyPr/>
          <a:lstStyle/>
          <a:p>
            <a:endParaRPr lang="en-MY"/>
          </a:p>
        </p:txBody>
      </p:sp>
      <p:sp>
        <p:nvSpPr>
          <p:cNvPr id="5" name="Shape 3"/>
          <p:cNvSpPr/>
          <p:nvPr/>
        </p:nvSpPr>
        <p:spPr>
          <a:xfrm>
            <a:off x="11372850" y="1828735"/>
            <a:ext cx="0" cy="3233870"/>
          </a:xfrm>
          <a:prstGeom prst="line">
            <a:avLst/>
          </a:prstGeom>
          <a:noFill/>
          <a:ln w="12700">
            <a:solidFill>
              <a:srgbClr val="D3DAE4"/>
            </a:solidFill>
            <a:prstDash val="solid"/>
          </a:ln>
        </p:spPr>
        <p:txBody>
          <a:bodyPr/>
          <a:lstStyle/>
          <a:p>
            <a:endParaRPr lang="en-MY"/>
          </a:p>
        </p:txBody>
      </p:sp>
      <p:sp>
        <p:nvSpPr>
          <p:cNvPr id="6" name="Shape 4"/>
          <p:cNvSpPr/>
          <p:nvPr/>
        </p:nvSpPr>
        <p:spPr>
          <a:xfrm>
            <a:off x="812800" y="5056255"/>
            <a:ext cx="10566400" cy="0"/>
          </a:xfrm>
          <a:prstGeom prst="line">
            <a:avLst/>
          </a:prstGeom>
          <a:noFill/>
          <a:ln w="12700">
            <a:solidFill>
              <a:srgbClr val="D3DAE4"/>
            </a:solidFill>
            <a:prstDash val="solid"/>
          </a:ln>
        </p:spPr>
        <p:txBody>
          <a:bodyPr/>
          <a:lstStyle/>
          <a:p>
            <a:endParaRPr lang="en-MY"/>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41435"/>
          <a:ext cx="10540999" cy="3208470"/>
        </p:xfrm>
        <a:graphic>
          <a:graphicData uri="http://schemas.openxmlformats.org/drawingml/2006/table">
            <a:tbl>
              <a:tblPr/>
              <a:tblGrid>
                <a:gridCol w="3513667">
                  <a:extLst>
                    <a:ext uri="{9D8B030D-6E8A-4147-A177-3AD203B41FA5}">
                      <a16:colId xmlns:a16="http://schemas.microsoft.com/office/drawing/2014/main" val="20000"/>
                    </a:ext>
                  </a:extLst>
                </a:gridCol>
                <a:gridCol w="1756833">
                  <a:extLst>
                    <a:ext uri="{9D8B030D-6E8A-4147-A177-3AD203B41FA5}">
                      <a16:colId xmlns:a16="http://schemas.microsoft.com/office/drawing/2014/main" val="20001"/>
                    </a:ext>
                  </a:extLst>
                </a:gridCol>
                <a:gridCol w="1756833">
                  <a:extLst>
                    <a:ext uri="{9D8B030D-6E8A-4147-A177-3AD203B41FA5}">
                      <a16:colId xmlns:a16="http://schemas.microsoft.com/office/drawing/2014/main" val="20002"/>
                    </a:ext>
                  </a:extLst>
                </a:gridCol>
                <a:gridCol w="1756833">
                  <a:extLst>
                    <a:ext uri="{9D8B030D-6E8A-4147-A177-3AD203B41FA5}">
                      <a16:colId xmlns:a16="http://schemas.microsoft.com/office/drawing/2014/main" val="20003"/>
                    </a:ext>
                  </a:extLst>
                </a:gridCol>
                <a:gridCol w="1756833">
                  <a:extLst>
                    <a:ext uri="{9D8B030D-6E8A-4147-A177-3AD203B41FA5}">
                      <a16:colId xmlns:a16="http://schemas.microsoft.com/office/drawing/2014/main" val="20004"/>
                    </a:ext>
                  </a:extLst>
                </a:gridCol>
              </a:tblGrid>
              <a:tr h="359304">
                <a:tc>
                  <a:txBody>
                    <a:bodyPr/>
                    <a:lstStyle/>
                    <a:p>
                      <a:pPr marL="0" indent="0">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Function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Seller</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Rider</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Admin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Public</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Register parcel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90418">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View parcel details (with address)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Own parcels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Assigned parcels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All</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Assign parcel to rider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90418">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Update delivery status and upload photo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Assigned parcels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90418">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Track parcel by tracking number (status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Manage user accounts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8" name="Shape 5"/>
          <p:cNvSpPr/>
          <p:nvPr/>
        </p:nvSpPr>
        <p:spPr>
          <a:xfrm>
            <a:off x="831850" y="5316606"/>
            <a:ext cx="0" cy="299707"/>
          </a:xfrm>
          <a:prstGeom prst="line">
            <a:avLst/>
          </a:prstGeom>
          <a:noFill/>
          <a:ln w="38100">
            <a:solidFill>
              <a:srgbClr val="C2581B"/>
            </a:solidFill>
            <a:prstDash val="solid"/>
          </a:ln>
        </p:spPr>
        <p:txBody>
          <a:bodyPr/>
          <a:lstStyle/>
          <a:p>
            <a:endParaRPr lang="en-MY"/>
          </a:p>
        </p:txBody>
      </p:sp>
      <p:sp>
        <p:nvSpPr>
          <p:cNvPr id="9" name="Text 6"/>
          <p:cNvSpPr/>
          <p:nvPr/>
        </p:nvSpPr>
        <p:spPr>
          <a:xfrm>
            <a:off x="1028700" y="5342006"/>
            <a:ext cx="1066101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Check access on the server for every request; hiding a menu item is not enough.</a:t>
            </a:r>
            <a:endParaRPr lang="en-US" sz="14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IDENTIFIED THREATS AND RISKS</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your controls must defend against</a:t>
            </a:r>
            <a:endParaRPr lang="en-US" sz="3200" dirty="0"/>
          </a:p>
        </p:txBody>
      </p:sp>
      <p:sp>
        <p:nvSpPr>
          <p:cNvPr id="4" name="Shape 2"/>
          <p:cNvSpPr/>
          <p:nvPr/>
        </p:nvSpPr>
        <p:spPr>
          <a:xfrm>
            <a:off x="812800" y="1879538"/>
            <a:ext cx="10566400" cy="2540529"/>
          </a:xfrm>
          <a:prstGeom prst="rect">
            <a:avLst/>
          </a:prstGeom>
          <a:solidFill>
            <a:srgbClr val="FFFFFF"/>
          </a:solidFill>
          <a:ln/>
        </p:spPr>
        <p:txBody>
          <a:bodyPr/>
          <a:lstStyle/>
          <a:p>
            <a:endParaRPr lang="en-MY"/>
          </a:p>
        </p:txBody>
      </p:sp>
      <p:sp>
        <p:nvSpPr>
          <p:cNvPr id="5" name="Shape 3"/>
          <p:cNvSpPr/>
          <p:nvPr/>
        </p:nvSpPr>
        <p:spPr>
          <a:xfrm>
            <a:off x="11372850" y="1879538"/>
            <a:ext cx="0" cy="2540529"/>
          </a:xfrm>
          <a:prstGeom prst="line">
            <a:avLst/>
          </a:prstGeom>
          <a:noFill/>
          <a:ln w="12700">
            <a:solidFill>
              <a:srgbClr val="D3DAE4"/>
            </a:solidFill>
            <a:prstDash val="solid"/>
          </a:ln>
        </p:spPr>
        <p:txBody>
          <a:bodyPr/>
          <a:lstStyle/>
          <a:p>
            <a:endParaRPr lang="en-MY"/>
          </a:p>
        </p:txBody>
      </p:sp>
      <p:sp>
        <p:nvSpPr>
          <p:cNvPr id="6" name="Shape 4"/>
          <p:cNvSpPr/>
          <p:nvPr/>
        </p:nvSpPr>
        <p:spPr>
          <a:xfrm>
            <a:off x="812800" y="4413717"/>
            <a:ext cx="10566400" cy="0"/>
          </a:xfrm>
          <a:prstGeom prst="line">
            <a:avLst/>
          </a:prstGeom>
          <a:noFill/>
          <a:ln w="12700">
            <a:solidFill>
              <a:srgbClr val="D3DAE4"/>
            </a:solidFill>
            <a:prstDash val="solid"/>
          </a:ln>
        </p:spPr>
        <p:txBody>
          <a:bodyPr/>
          <a:lstStyle/>
          <a:p>
            <a:endParaRPr lang="en-MY"/>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92238"/>
          <a:ext cx="10541000" cy="2515128"/>
        </p:xfrm>
        <a:graphic>
          <a:graphicData uri="http://schemas.openxmlformats.org/drawingml/2006/table">
            <a:tbl>
              <a:tblPr/>
              <a:tblGrid>
                <a:gridCol w="4427220">
                  <a:extLst>
                    <a:ext uri="{9D8B030D-6E8A-4147-A177-3AD203B41FA5}">
                      <a16:colId xmlns:a16="http://schemas.microsoft.com/office/drawing/2014/main" val="20000"/>
                    </a:ext>
                  </a:extLst>
                </a:gridCol>
                <a:gridCol w="1370330">
                  <a:extLst>
                    <a:ext uri="{9D8B030D-6E8A-4147-A177-3AD203B41FA5}">
                      <a16:colId xmlns:a16="http://schemas.microsoft.com/office/drawing/2014/main" val="20001"/>
                    </a:ext>
                  </a:extLst>
                </a:gridCol>
                <a:gridCol w="4743450">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Threat or risk</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Level</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Consequence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SQL injection in parcel search or login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B04A10"/>
                          </a:solidFill>
                          <a:latin typeface="IBM Plex Sans" pitchFamily="34" charset="0"/>
                          <a:ea typeface="IBM Plex Sans" pitchFamily="34" charset="-122"/>
                          <a:cs typeface="IBM Plex Sans" pitchFamily="34" charset="-120"/>
                        </a:rPr>
                        <a:t>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Theft or deletion of all parcel and user data</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Broken access control (changing a parcel ID in the URL)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B04A10"/>
                          </a:solidFill>
                          <a:latin typeface="IBM Plex Sans" pitchFamily="34" charset="0"/>
                          <a:ea typeface="IBM Plex Sans" pitchFamily="34" charset="-122"/>
                          <a:cs typeface="IBM Plex Sans" pitchFamily="34" charset="-120"/>
                        </a:rPr>
                        <a:t>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Sellers or riders see other people's parcels and addresses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Guessable tracking numbers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B04A10"/>
                          </a:solidFill>
                          <a:latin typeface="IBM Plex Sans" pitchFamily="34" charset="0"/>
                          <a:ea typeface="IBM Plex Sans" pitchFamily="34" charset="-122"/>
                          <a:cs typeface="IBM Plex Sans" pitchFamily="34" charset="-120"/>
                        </a:rPr>
                        <a:t>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Attackers enumerate parcels and collect delivery information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Weak password storage and brute-force login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B04A10"/>
                          </a:solidFill>
                          <a:latin typeface="IBM Plex Sans" pitchFamily="34" charset="0"/>
                          <a:ea typeface="IBM Plex Sans" pitchFamily="34" charset="-122"/>
                          <a:cs typeface="IBM Plex Sans" pitchFamily="34" charset="-120"/>
                        </a:rPr>
                        <a:t>High</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Accounts taken over; fake status updates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Cross-site scripting (XSS) in recipient name or address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2563A8"/>
                          </a:solidFill>
                          <a:latin typeface="IBM Plex Sans" pitchFamily="34" charset="0"/>
                          <a:ea typeface="IBM Plex Sans" pitchFamily="34" charset="-122"/>
                          <a:cs typeface="IBM Plex Sans" pitchFamily="34" charset="-120"/>
                        </a:rPr>
                        <a:t>Medium</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Admin session stolen when viewing parcel lists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Malicious file upload in proof-of-delivery photo</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2563A8"/>
                          </a:solidFill>
                          <a:latin typeface="IBM Plex Sans" pitchFamily="34" charset="0"/>
                          <a:ea typeface="IBM Plex Sans" pitchFamily="34" charset="-122"/>
                          <a:cs typeface="IBM Plex Sans" pitchFamily="34" charset="-120"/>
                        </a:rPr>
                        <a:t>Medium</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Malware or script stored and executed on the server</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SECURITY POLICIES</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Five policies your system must meet</a:t>
            </a:r>
            <a:endParaRPr lang="en-US" sz="3200" dirty="0"/>
          </a:p>
        </p:txBody>
      </p:sp>
      <p:sp>
        <p:nvSpPr>
          <p:cNvPr id="4" name="Shape 2"/>
          <p:cNvSpPr/>
          <p:nvPr/>
        </p:nvSpPr>
        <p:spPr>
          <a:xfrm>
            <a:off x="812800" y="1879538"/>
            <a:ext cx="10566400" cy="3105679"/>
          </a:xfrm>
          <a:prstGeom prst="rect">
            <a:avLst/>
          </a:prstGeom>
          <a:solidFill>
            <a:srgbClr val="FFFFFF"/>
          </a:solidFill>
          <a:ln/>
        </p:spPr>
        <p:txBody>
          <a:bodyPr/>
          <a:lstStyle/>
          <a:p>
            <a:endParaRPr lang="en-MY"/>
          </a:p>
        </p:txBody>
      </p:sp>
      <p:sp>
        <p:nvSpPr>
          <p:cNvPr id="5" name="Shape 3"/>
          <p:cNvSpPr/>
          <p:nvPr/>
        </p:nvSpPr>
        <p:spPr>
          <a:xfrm>
            <a:off x="11372850" y="1879538"/>
            <a:ext cx="0" cy="3105679"/>
          </a:xfrm>
          <a:prstGeom prst="line">
            <a:avLst/>
          </a:prstGeom>
          <a:noFill/>
          <a:ln w="12700">
            <a:solidFill>
              <a:srgbClr val="D3DAE4"/>
            </a:solidFill>
            <a:prstDash val="solid"/>
          </a:ln>
        </p:spPr>
        <p:txBody>
          <a:bodyPr/>
          <a:lstStyle/>
          <a:p>
            <a:endParaRPr lang="en-MY"/>
          </a:p>
        </p:txBody>
      </p:sp>
      <p:sp>
        <p:nvSpPr>
          <p:cNvPr id="6" name="Shape 4"/>
          <p:cNvSpPr/>
          <p:nvPr/>
        </p:nvSpPr>
        <p:spPr>
          <a:xfrm>
            <a:off x="812800" y="4978867"/>
            <a:ext cx="10566400" cy="0"/>
          </a:xfrm>
          <a:prstGeom prst="line">
            <a:avLst/>
          </a:prstGeom>
          <a:noFill/>
          <a:ln w="12700">
            <a:solidFill>
              <a:srgbClr val="D3DAE4"/>
            </a:solidFill>
            <a:prstDash val="solid"/>
          </a:ln>
        </p:spPr>
        <p:txBody>
          <a:bodyPr/>
          <a:lstStyle/>
          <a:p>
            <a:endParaRPr lang="en-MY"/>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92238"/>
          <a:ext cx="10541000" cy="3080280"/>
        </p:xfrm>
        <a:graphic>
          <a:graphicData uri="http://schemas.openxmlformats.org/drawingml/2006/table">
            <a:tbl>
              <a:tblPr/>
              <a:tblGrid>
                <a:gridCol w="2846070">
                  <a:extLst>
                    <a:ext uri="{9D8B030D-6E8A-4147-A177-3AD203B41FA5}">
                      <a16:colId xmlns:a16="http://schemas.microsoft.com/office/drawing/2014/main" val="20000"/>
                    </a:ext>
                  </a:extLst>
                </a:gridCol>
                <a:gridCol w="7694930">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Policy</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4F6FA"/>
                          </a:solidFill>
                          <a:latin typeface="IBM Plex Sans" pitchFamily="34" charset="0"/>
                          <a:ea typeface="IBM Plex Sans" pitchFamily="34" charset="-122"/>
                          <a:cs typeface="IBM Plex Sans" pitchFamily="34" charset="-120"/>
                        </a:rPr>
                        <a:t>What RapidExpress expects</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90418">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P1 Access Control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Least privilege and need-to-know; no shared accounts; no access to parcels you are not responsible for; rider accounts disabled the day a rider leaves.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P2 Passwords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At least 10 characters and unique to ParcelTrack Lite; report suspected compromise immediately.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90418">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P3 Personal Data</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Collect recipient data only to deliver parcels (PDPA 2010); never copy, export or share it; delete or anonymise 12 months after delivery.</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90418">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P4 Secure Development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No passwords or keys in source code; no real recipient data in testing; generic error messages for users, technical details in logs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90418">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P5 Logging and Incidents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IBM Plex Sans" pitchFamily="34" charset="0"/>
                          <a:ea typeface="IBM Plex Sans" pitchFamily="34" charset="-122"/>
                          <a:cs typeface="IBM Plex Sans" pitchFamily="34" charset="-120"/>
                        </a:rPr>
                        <a:t>Log logins, failed logins and status changes without passwords or full addresses; report a suspected breach within 1 hour and lock affected accounts.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DEVELOPMENT AND OPERATIONAL ENVIRONMENT</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Tools and operating context</a:t>
            </a:r>
            <a:endParaRPr lang="en-US" sz="3200" dirty="0"/>
          </a:p>
        </p:txBody>
      </p:sp>
      <p:sp>
        <p:nvSpPr>
          <p:cNvPr id="4" name="Shape 2"/>
          <p:cNvSpPr/>
          <p:nvPr/>
        </p:nvSpPr>
        <p:spPr>
          <a:xfrm>
            <a:off x="819150" y="1936688"/>
            <a:ext cx="3373967" cy="2412934"/>
          </a:xfrm>
          <a:prstGeom prst="roundRect">
            <a:avLst>
              <a:gd name="adj" fmla="val 5000"/>
            </a:avLst>
          </a:prstGeom>
          <a:solidFill>
            <a:srgbClr val="FFFFFF"/>
          </a:solidFill>
          <a:ln w="12700">
            <a:solidFill>
              <a:srgbClr val="D3DAE4"/>
            </a:solidFill>
            <a:prstDash val="solid"/>
          </a:ln>
        </p:spPr>
        <p:txBody>
          <a:bodyPr/>
          <a:lstStyle/>
          <a:p>
            <a:endParaRPr lang="en-MY"/>
          </a:p>
        </p:txBody>
      </p:sp>
      <p:pic>
        <p:nvPicPr>
          <p:cNvPr id="5" name="Image 0" descr="Code"/>
          <p:cNvPicPr>
            <a:picLocks noChangeAspect="1"/>
          </p:cNvPicPr>
          <p:nvPr/>
        </p:nvPicPr>
        <p:blipFill>
          <a:blip r:embed="rId3"/>
          <a:srcRect/>
          <a:stretch/>
        </p:blipFill>
        <p:spPr>
          <a:xfrm>
            <a:off x="1079500" y="2197038"/>
            <a:ext cx="406400" cy="406400"/>
          </a:xfrm>
          <a:prstGeom prst="rect">
            <a:avLst/>
          </a:prstGeom>
        </p:spPr>
      </p:pic>
      <p:sp>
        <p:nvSpPr>
          <p:cNvPr id="6" name="Text 3"/>
          <p:cNvSpPr/>
          <p:nvPr/>
        </p:nvSpPr>
        <p:spPr>
          <a:xfrm>
            <a:off x="1079500" y="2730438"/>
            <a:ext cx="293886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Choose one stack</a:t>
            </a:r>
            <a:endParaRPr lang="en-US" sz="1800" dirty="0"/>
          </a:p>
        </p:txBody>
      </p:sp>
      <p:sp>
        <p:nvSpPr>
          <p:cNvPr id="7" name="Text 4"/>
          <p:cNvSpPr/>
          <p:nvPr/>
        </p:nvSpPr>
        <p:spPr>
          <a:xfrm>
            <a:off x="1164844" y="3131741"/>
            <a:ext cx="2845901" cy="982927"/>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PHP + MySQL</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Python (Flask or Django) + SQLite or MySQL</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Java (Spring Boot) + MySQL</a:t>
            </a:r>
            <a:endParaRPr lang="en-US" sz="1300" dirty="0"/>
          </a:p>
        </p:txBody>
      </p:sp>
      <p:sp>
        <p:nvSpPr>
          <p:cNvPr id="8" name="Shape 5"/>
          <p:cNvSpPr/>
          <p:nvPr/>
        </p:nvSpPr>
        <p:spPr>
          <a:xfrm>
            <a:off x="4409017" y="1936688"/>
            <a:ext cx="3373967" cy="2412934"/>
          </a:xfrm>
          <a:prstGeom prst="roundRect">
            <a:avLst>
              <a:gd name="adj" fmla="val 5000"/>
            </a:avLst>
          </a:prstGeom>
          <a:solidFill>
            <a:srgbClr val="FFFFFF"/>
          </a:solidFill>
          <a:ln w="12700">
            <a:solidFill>
              <a:srgbClr val="D3DAE4"/>
            </a:solidFill>
            <a:prstDash val="solid"/>
          </a:ln>
        </p:spPr>
        <p:txBody>
          <a:bodyPr/>
          <a:lstStyle/>
          <a:p>
            <a:endParaRPr lang="en-MY"/>
          </a:p>
        </p:txBody>
      </p:sp>
      <p:pic>
        <p:nvPicPr>
          <p:cNvPr id="9" name="Image 1" descr="Link"/>
          <p:cNvPicPr>
            <a:picLocks noChangeAspect="1"/>
          </p:cNvPicPr>
          <p:nvPr/>
        </p:nvPicPr>
        <p:blipFill>
          <a:blip r:embed="rId4"/>
          <a:srcRect/>
          <a:stretch/>
        </p:blipFill>
        <p:spPr>
          <a:xfrm>
            <a:off x="4669367" y="2197038"/>
            <a:ext cx="406400" cy="406400"/>
          </a:xfrm>
          <a:prstGeom prst="rect">
            <a:avLst/>
          </a:prstGeom>
        </p:spPr>
      </p:pic>
      <p:sp>
        <p:nvSpPr>
          <p:cNvPr id="10" name="Text 6"/>
          <p:cNvSpPr/>
          <p:nvPr/>
        </p:nvSpPr>
        <p:spPr>
          <a:xfrm>
            <a:off x="4669367" y="2730438"/>
            <a:ext cx="293886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Version control</a:t>
            </a:r>
            <a:endParaRPr lang="en-US" sz="1800" dirty="0"/>
          </a:p>
        </p:txBody>
      </p:sp>
      <p:sp>
        <p:nvSpPr>
          <p:cNvPr id="11" name="Text 7"/>
          <p:cNvSpPr/>
          <p:nvPr/>
        </p:nvSpPr>
        <p:spPr>
          <a:xfrm>
            <a:off x="4669367" y="3131741"/>
            <a:ext cx="2938865" cy="74354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IBM Plex Sans" pitchFamily="34" charset="0"/>
                <a:ea typeface="IBM Plex Sans" pitchFamily="34" charset="-122"/>
                <a:cs typeface="IBM Plex Sans" pitchFamily="34" charset="-120"/>
              </a:rPr>
              <a:t>Optional. Git with a GitHub or GitLab repository and regular commits throughout the project.</a:t>
            </a:r>
            <a:endParaRPr lang="en-US" sz="1300" dirty="0"/>
          </a:p>
        </p:txBody>
      </p:sp>
      <p:sp>
        <p:nvSpPr>
          <p:cNvPr id="12" name="Shape 8"/>
          <p:cNvSpPr/>
          <p:nvPr/>
        </p:nvSpPr>
        <p:spPr>
          <a:xfrm>
            <a:off x="7998884" y="1936688"/>
            <a:ext cx="3373967" cy="2412934"/>
          </a:xfrm>
          <a:prstGeom prst="roundRect">
            <a:avLst>
              <a:gd name="adj" fmla="val 5000"/>
            </a:avLst>
          </a:prstGeom>
          <a:solidFill>
            <a:srgbClr val="FFFFFF"/>
          </a:solidFill>
          <a:ln w="12700">
            <a:solidFill>
              <a:srgbClr val="D3DAE4"/>
            </a:solidFill>
            <a:prstDash val="solid"/>
          </a:ln>
        </p:spPr>
        <p:txBody>
          <a:bodyPr/>
          <a:lstStyle/>
          <a:p>
            <a:endParaRPr lang="en-MY"/>
          </a:p>
        </p:txBody>
      </p:sp>
      <p:pic>
        <p:nvPicPr>
          <p:cNvPr id="13" name="Image 2" descr="Users"/>
          <p:cNvPicPr>
            <a:picLocks noChangeAspect="1"/>
          </p:cNvPicPr>
          <p:nvPr/>
        </p:nvPicPr>
        <p:blipFill>
          <a:blip r:embed="rId5"/>
          <a:srcRect/>
          <a:stretch/>
        </p:blipFill>
        <p:spPr>
          <a:xfrm>
            <a:off x="8259234" y="2197038"/>
            <a:ext cx="406400" cy="406400"/>
          </a:xfrm>
          <a:prstGeom prst="rect">
            <a:avLst/>
          </a:prstGeom>
        </p:spPr>
      </p:pic>
      <p:sp>
        <p:nvSpPr>
          <p:cNvPr id="14" name="Text 9"/>
          <p:cNvSpPr/>
          <p:nvPr/>
        </p:nvSpPr>
        <p:spPr>
          <a:xfrm>
            <a:off x="8259234" y="2730438"/>
            <a:ext cx="293886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Users and devices</a:t>
            </a:r>
            <a:endParaRPr lang="en-US" sz="1800" dirty="0"/>
          </a:p>
        </p:txBody>
      </p:sp>
      <p:sp>
        <p:nvSpPr>
          <p:cNvPr id="15" name="Text 10"/>
          <p:cNvSpPr/>
          <p:nvPr/>
        </p:nvSpPr>
        <p:spPr>
          <a:xfrm>
            <a:off x="8344578" y="3131741"/>
            <a:ext cx="2845901" cy="982927"/>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Sellers and admins on office PCs</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Riders on Android phones over 4G</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Public tracking page open to anyone</a:t>
            </a:r>
            <a:endParaRPr lang="en-US" sz="1300" dirty="0"/>
          </a:p>
        </p:txBody>
      </p:sp>
      <p:sp>
        <p:nvSpPr>
          <p:cNvPr id="16"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2EA"/>
                </a:solidFill>
                <a:latin typeface="IBM Plex Sans" pitchFamily="34" charset="0"/>
                <a:ea typeface="IBM Plex Sans" pitchFamily="34" charset="-122"/>
                <a:cs typeface="IBM Plex Sans" pitchFamily="34" charset="-120"/>
              </a:rPr>
              <a:t>DEPLOYMENT CRITERION</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6FA"/>
                </a:solidFill>
                <a:latin typeface="Space Grotesk" pitchFamily="34" charset="0"/>
                <a:ea typeface="Space Grotesk" pitchFamily="34" charset="-122"/>
                <a:cs typeface="Space Grotesk" pitchFamily="34" charset="-120"/>
              </a:rPr>
              <a:t>Deploy to the cloud for full marks</a:t>
            </a:r>
            <a:endParaRPr lang="en-US" sz="3200" dirty="0"/>
          </a:p>
        </p:txBody>
      </p:sp>
      <p:sp>
        <p:nvSpPr>
          <p:cNvPr id="4" name="Shape 2"/>
          <p:cNvSpPr/>
          <p:nvPr/>
        </p:nvSpPr>
        <p:spPr>
          <a:xfrm>
            <a:off x="819150" y="1936688"/>
            <a:ext cx="5168900" cy="2867620"/>
          </a:xfrm>
          <a:prstGeom prst="roundRect">
            <a:avLst>
              <a:gd name="adj" fmla="val 5093"/>
            </a:avLst>
          </a:prstGeom>
          <a:solidFill>
            <a:srgbClr val="1F3A66"/>
          </a:solidFill>
          <a:ln w="12700">
            <a:solidFill>
              <a:srgbClr val="2E7BD1"/>
            </a:solidFill>
            <a:prstDash val="solid"/>
          </a:ln>
        </p:spPr>
        <p:txBody>
          <a:bodyPr/>
          <a:lstStyle/>
          <a:p>
            <a:endParaRPr lang="en-MY"/>
          </a:p>
        </p:txBody>
      </p:sp>
      <p:pic>
        <p:nvPicPr>
          <p:cNvPr id="5" name="Image 0" descr="Cloud"/>
          <p:cNvPicPr>
            <a:picLocks noChangeAspect="1"/>
          </p:cNvPicPr>
          <p:nvPr/>
        </p:nvPicPr>
        <p:blipFill>
          <a:blip r:embed="rId3"/>
          <a:srcRect/>
          <a:stretch/>
        </p:blipFill>
        <p:spPr>
          <a:xfrm>
            <a:off x="1181100" y="2298638"/>
            <a:ext cx="457200" cy="457200"/>
          </a:xfrm>
          <a:prstGeom prst="rect">
            <a:avLst/>
          </a:prstGeom>
        </p:spPr>
      </p:pic>
      <p:sp>
        <p:nvSpPr>
          <p:cNvPr id="6" name="Text 3"/>
          <p:cNvSpPr/>
          <p:nvPr/>
        </p:nvSpPr>
        <p:spPr>
          <a:xfrm>
            <a:off x="1181100" y="2882838"/>
            <a:ext cx="45783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A"/>
                </a:solidFill>
                <a:latin typeface="Space Grotesk" pitchFamily="34" charset="0"/>
                <a:ea typeface="Space Grotesk" pitchFamily="34" charset="-122"/>
                <a:cs typeface="Space Grotesk" pitchFamily="34" charset="-120"/>
              </a:rPr>
              <a:t>Cloud server</a:t>
            </a:r>
            <a:endParaRPr lang="en-US" sz="2000" dirty="0"/>
          </a:p>
        </p:txBody>
      </p:sp>
      <p:sp>
        <p:nvSpPr>
          <p:cNvPr id="7" name="Text 4"/>
          <p:cNvSpPr/>
          <p:nvPr/>
        </p:nvSpPr>
        <p:spPr>
          <a:xfrm>
            <a:off x="1181100" y="3314638"/>
            <a:ext cx="45783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7FB2EA"/>
                </a:solidFill>
                <a:latin typeface="Space Grotesk" pitchFamily="34" charset="0"/>
                <a:ea typeface="Space Grotesk" pitchFamily="34" charset="-122"/>
                <a:cs typeface="Space Grotesk" pitchFamily="34" charset="-120"/>
              </a:rPr>
              <a:t>Full marks</a:t>
            </a:r>
            <a:endParaRPr lang="en-US" sz="3600" dirty="0"/>
          </a:p>
        </p:txBody>
      </p:sp>
      <p:sp>
        <p:nvSpPr>
          <p:cNvPr id="8" name="Text 5"/>
          <p:cNvSpPr/>
          <p:nvPr/>
        </p:nvSpPr>
        <p:spPr>
          <a:xfrm>
            <a:off x="1181100" y="3944541"/>
            <a:ext cx="457835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6"/>
                </a:solidFill>
                <a:latin typeface="IBM Plex Sans" pitchFamily="34" charset="0"/>
                <a:ea typeface="IBM Plex Sans" pitchFamily="34" charset="-122"/>
                <a:cs typeface="IBM Plex Sans" pitchFamily="34" charset="-120"/>
              </a:rPr>
              <a:t>For example AWS, Microsoft Azure, Google Cloud or DigitalOcean.</a:t>
            </a:r>
            <a:endParaRPr lang="en-US" sz="1400" dirty="0"/>
          </a:p>
        </p:txBody>
      </p:sp>
      <p:sp>
        <p:nvSpPr>
          <p:cNvPr id="9" name="Shape 6"/>
          <p:cNvSpPr/>
          <p:nvPr/>
        </p:nvSpPr>
        <p:spPr>
          <a:xfrm>
            <a:off x="6203950" y="1936688"/>
            <a:ext cx="5168900" cy="2867620"/>
          </a:xfrm>
          <a:prstGeom prst="roundRect">
            <a:avLst>
              <a:gd name="adj" fmla="val 5093"/>
            </a:avLst>
          </a:prstGeom>
          <a:solidFill>
            <a:srgbClr val="1A2A4A"/>
          </a:solidFill>
          <a:ln w="12700">
            <a:solidFill>
              <a:srgbClr val="3A4C70"/>
            </a:solidFill>
            <a:prstDash val="solid"/>
          </a:ln>
        </p:spPr>
        <p:txBody>
          <a:bodyPr/>
          <a:lstStyle/>
          <a:p>
            <a:endParaRPr lang="en-MY"/>
          </a:p>
        </p:txBody>
      </p:sp>
      <p:pic>
        <p:nvPicPr>
          <p:cNvPr id="10" name="Image 1" descr="Home"/>
          <p:cNvPicPr>
            <a:picLocks noChangeAspect="1"/>
          </p:cNvPicPr>
          <p:nvPr/>
        </p:nvPicPr>
        <p:blipFill>
          <a:blip r:embed="rId4"/>
          <a:srcRect/>
          <a:stretch/>
        </p:blipFill>
        <p:spPr>
          <a:xfrm>
            <a:off x="6565900" y="2298638"/>
            <a:ext cx="457200" cy="457200"/>
          </a:xfrm>
          <a:prstGeom prst="rect">
            <a:avLst/>
          </a:prstGeom>
        </p:spPr>
      </p:pic>
      <p:sp>
        <p:nvSpPr>
          <p:cNvPr id="11" name="Text 7"/>
          <p:cNvSpPr/>
          <p:nvPr/>
        </p:nvSpPr>
        <p:spPr>
          <a:xfrm>
            <a:off x="6565900" y="2882838"/>
            <a:ext cx="45783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A"/>
                </a:solidFill>
                <a:latin typeface="Space Grotesk" pitchFamily="34" charset="0"/>
                <a:ea typeface="Space Grotesk" pitchFamily="34" charset="-122"/>
                <a:cs typeface="Space Grotesk" pitchFamily="34" charset="-120"/>
              </a:rPr>
              <a:t>Local only</a:t>
            </a:r>
            <a:endParaRPr lang="en-US" sz="2000" dirty="0"/>
          </a:p>
        </p:txBody>
      </p:sp>
      <p:sp>
        <p:nvSpPr>
          <p:cNvPr id="12" name="Text 8"/>
          <p:cNvSpPr/>
          <p:nvPr/>
        </p:nvSpPr>
        <p:spPr>
          <a:xfrm>
            <a:off x="6565900" y="3314638"/>
            <a:ext cx="45783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2A16B"/>
                </a:solidFill>
                <a:latin typeface="Space Grotesk" pitchFamily="34" charset="0"/>
                <a:ea typeface="Space Grotesk" pitchFamily="34" charset="-122"/>
                <a:cs typeface="Space Grotesk" pitchFamily="34" charset="-120"/>
              </a:rPr>
              <a:t>−5 marks</a:t>
            </a:r>
            <a:endParaRPr lang="en-US" sz="3600" dirty="0"/>
          </a:p>
        </p:txBody>
      </p:sp>
      <p:sp>
        <p:nvSpPr>
          <p:cNvPr id="13" name="Text 9"/>
          <p:cNvSpPr/>
          <p:nvPr/>
        </p:nvSpPr>
        <p:spPr>
          <a:xfrm>
            <a:off x="6565900" y="3944541"/>
            <a:ext cx="457835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6"/>
                </a:solidFill>
                <a:latin typeface="IBM Plex Sans" pitchFamily="34" charset="0"/>
                <a:ea typeface="IBM Plex Sans" pitchFamily="34" charset="-122"/>
                <a:cs typeface="IBM Plex Sans" pitchFamily="34" charset="-120"/>
              </a:rPr>
              <a:t>XAMPP, Laragon or Docker on your own machine is accepted, with 5 marks deducted.</a:t>
            </a:r>
            <a:endParaRPr lang="en-US" sz="1400" dirty="0"/>
          </a:p>
        </p:txBody>
      </p:sp>
      <p:sp>
        <p:nvSpPr>
          <p:cNvPr id="14" name="Text 10"/>
          <p:cNvSpPr/>
          <p:nvPr/>
        </p:nvSpPr>
        <p:spPr>
          <a:xfrm>
            <a:off x="812800" y="516625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6FA"/>
                </a:solidFill>
                <a:latin typeface="IBM Plex Sans" pitchFamily="34" charset="0"/>
                <a:ea typeface="IBM Plex Sans" pitchFamily="34" charset="-122"/>
                <a:cs typeface="IBM Plex Sans" pitchFamily="34" charset="-120"/>
              </a:rPr>
              <a:t>Run the live demonstration from your cloud deployment.</a:t>
            </a:r>
            <a:endParaRPr lang="en-US" sz="1500" dirty="0"/>
          </a:p>
        </p:txBody>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8C8"/>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6"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8C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A8"/>
                </a:solidFill>
                <a:latin typeface="IBM Plex Sans" pitchFamily="34" charset="0"/>
                <a:ea typeface="IBM Plex Sans" pitchFamily="34" charset="-122"/>
                <a:cs typeface="IBM Plex Sans" pitchFamily="34" charset="-120"/>
              </a:rPr>
              <a:t>FINAL SUBMISSION</a:t>
            </a:r>
            <a:endParaRPr lang="en-US" sz="1200" dirty="0"/>
          </a:p>
        </p:txBody>
      </p:sp>
      <p:sp>
        <p:nvSpPr>
          <p:cNvPr id="3" name="Text 1"/>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Key dates and deliverables</a:t>
            </a:r>
            <a:endParaRPr lang="en-US" sz="3200" dirty="0"/>
          </a:p>
        </p:txBody>
      </p:sp>
      <p:sp>
        <p:nvSpPr>
          <p:cNvPr id="4" name="Shape 2"/>
          <p:cNvSpPr/>
          <p:nvPr/>
        </p:nvSpPr>
        <p:spPr>
          <a:xfrm>
            <a:off x="812800" y="1930338"/>
            <a:ext cx="2667000" cy="2181754"/>
          </a:xfrm>
          <a:prstGeom prst="roundRect">
            <a:avLst>
              <a:gd name="adj" fmla="val 5821"/>
            </a:avLst>
          </a:prstGeom>
          <a:solidFill>
            <a:srgbClr val="E3EDF9"/>
          </a:solidFill>
          <a:ln/>
        </p:spPr>
        <p:txBody>
          <a:bodyPr/>
          <a:lstStyle/>
          <a:p>
            <a:endParaRPr lang="en-MY"/>
          </a:p>
        </p:txBody>
      </p:sp>
      <p:sp>
        <p:nvSpPr>
          <p:cNvPr id="5" name="Text 3"/>
          <p:cNvSpPr/>
          <p:nvPr/>
        </p:nvSpPr>
        <p:spPr>
          <a:xfrm>
            <a:off x="1066800" y="2184338"/>
            <a:ext cx="222377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563A8"/>
                </a:solidFill>
                <a:latin typeface="Space Grotesk" pitchFamily="34" charset="0"/>
                <a:ea typeface="Space Grotesk" pitchFamily="34" charset="-122"/>
                <a:cs typeface="Space Grotesk" pitchFamily="34" charset="-120"/>
              </a:rPr>
              <a:t>Week 5</a:t>
            </a:r>
            <a:endParaRPr lang="en-US" sz="2800" dirty="0"/>
          </a:p>
        </p:txBody>
      </p:sp>
      <p:sp>
        <p:nvSpPr>
          <p:cNvPr id="6" name="Text 4"/>
          <p:cNvSpPr/>
          <p:nvPr/>
        </p:nvSpPr>
        <p:spPr>
          <a:xfrm>
            <a:off x="1066800" y="2783749"/>
            <a:ext cx="222377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Module allocation</a:t>
            </a:r>
            <a:endParaRPr lang="en-US" sz="1500" dirty="0"/>
          </a:p>
        </p:txBody>
      </p:sp>
      <p:sp>
        <p:nvSpPr>
          <p:cNvPr id="7" name="Text 5"/>
          <p:cNvSpPr/>
          <p:nvPr/>
        </p:nvSpPr>
        <p:spPr>
          <a:xfrm>
            <a:off x="1066800" y="3113949"/>
            <a:ext cx="222377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Submit who owns each module to the lecturer.</a:t>
            </a:r>
            <a:endParaRPr lang="en-US" sz="1300" dirty="0"/>
          </a:p>
        </p:txBody>
      </p:sp>
      <p:sp>
        <p:nvSpPr>
          <p:cNvPr id="8" name="Shape 6"/>
          <p:cNvSpPr/>
          <p:nvPr/>
        </p:nvSpPr>
        <p:spPr>
          <a:xfrm>
            <a:off x="3689350" y="1936688"/>
            <a:ext cx="7683500" cy="2169054"/>
          </a:xfrm>
          <a:prstGeom prst="roundRect">
            <a:avLst>
              <a:gd name="adj" fmla="val 5562"/>
            </a:avLst>
          </a:prstGeom>
          <a:solidFill>
            <a:srgbClr val="FFFFFF"/>
          </a:solidFill>
          <a:ln w="12700">
            <a:solidFill>
              <a:srgbClr val="D3DAE4"/>
            </a:solidFill>
            <a:prstDash val="solid"/>
          </a:ln>
        </p:spPr>
        <p:txBody>
          <a:bodyPr/>
          <a:lstStyle/>
          <a:p>
            <a:endParaRPr lang="en-MY"/>
          </a:p>
        </p:txBody>
      </p:sp>
      <p:sp>
        <p:nvSpPr>
          <p:cNvPr id="9" name="Text 7"/>
          <p:cNvSpPr/>
          <p:nvPr/>
        </p:nvSpPr>
        <p:spPr>
          <a:xfrm>
            <a:off x="3949700" y="2197038"/>
            <a:ext cx="7377684"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pace Grotesk" pitchFamily="34" charset="0"/>
                <a:ea typeface="Space Grotesk" pitchFamily="34" charset="-122"/>
                <a:cs typeface="Space Grotesk" pitchFamily="34" charset="-120"/>
              </a:rPr>
              <a:t>Week 14</a:t>
            </a:r>
            <a:endParaRPr lang="en-US" sz="2800" dirty="0"/>
          </a:p>
        </p:txBody>
      </p:sp>
      <p:sp>
        <p:nvSpPr>
          <p:cNvPr id="10" name="Text 8"/>
          <p:cNvSpPr/>
          <p:nvPr/>
        </p:nvSpPr>
        <p:spPr>
          <a:xfrm>
            <a:off x="3949700" y="2847249"/>
            <a:ext cx="35841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Live demonstration</a:t>
            </a:r>
            <a:endParaRPr lang="en-US" sz="1500" dirty="0"/>
          </a:p>
        </p:txBody>
      </p:sp>
      <p:sp>
        <p:nvSpPr>
          <p:cNvPr id="11" name="Text 9"/>
          <p:cNvSpPr/>
          <p:nvPr/>
        </p:nvSpPr>
        <p:spPr>
          <a:xfrm>
            <a:off x="3949700" y="3152049"/>
            <a:ext cx="358419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30 minutes per group, about 10 minutes per member. Each member shows the security requirements of their own module.</a:t>
            </a:r>
            <a:endParaRPr lang="en-US" sz="1300" dirty="0"/>
          </a:p>
        </p:txBody>
      </p:sp>
      <p:sp>
        <p:nvSpPr>
          <p:cNvPr id="12" name="Text 10"/>
          <p:cNvSpPr/>
          <p:nvPr/>
        </p:nvSpPr>
        <p:spPr>
          <a:xfrm>
            <a:off x="7632700" y="2847249"/>
            <a:ext cx="35841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Security test case document</a:t>
            </a:r>
            <a:endParaRPr lang="en-US" sz="1500" dirty="0"/>
          </a:p>
        </p:txBody>
      </p:sp>
      <p:sp>
        <p:nvSpPr>
          <p:cNvPr id="13" name="Text 11"/>
          <p:cNvSpPr/>
          <p:nvPr/>
        </p:nvSpPr>
        <p:spPr>
          <a:xfrm>
            <a:off x="7632700" y="3152049"/>
            <a:ext cx="358419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Organised by module: input, expected result and actual result of each test, plus the module owner's name.</a:t>
            </a:r>
            <a:endParaRPr lang="en-US" sz="13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STTCK3033 Secure Software Development · ParcelTrack Lite</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E7BD1"/>
          </a:solidFill>
          <a:ln/>
        </p:spPr>
        <p:txBody>
          <a:bodyPr/>
          <a:lstStyle/>
          <a:p>
            <a:endParaRPr lang="en-MY"/>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2EA"/>
                </a:solidFill>
                <a:latin typeface="IBM Plex Sans" pitchFamily="34" charset="0"/>
                <a:ea typeface="IBM Plex Sans" pitchFamily="34" charset="-122"/>
                <a:cs typeface="IBM Plex Sans" pitchFamily="34" charset="-120"/>
              </a:rPr>
              <a:t>NEXT STEPS</a:t>
            </a:r>
            <a:endParaRPr lang="en-US" sz="1200" dirty="0"/>
          </a:p>
        </p:txBody>
      </p:sp>
      <p:sp>
        <p:nvSpPr>
          <p:cNvPr id="4" name="Text 2"/>
          <p:cNvSpPr>
            <a:spLocks noGrp="1"/>
          </p:cNvSpPr>
          <p:nvPr>
            <p:ph type="title"/>
          </p:nvPr>
        </p:nvSpPr>
        <p:spPr>
          <a:xfrm>
            <a:off x="812800" y="11277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6FA"/>
                </a:solidFill>
                <a:latin typeface="Space Grotesk" pitchFamily="34" charset="0"/>
                <a:ea typeface="Space Grotesk" pitchFamily="34" charset="-122"/>
                <a:cs typeface="Space Grotesk" pitchFamily="34" charset="-120"/>
              </a:rPr>
              <a:t>Start this week</a:t>
            </a:r>
            <a:endParaRPr lang="en-US" sz="3200" dirty="0"/>
          </a:p>
        </p:txBody>
      </p:sp>
      <p:sp>
        <p:nvSpPr>
          <p:cNvPr id="5" name="Shape 3"/>
          <p:cNvSpPr/>
          <p:nvPr/>
        </p:nvSpPr>
        <p:spPr>
          <a:xfrm>
            <a:off x="812800" y="2715289"/>
            <a:ext cx="3386667" cy="0"/>
          </a:xfrm>
          <a:prstGeom prst="line">
            <a:avLst/>
          </a:prstGeom>
          <a:noFill/>
          <a:ln w="25400">
            <a:solidFill>
              <a:srgbClr val="2E7BD1"/>
            </a:solidFill>
            <a:prstDash val="solid"/>
          </a:ln>
        </p:spPr>
        <p:txBody>
          <a:bodyPr/>
          <a:lstStyle/>
          <a:p>
            <a:endParaRPr lang="en-MY"/>
          </a:p>
        </p:txBody>
      </p:sp>
      <p:sp>
        <p:nvSpPr>
          <p:cNvPr id="6" name="Text 4"/>
          <p:cNvSpPr/>
          <p:nvPr/>
        </p:nvSpPr>
        <p:spPr>
          <a:xfrm>
            <a:off x="812800" y="2931189"/>
            <a:ext cx="348826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7FB2EA"/>
                </a:solidFill>
                <a:latin typeface="Space Grotesk" pitchFamily="34" charset="0"/>
                <a:ea typeface="Space Grotesk" pitchFamily="34" charset="-122"/>
                <a:cs typeface="Space Grotesk" pitchFamily="34" charset="-120"/>
              </a:rPr>
              <a:t>1</a:t>
            </a:r>
            <a:endParaRPr lang="en-US" sz="2800" dirty="0"/>
          </a:p>
        </p:txBody>
      </p:sp>
      <p:sp>
        <p:nvSpPr>
          <p:cNvPr id="7" name="Text 5"/>
          <p:cNvSpPr/>
          <p:nvPr/>
        </p:nvSpPr>
        <p:spPr>
          <a:xfrm>
            <a:off x="812800" y="3530600"/>
            <a:ext cx="348826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6FA"/>
                </a:solidFill>
                <a:latin typeface="IBM Plex Sans" pitchFamily="34" charset="0"/>
                <a:ea typeface="IBM Plex Sans" pitchFamily="34" charset="-122"/>
                <a:cs typeface="IBM Plex Sans" pitchFamily="34" charset="-120"/>
              </a:rPr>
              <a:t>Form your group of three and agree on one technology stack.</a:t>
            </a:r>
            <a:endParaRPr lang="en-US" sz="1500" dirty="0"/>
          </a:p>
        </p:txBody>
      </p:sp>
      <p:sp>
        <p:nvSpPr>
          <p:cNvPr id="8" name="Shape 6"/>
          <p:cNvSpPr/>
          <p:nvPr/>
        </p:nvSpPr>
        <p:spPr>
          <a:xfrm>
            <a:off x="4402667" y="2715289"/>
            <a:ext cx="3386667" cy="0"/>
          </a:xfrm>
          <a:prstGeom prst="line">
            <a:avLst/>
          </a:prstGeom>
          <a:noFill/>
          <a:ln w="25400">
            <a:solidFill>
              <a:srgbClr val="2E7BD1"/>
            </a:solidFill>
            <a:prstDash val="solid"/>
          </a:ln>
        </p:spPr>
        <p:txBody>
          <a:bodyPr/>
          <a:lstStyle/>
          <a:p>
            <a:endParaRPr lang="en-MY"/>
          </a:p>
        </p:txBody>
      </p:sp>
      <p:sp>
        <p:nvSpPr>
          <p:cNvPr id="9" name="Text 7"/>
          <p:cNvSpPr/>
          <p:nvPr/>
        </p:nvSpPr>
        <p:spPr>
          <a:xfrm>
            <a:off x="4402667" y="2931189"/>
            <a:ext cx="348826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7FB2EA"/>
                </a:solidFill>
                <a:latin typeface="Space Grotesk" pitchFamily="34" charset="0"/>
                <a:ea typeface="Space Grotesk" pitchFamily="34" charset="-122"/>
                <a:cs typeface="Space Grotesk" pitchFamily="34" charset="-120"/>
              </a:rPr>
              <a:t>2</a:t>
            </a:r>
            <a:endParaRPr lang="en-US" sz="2800" dirty="0"/>
          </a:p>
        </p:txBody>
      </p:sp>
      <p:sp>
        <p:nvSpPr>
          <p:cNvPr id="10" name="Text 8"/>
          <p:cNvSpPr/>
          <p:nvPr/>
        </p:nvSpPr>
        <p:spPr>
          <a:xfrm>
            <a:off x="4402667" y="3530600"/>
            <a:ext cx="348826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6FA"/>
                </a:solidFill>
                <a:latin typeface="IBM Plex Sans" pitchFamily="34" charset="0"/>
                <a:ea typeface="IBM Plex Sans" pitchFamily="34" charset="-122"/>
                <a:cs typeface="IBM Plex Sans" pitchFamily="34" charset="-120"/>
              </a:rPr>
              <a:t>Assign one module per member and submit the allocation by Week 5.</a:t>
            </a:r>
            <a:endParaRPr lang="en-US" sz="1500" dirty="0"/>
          </a:p>
        </p:txBody>
      </p:sp>
      <p:sp>
        <p:nvSpPr>
          <p:cNvPr id="11" name="Shape 9"/>
          <p:cNvSpPr/>
          <p:nvPr/>
        </p:nvSpPr>
        <p:spPr>
          <a:xfrm>
            <a:off x="7992534" y="2715289"/>
            <a:ext cx="3386667" cy="0"/>
          </a:xfrm>
          <a:prstGeom prst="line">
            <a:avLst/>
          </a:prstGeom>
          <a:noFill/>
          <a:ln w="25400">
            <a:solidFill>
              <a:srgbClr val="2E7BD1"/>
            </a:solidFill>
            <a:prstDash val="solid"/>
          </a:ln>
        </p:spPr>
        <p:txBody>
          <a:bodyPr/>
          <a:lstStyle/>
          <a:p>
            <a:endParaRPr lang="en-MY"/>
          </a:p>
        </p:txBody>
      </p:sp>
      <p:sp>
        <p:nvSpPr>
          <p:cNvPr id="12" name="Text 10"/>
          <p:cNvSpPr/>
          <p:nvPr/>
        </p:nvSpPr>
        <p:spPr>
          <a:xfrm>
            <a:off x="7992534" y="2931189"/>
            <a:ext cx="348826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7FB2EA"/>
                </a:solidFill>
                <a:latin typeface="Space Grotesk" pitchFamily="34" charset="0"/>
                <a:ea typeface="Space Grotesk" pitchFamily="34" charset="-122"/>
                <a:cs typeface="Space Grotesk" pitchFamily="34" charset="-120"/>
              </a:rPr>
              <a:t>3</a:t>
            </a:r>
            <a:endParaRPr lang="en-US" sz="2800" dirty="0"/>
          </a:p>
        </p:txBody>
      </p:sp>
      <p:sp>
        <p:nvSpPr>
          <p:cNvPr id="13" name="Text 11"/>
          <p:cNvSpPr/>
          <p:nvPr/>
        </p:nvSpPr>
        <p:spPr>
          <a:xfrm>
            <a:off x="7992534" y="3530600"/>
            <a:ext cx="348826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6FA"/>
                </a:solidFill>
                <a:latin typeface="IBM Plex Sans" pitchFamily="34" charset="0"/>
                <a:ea typeface="IBM Plex Sans" pitchFamily="34" charset="-122"/>
                <a:cs typeface="IBM Plex Sans" pitchFamily="34" charset="-120"/>
              </a:rPr>
              <a:t>Plan cloud hosting early and map each threat to a control and a test.</a:t>
            </a:r>
            <a:endParaRPr lang="en-US" sz="1500" dirty="0"/>
          </a:p>
        </p:txBody>
      </p:sp>
      <p:sp>
        <p:nvSpPr>
          <p:cNvPr id="14" name="Text 12"/>
          <p:cNvSpPr/>
          <p:nvPr/>
        </p:nvSpPr>
        <p:spPr>
          <a:xfrm>
            <a:off x="812800" y="5191789"/>
            <a:ext cx="10883392" cy="878814"/>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4F6FA"/>
                </a:solidFill>
                <a:latin typeface="Space Grotesk" pitchFamily="34" charset="0"/>
                <a:ea typeface="Space Grotesk" pitchFamily="34" charset="-122"/>
                <a:cs typeface="Space Grotesk" pitchFamily="34" charset="-120"/>
              </a:rPr>
              <a:t>Questions?</a:t>
            </a:r>
            <a:endParaRPr lang="en-US" sz="4800" dirty="0"/>
          </a:p>
        </p:txBody>
      </p:sp>
    </p:spTree>
  </p:cSld>
  <p:clrMapOvr>
    <a:masterClrMapping/>
  </p:clrMapOvr>
</p:sld>
</file>

<file path=ppt/theme/theme1.xml><?xml version="1.0" encoding="utf-8"?>
<a:theme xmlns:a="http://schemas.openxmlformats.org/drawingml/2006/main" name="ParcelTrack Lite Project Briefing">
  <a:themeElements>
    <a:clrScheme name="ParcelTrack Lite Project Briefing">
      <a:dk1>
        <a:srgbClr val="14213D"/>
      </a:dk1>
      <a:lt1>
        <a:srgbClr val="F6F7F9"/>
      </a:lt1>
      <a:dk2>
        <a:srgbClr val="4D576C"/>
      </a:dk2>
      <a:lt2>
        <a:srgbClr val="DFE2E6"/>
      </a:lt2>
      <a:accent1>
        <a:srgbClr val="2563A8"/>
      </a:accent1>
      <a:accent2>
        <a:srgbClr val="7FB2EA"/>
      </a:accent2>
      <a:accent3>
        <a:srgbClr val="8FA8C8"/>
      </a:accent3>
      <a:accent4>
        <a:srgbClr val="BFD0E6"/>
      </a:accent4>
      <a:accent5>
        <a:srgbClr val="2E7BD1"/>
      </a:accent5>
      <a:accent6>
        <a:srgbClr val="1F3A66"/>
      </a:accent6>
      <a:hlink>
        <a:srgbClr val="0563C1"/>
      </a:hlink>
      <a:folHlink>
        <a:srgbClr val="954F72"/>
      </a:folHlink>
    </a:clrScheme>
    <a:fontScheme name="ParcelTrack Lite Project Briefing">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2384</Words>
  <Application>Microsoft Office PowerPoint</Application>
  <PresentationFormat>Widescreen</PresentationFormat>
  <Paragraphs>259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IBM Plex Sans</vt:lpstr>
      <vt:lpstr>Space Grotesk</vt:lpstr>
      <vt:lpstr>ParcelTrack Lite Project Briefing</vt:lpstr>
      <vt:lpstr>ParcelTrack Lite</vt:lpstr>
      <vt:lpstr>What this project assesses</vt:lpstr>
      <vt:lpstr>A courier that needs a tracking system</vt:lpstr>
      <vt:lpstr>Four types of user</vt:lpstr>
      <vt:lpstr>One tracking number, one status history</vt:lpstr>
      <vt:lpstr>Three modules, one per member</vt:lpstr>
      <vt:lpstr>How the work and marks are divided</vt:lpstr>
      <vt:lpstr>Who may do what</vt:lpstr>
      <vt:lpstr>What your controls must defend against</vt:lpstr>
      <vt:lpstr>Five policies your system must meet</vt:lpstr>
      <vt:lpstr>Tools and operating context</vt:lpstr>
      <vt:lpstr>Deploy to the cloud for full marks</vt:lpstr>
      <vt:lpstr>Key dates and deliverables</vt:lpstr>
      <vt:lpstr>Start this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ParcelTrack Lite Project Briefing</dc:title>
  <dc:subject/>
  <dc:creator/>
  <cp:lastModifiedBy>Dr. Munya Saleh Saeed Ba Matraf</cp:lastModifiedBy>
  <cp:revision>2</cp:revision>
  <dcterms:created xsi:type="dcterms:W3CDTF">2026-10-12T01:11:57Z</dcterms:created>
  <dcterms:modified xsi:type="dcterms:W3CDTF">2026-10-12T02:31:50Z</dcterms:modified>
</cp:coreProperties>
</file>