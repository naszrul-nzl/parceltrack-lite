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6ee474c7fd4385" /><Relationship Type="http://schemas.openxmlformats.org/officeDocument/2006/relationships/extended-properties" Target="/docProps/app.xml" Id="Rf8283d007862487e" /><Relationship Type="http://schemas.openxmlformats.org/officeDocument/2006/relationships/officeDocument" Target="/ppt/presentation.xml" Id="R1524bbd525ac4572" /></Relationships>
</file>

<file path=ppt/presentation.xml><?xml version="1.0" encoding="utf-8"?>
<p:presentation xmlns:p="http://schemas.openxmlformats.org/presentationml/2006/main">
  <p:sldMasterIdLst>
    <p:sldMasterId xmlns:r="http://schemas.openxmlformats.org/officeDocument/2006/relationships" id="2147483648" r:id="Rf6187921be3e4a9c"/>
  </p:sldMasterIdLst>
  <p:notesMasterIdLst>
    <p:notesMasterId xmlns:r="http://schemas.openxmlformats.org/officeDocument/2006/relationships" r:id="R32d373bf4929497e"/>
  </p:notesMasterIdLst>
  <p:sldIdLst>
    <p:sldId xmlns:r="http://schemas.openxmlformats.org/officeDocument/2006/relationships" id="256" r:id="R4cc4f69fe8de42d7"/>
    <p:sldId xmlns:r="http://schemas.openxmlformats.org/officeDocument/2006/relationships" id="257" r:id="R8f229d2026144466"/>
    <p:sldId xmlns:r="http://schemas.openxmlformats.org/officeDocument/2006/relationships" id="258" r:id="R57e11ccd6ef4471e"/>
    <p:sldId xmlns:r="http://schemas.openxmlformats.org/officeDocument/2006/relationships" id="259" r:id="R37d6db296ad64cec"/>
    <p:sldId xmlns:r="http://schemas.openxmlformats.org/officeDocument/2006/relationships" id="260" r:id="Re761af478fdf4ebf"/>
    <p:sldId xmlns:r="http://schemas.openxmlformats.org/officeDocument/2006/relationships" id="261" r:id="R9bbc917e5993441c"/>
    <p:sldId xmlns:r="http://schemas.openxmlformats.org/officeDocument/2006/relationships" id="262" r:id="R4733324d53994fa5"/>
    <p:sldId xmlns:r="http://schemas.openxmlformats.org/officeDocument/2006/relationships" id="263" r:id="R5a44c0f34b574d03"/>
    <p:sldId xmlns:r="http://schemas.openxmlformats.org/officeDocument/2006/relationships" id="264" r:id="R08054c292a664de0"/>
    <p:sldId xmlns:r="http://schemas.openxmlformats.org/officeDocument/2006/relationships" id="265" r:id="Rd5afef07b1a546e4"/>
    <p:sldId xmlns:r="http://schemas.openxmlformats.org/officeDocument/2006/relationships" id="266" r:id="R2212a24f3f774de7"/>
    <p:sldId xmlns:r="http://schemas.openxmlformats.org/officeDocument/2006/relationships" id="267" r:id="R8ecce7f7b97c4d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4ff0db97264968" /><Relationship Type="http://schemas.openxmlformats.org/officeDocument/2006/relationships/slideMaster" Target="/ppt/slideMasters/slideMaster1.xml" Id="Rf6187921be3e4a9c" /><Relationship Type="http://schemas.openxmlformats.org/officeDocument/2006/relationships/notesMaster" Target="/ppt/notesMasters/notesMaster1.xml" Id="R32d373bf4929497e" /><Relationship Type="http://schemas.openxmlformats.org/officeDocument/2006/relationships/presProps" Target="/ppt/presProps.xml" Id="R8194efbd0fd24037" /><Relationship Type="http://schemas.openxmlformats.org/officeDocument/2006/relationships/tableStyles" Target="/ppt/tableStyles.xml" Id="R5131d9c0777c4136" /><Relationship Type="http://schemas.openxmlformats.org/officeDocument/2006/relationships/slide" Target="/ppt/slides/slide1.xml" Id="R4cc4f69fe8de42d7" /><Relationship Type="http://schemas.openxmlformats.org/officeDocument/2006/relationships/slide" Target="/ppt/slides/slide2.xml" Id="R8f229d2026144466" /><Relationship Type="http://schemas.openxmlformats.org/officeDocument/2006/relationships/slide" Target="/ppt/slides/slide3.xml" Id="R57e11ccd6ef4471e" /><Relationship Type="http://schemas.openxmlformats.org/officeDocument/2006/relationships/slide" Target="/ppt/slides/slide4.xml" Id="R37d6db296ad64cec" /><Relationship Type="http://schemas.openxmlformats.org/officeDocument/2006/relationships/slide" Target="/ppt/slides/slide5.xml" Id="Re761af478fdf4ebf" /><Relationship Type="http://schemas.openxmlformats.org/officeDocument/2006/relationships/slide" Target="/ppt/slides/slide6.xml" Id="R9bbc917e5993441c" /><Relationship Type="http://schemas.openxmlformats.org/officeDocument/2006/relationships/slide" Target="/ppt/slides/slide7.xml" Id="R4733324d53994fa5" /><Relationship Type="http://schemas.openxmlformats.org/officeDocument/2006/relationships/slide" Target="/ppt/slides/slide8.xml" Id="R5a44c0f34b574d03" /><Relationship Type="http://schemas.openxmlformats.org/officeDocument/2006/relationships/slide" Target="/ppt/slides/slide9.xml" Id="R08054c292a664de0" /><Relationship Type="http://schemas.openxmlformats.org/officeDocument/2006/relationships/slide" Target="/ppt/slides/slide10.xml" Id="Rd5afef07b1a546e4" /><Relationship Type="http://schemas.openxmlformats.org/officeDocument/2006/relationships/slide" Target="/ppt/slides/slide11.xml" Id="R2212a24f3f774de7" /><Relationship Type="http://schemas.openxmlformats.org/officeDocument/2006/relationships/slide" Target="/ppt/slides/slide12.xml" Id="R8ecce7f7b97c4d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cbd0dba1b641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15e5a4b0ff4fd0" /><Relationship Type="http://schemas.openxmlformats.org/officeDocument/2006/relationships/notesMaster" Target="/ppt/notesMasters/notesMaster1.xml" Id="R8eb632f43d2b49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7edc80db4a4043" /><Relationship Type="http://schemas.openxmlformats.org/officeDocument/2006/relationships/notesMaster" Target="/ppt/notesMasters/notesMaster1.xml" Id="Reaa864206cfd46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81b3f2488543c6" /><Relationship Type="http://schemas.openxmlformats.org/officeDocument/2006/relationships/notesMaster" Target="/ppt/notesMasters/notesMaster1.xml" Id="R71ae961f6d8b40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5718c98e4d4ebc" /><Relationship Type="http://schemas.openxmlformats.org/officeDocument/2006/relationships/notesMaster" Target="/ppt/notesMasters/notesMaster1.xml" Id="Rdb6531d9212746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b32194d2a64ff2" /><Relationship Type="http://schemas.openxmlformats.org/officeDocument/2006/relationships/notesMaster" Target="/ppt/notesMasters/notesMaster1.xml" Id="Rb5f6c55fb54b4a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860a9de7fd461b" /><Relationship Type="http://schemas.openxmlformats.org/officeDocument/2006/relationships/notesMaster" Target="/ppt/notesMasters/notesMaster1.xml" Id="Rd8b74852361a41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5755558ef24692" /><Relationship Type="http://schemas.openxmlformats.org/officeDocument/2006/relationships/notesMaster" Target="/ppt/notesMasters/notesMaster1.xml" Id="Rff462f1996a44a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55c7493ef54e68" /><Relationship Type="http://schemas.openxmlformats.org/officeDocument/2006/relationships/notesMaster" Target="/ppt/notesMasters/notesMaster1.xml" Id="Rd9bad38232174f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1647aca2ad49ff" /><Relationship Type="http://schemas.openxmlformats.org/officeDocument/2006/relationships/notesMaster" Target="/ppt/notesMasters/notesMaster1.xml" Id="Rc313900a2de04c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6c216ca1904d27" /><Relationship Type="http://schemas.openxmlformats.org/officeDocument/2006/relationships/notesMaster" Target="/ppt/notesMasters/notesMaster1.xml" Id="R340ba379157042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8087200654abc" /><Relationship Type="http://schemas.openxmlformats.org/officeDocument/2006/relationships/notesMaster" Target="/ppt/notesMasters/notesMaster1.xml" Id="R3278e53f04094c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70822c8fab4e8e" /><Relationship Type="http://schemas.openxmlformats.org/officeDocument/2006/relationships/notesMaster" Target="/ppt/notesMasters/notesMaster1.xml" Id="R2accabd3dd9b4e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Naszrul | About 25 seconds.</a:t>
            </a:r>
          </a:p>
          <a:p xmlns:a="http://schemas.openxmlformats.org/drawingml/2006/main">
            <a:r>
              <a:t>We are presenting ParcelTrack Lite for the RapidExpress case study. Today is our Week 5 checkpoint, and final submission is in Week 14. We will show module ownership, the selected stack, our initial database design, an interface for each module, security requirements, and our next steps. The demonstration uses synthetic browser data. It does not yet implement the backend or cloud system.</a:t>
            </a:r>
          </a:p>
          <a:p xmlns:a="http://schemas.openxmlformats.org/drawingml/2006/main">
            <a:r>
              <a:t>Source: team checkpoint deliverables and timeline supplied in the project discussion; ParcelTrack_Lite_Case_Study.docx sections 4 and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Naszrul | About 35 seconds.</a:t>
            </a:r>
          </a:p>
          <a:p xmlns:a="http://schemas.openxmlformats.org/drawingml/2006/main">
            <a:r>
              <a:t>Naszrul owns login and user management, Zikri owns parcel registration and public tracking, and Syauqi owns delivery updates and the Admin dashboard. Each member also owns their module's tests and explanation. We share the data model and integration contracts so that our three contributions form one application. The separate lecturer allocation sheet needs our full names and matric numbers.</a:t>
            </a:r>
          </a:p>
          <a:p xmlns:a="http://schemas.openxmlformats.org/drawingml/2006/main">
            <a:r>
              <a:t>Source: team allocation confirmed 21 October; case study section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Naszrul | About 40 seconds.</a:t>
            </a:r>
          </a:p>
          <a:p xmlns:a="http://schemas.openxmlformats.org/drawingml/2006/main">
            <a:r>
              <a:t>We selected React for the interfaces, FastAPI for one shared Python backend, and PostgreSQL in Docker. SQLAlchemy and Alembic will support database access and migrations. AWS is our chosen hosting provider, with one EC2 instance running Docker Compose as the current proposal. The database will remain private, behind the application. These backend and cloud components are planned. The source brief names other framework and database combinations, so acceptance of FastAPI and PostgreSQL still needs confirmation.</a:t>
            </a:r>
          </a:p>
          <a:p xmlns:a="http://schemas.openxmlformats.org/drawingml/2006/main">
            <a:r>
              <a:t>Source: docs/shared/decision-register.md D-01 to D-03 and EXT-02/04; source briefing slide 11 and case study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Zikri | About 50 seconds.</a:t>
            </a:r>
          </a:p>
          <a:p xmlns:a="http://schemas.openxmlformats.org/drawingml/2006/main">
            <a:r>
              <a:t>Our initial ERD has five business entities: User, Parcel, ParcelStatusHistory, DeliveryProof and AuditEvent. Seller and Rider are roles in the same User table. A parcel has one Seller and may have one assigned Rider. Each parcel has one or more history records and zero or one proof record. AuditEvent records account and parcel actions, including failed login attempts where the actor may be unknown. Public visitors do not need accounts. Session and rate-limit tables are additional infrastructure, omitted from this conceptual diagram. This is a design, not a deployed schema.</a:t>
            </a:r>
          </a:p>
          <a:p xmlns:a="http://schemas.openxmlformats.org/drawingml/2006/main">
            <a:r>
              <a:t>Source: docs/initial-erd.md and docs/shared/system-contract.md.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Naszrul | About 30 seconds before the live demo.</a:t>
            </a:r>
          </a:p>
          <a:p xmlns:a="http://schemas.openxmlformats.org/drawingml/2006/main">
            <a:r>
              <a:t>This is the M1 interface. It uses a regular username and password form, generic failure messages and different landing pages for Sellers, Riders and Admins. Other screens show Seller registration, Rider management and password change. Test credentials are in the presenter guide, not on the product screens. Authentication is still simulated in the browser. Newly entered passwords exist only in page memory and reset on refresh. The final project will connect to FastAPI sessions, Argon2id hashing, CSRF protection and server authorization.</a:t>
            </a:r>
          </a:p>
          <a:p xmlns:a="http://schemas.openxmlformats.org/drawingml/2006/main">
            <a:r>
              <a:t>Source: checkpoint-demo frontend; case study section 4.1. Screenshot captured from the current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Zikri | About 30 seconds.</a:t>
            </a:r>
          </a:p>
          <a:p xmlns:a="http://schemas.openxmlformats.org/drawingml/2006/main">
            <a:r>
              <a:t>M2 provides a parcel registration form, a Seller parcel list, search, detail and public tracking. The prototype checks form values and generates a tracking token for each new parcel. Browser storage keeps the sample parcel when the page is refreshed, while the demo sign-in clears. This demonstrates the proposed interaction. The production implementation will replace browser state with PostgreSQL through authenticated APIs and enforce Seller ownership on the server and through RLS.</a:t>
            </a:r>
          </a:p>
          <a:p xmlns:a="http://schemas.openxmlformats.org/drawingml/2006/main">
            <a:r>
              <a:t>Source: checkpoint-demo; case study section 4.2; docs/modules/module-2-parcels. Screenshot captured from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Syauqi | About 35 seconds.</a:t>
            </a:r>
          </a:p>
          <a:p xmlns:a="http://schemas.openxmlformats.org/drawingml/2006/main">
            <a:r>
              <a:t>M3 shows Admin assignment and a dashboard with the five parcel statuses. The Rider interface starts delivery and records Delivered or Failed with a sample image. Assignment, status history and counts use the same browser data, so the interfaces demonstrate one coherent workflow. The final server must validate transitions, verify the assigned active Rider and store proof images privately. Admin assignment must not grant permission to perform Rider status updates.</a:t>
            </a:r>
          </a:p>
          <a:p xmlns:a="http://schemas.openxmlformats.org/drawingml/2006/main">
            <a:r>
              <a:t>Source: checkpoint-demo; case study sections 4.3 and 5. Screenshot captured from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Zikri | About 30 seconds.</a:t>
            </a:r>
          </a:p>
          <a:p xmlns:a="http://schemas.openxmlformats.org/drawingml/2006/main">
            <a:r>
              <a:t>A visitor can enter the tracking token without signing in. The displayed result includes status and timestamps, without recipient details, actor identity or proof links. In this frontend prototype the complete synthetic data set still exists in browser storage. Therefore the screenshot demonstrates the intended public view, not a proven privacy boundary. The final implementation will use a restricted server lookup and a field allowlist, with rate limiting and privacy tests.</a:t>
            </a:r>
          </a:p>
          <a:p xmlns:a="http://schemas.openxmlformats.org/drawingml/2006/main">
            <a:r>
              <a:t>Source: checkpoint-demo; case study section 4.2; docs/shared/system-contract.md A13. Screenshot captured from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Syauqi | About 50 seconds.</a:t>
            </a:r>
          </a:p>
          <a:p xmlns:a="http://schemas.openxmlformats.org/drawingml/2006/main">
            <a:r>
              <a:t>Our five policies guide implementation. P1 requires individual accounts, least privilege and same-day disablement of departing Riders. P2 requires passwords of at least ten characters and prompt compromise reporting. P3 limits recipient data to delivery and requires deletion or anonymization twelve months after delivery under the case-study policy. P4 requires safe secrets, synthetic test data and generic user errors. P5 requires login and status audit events without passwords or full addresses, and incident reporting within one hour. Controls include server role checks, RLS, hashing, CSRF, parameterized queries, restricted public responses and private image validation. These server controls are planned and have not been proven by the prototype.</a:t>
            </a:r>
          </a:p>
          <a:p xmlns:a="http://schemas.openxmlformats.org/drawingml/2006/main">
            <a:r>
              <a:t>Source: case study sections 5, 8 and 9; docs/security-tests.md.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Naszrul | About 45 seconds.</a:t>
            </a:r>
          </a:p>
          <a:p xmlns:a="http://schemas.openxmlformats.org/drawingml/2006/main">
            <a:r>
              <a:t>We have confirmed ownership, selected our stack, published the initial ERD and prepared coherent module plans with test cases and handoffs. We now have runnable React interfaces for the checkpoint and a repeatable sample parcel journey. The prototype builds and its six domain tests and nineteen browser smoke checkpoints pass. These are not results for the final backend suite. Current challenges are keeping shared models consistent, obtaining stack acceptance and AWS access, and replacing browser simulations with verified server behaviour. Branch protection has been prepared but its application remains unverified.</a:t>
            </a:r>
          </a:p>
          <a:p xmlns:a="http://schemas.openxmlformats.org/drawingml/2006/main">
            <a:r>
              <a:t>Source: repository planning commit 9dd50f9; local checkpoint prototype build and recorded frontend QA. Full planned test suite is not executed.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Syauqi | About 40 seconds.</a:t>
            </a:r>
          </a:p>
          <a:p xmlns:a="http://schemas.openxmlformats.org/drawingml/2006/main">
            <a:r>
              <a:t>This is our proposed schedule, not completed work. Week 6 establishes FastAPI, PostgreSQL roles, migrations and the test harness. Week 7 connects real authenticated module slices. Weeks 8 and 9 complete the functions and attempt an early AWS deployment. Weeks 10 through 12 focus on security regression, storage, recovery and the integrated cloud deployment. Week 13 prepares evidence and rehearsal, and Week 14 is final submission. We will confirm the Week 14 calendar date and update this schedule with actual progress. AI agents can assist implementation, while each member reviews, tests and understands their module.</a:t>
            </a:r>
          </a:p>
          <a:p xmlns:a="http://schemas.openxmlformats.org/drawingml/2006/main">
            <a:r>
              <a:t>Source: team timeline (Week 5 now, Week 14 final); docs/shared/phase-framework.md. Week mapping is a proposed checkpoint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presenters | Approximately five minutes.</a:t>
            </a:r>
          </a:p>
          <a:p xmlns:a="http://schemas.openxmlformats.org/drawingml/2006/main">
            <a:r>
              <a:t>Open the local browser. First explain verbally that it is a Week 5 frontend prototype with synthetic data. Before rehearsal, press Alt+Shift+R and confirm Restore data. Naszrul signs in with username seller.a and test password DemoOnly10!, optionally showing one failed attempt first. Zikri submits an empty parcel form, creates a fictional parcel and copies its token. Syauqi signs in as admin, assigns the parcel to Rider A, then signs in as rider.a, starts delivery and records Delivered using the included sample-proof.png. Finally sign out and let Zikri open Track a parcel and paste the token. Refer to demo-guide.md for credentials, recovery and optional examples. The screenshot slides provide a fallback if the live browser is unavailable.</a:t>
            </a:r>
          </a:p>
          <a:p xmlns:a="http://schemas.openxmlformats.org/drawingml/2006/main">
            <a:r>
              <a:t>Repository: https://github.com/Naszrul-NZL/ParcelTrack-Lite. Source: checkpoint prototype and demo-guide.md.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8eb7fb9f684f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82341de22743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b3ea4db1a248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ede1558afe45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304f2a00304b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842a65520f49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67D243-98CE-497E-A78E-CFCF382409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1452AF-D9D9-443C-B68E-13A658E340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ED0859-A4DA-4152-90C8-9A354462D7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78519B-138B-48FE-83F4-E9722660E1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001114-817E-4B4F-829E-573CFA7FB0E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DB9B3C-7B3C-47A0-AC41-29DE74711B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B7E3EE-4ADE-4C19-8B2F-6B17C688D0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B8D9B9-81B7-4445-9275-4FB17D91D2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D3518A-99A0-4FE9-A023-869CBB7669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B91576-6032-476F-99D6-46EBEE4B14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6bf52b494248ae" /><Relationship Type="http://schemas.openxmlformats.org/officeDocument/2006/relationships/slideLayout" Target="/ppt/slideLayouts/slideLayout1.xml" Id="Rb11e5d2d20e74421" /><Relationship Type="http://schemas.openxmlformats.org/officeDocument/2006/relationships/slideLayout" Target="/ppt/slideLayouts/slideLayout2.xml" Id="Rd809c98742d5463e" /><Relationship Type="http://schemas.openxmlformats.org/officeDocument/2006/relationships/slideLayout" Target="/ppt/slideLayouts/slideLayout3.xml" Id="R17e5ba2fcfad4414" /><Relationship Type="http://schemas.openxmlformats.org/officeDocument/2006/relationships/slideLayout" Target="/ppt/slideLayouts/slideLayout4.xml" Id="R560a9eef64f343bf" /><Relationship Type="http://schemas.openxmlformats.org/officeDocument/2006/relationships/slideLayout" Target="/ppt/slideLayouts/slideLayout5.xml" Id="R3106657f0b734f5a" /><Relationship Type="http://schemas.openxmlformats.org/officeDocument/2006/relationships/slideLayout" Target="/ppt/slideLayouts/slideLayout6.xml" Id="Rb40afd0b0ba04d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1e5d2d20e74421"/>
    <p:sldLayoutId xmlns:r="http://schemas.openxmlformats.org/officeDocument/2006/relationships" id="2147483650" r:id="Rd809c98742d5463e"/>
    <p:sldLayoutId xmlns:r="http://schemas.openxmlformats.org/officeDocument/2006/relationships" id="2147483651" r:id="R17e5ba2fcfad4414"/>
    <p:sldLayoutId xmlns:r="http://schemas.openxmlformats.org/officeDocument/2006/relationships" id="2147483652" r:id="R560a9eef64f343bf"/>
    <p:sldLayoutId xmlns:r="http://schemas.openxmlformats.org/officeDocument/2006/relationships" id="2147483653" r:id="R3106657f0b734f5a"/>
    <p:sldLayoutId xmlns:r="http://schemas.openxmlformats.org/officeDocument/2006/relationships" id="2147483654" r:id="Rb40afd0b0ba04d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0380f04de8432f" /><Relationship Type="http://schemas.openxmlformats.org/officeDocument/2006/relationships/notesSlide" Target="/ppt/notesSlides/notesSlide1.xml" Id="R78f56a20bcbb43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c7f94c0ec64e7b" /><Relationship Type="http://schemas.openxmlformats.org/officeDocument/2006/relationships/notesSlide" Target="/ppt/notesSlides/notesSlide2.xml" Id="R7163a8c32edd4d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ba0252fcf944a5" /><Relationship Type="http://schemas.openxmlformats.org/officeDocument/2006/relationships/notesSlide" Target="/ppt/notesSlides/notesSlide3.xml" Id="R4014736bfd6940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d4574249e642cf" /><Relationship Type="http://schemas.openxmlformats.org/officeDocument/2006/relationships/notesSlide" Target="/ppt/notesSlides/notesSlide4.xml" Id="R640f6df35d9c49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0201e5cb2a4a2e" /><Relationship Type="http://schemas.openxmlformats.org/officeDocument/2006/relationships/image" Target="/ppt/media/image.png" Id="Red9c9216a20e46c5" /><Relationship Type="http://schemas.openxmlformats.org/officeDocument/2006/relationships/notesSlide" Target="/ppt/notesSlides/notesSlide5.xml" Id="Rf48fc0e24a7a42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8f45c3024e4eb4" /><Relationship Type="http://schemas.openxmlformats.org/officeDocument/2006/relationships/image" Target="/ppt/media/image2.png" Id="R9c4dd30408d34a63" /><Relationship Type="http://schemas.openxmlformats.org/officeDocument/2006/relationships/notesSlide" Target="/ppt/notesSlides/notesSlide6.xml" Id="Rd1d3e73f9dc44b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e8f0d8f63340fe" /><Relationship Type="http://schemas.openxmlformats.org/officeDocument/2006/relationships/image" Target="/ppt/media/image3.png" Id="R0a8bdea5761a4f44" /><Relationship Type="http://schemas.openxmlformats.org/officeDocument/2006/relationships/image" Target="/ppt/media/image4.png" Id="R0407cdcfd876490e" /><Relationship Type="http://schemas.openxmlformats.org/officeDocument/2006/relationships/notesSlide" Target="/ppt/notesSlides/notesSlide7.xml" Id="R1a2485c2621242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14fc4a00e04e2c" /><Relationship Type="http://schemas.openxmlformats.org/officeDocument/2006/relationships/image" Target="/ppt/media/image5.png" Id="R5e7f52fae9ff4728" /><Relationship Type="http://schemas.openxmlformats.org/officeDocument/2006/relationships/notesSlide" Target="/ppt/notesSlides/notesSlide8.xml" Id="Re6014f786f4642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6da25a17c34d99" /><Relationship Type="http://schemas.openxmlformats.org/officeDocument/2006/relationships/notesSlide" Target="/ppt/notesSlides/notesSlide9.xml" Id="R34282c96d7d749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2ccda0cae847a5" /><Relationship Type="http://schemas.openxmlformats.org/officeDocument/2006/relationships/notesSlide" Target="/ppt/notesSlides/notesSlide10.xml" Id="Rc206df4a071e47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c6d94b2662470c" /><Relationship Type="http://schemas.openxmlformats.org/officeDocument/2006/relationships/notesSlide" Target="/ppt/notesSlides/notesSlide11.xml" Id="R404f1f03d82549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7589088d8b54860" /><Relationship Type="http://schemas.openxmlformats.org/officeDocument/2006/relationships/notesSlide" Target="/ppt/notesSlides/notesSlide12.xml" Id="Re2b937e1b043473a" /></Relationships>
</file>

<file path=ppt/slides/slide1.xml><?xml version="1.0" encoding="utf-8"?>
<p:sld xmlns:p="http://schemas.openxmlformats.org/presentationml/2006/main">
  <p:cSld>
    <p:bg>
      <p:bgPr>
        <a:solidFill xmlns:a="http://schemas.openxmlformats.org/drawingml/2006/main">
          <a:srgbClr val="152E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6B6E85-53B6-445A-9796-F47A3F79536E}"/>
              </a:ext>
            </a:extLst>
          </p:cNvPr>
          <p:cNvSpPr>
            <a:spLocks xmlns:a="http://schemas.openxmlformats.org/drawingml/2006/main" noGrp="1"/>
          </p:cNvSpPr>
          <p:nvPr/>
        </p:nvSpPr>
        <p:spPr>
          <a:xfrm xmlns:a="http://schemas.openxmlformats.org/drawingml/2006/main">
            <a:off x="714375" y="1285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550" b="1">
                <a:solidFill>
                  <a:srgbClr val="FFFFFF"/>
                </a:solidFill>
                <a:latin typeface="Segoe UI"/>
                <a:ea typeface="Segoe UI"/>
                <a:cs typeface="Segoe UI"/>
              </a:defRPr>
            </a:defPPr>
            <a:lvl1pPr>
              <a:defRPr sz="5550" b="1">
                <a:solidFill>
                  <a:srgbClr val="FFFFFF"/>
                </a:solidFill>
                <a:latin typeface="Segoe UI"/>
                <a:ea typeface="Segoe UI"/>
                <a:cs typeface="Segoe UI"/>
              </a:defRPr>
            </a:lvl1pPr>
            <a:lvl2pPr>
              <a:defRPr sz="5550" b="1">
                <a:solidFill>
                  <a:srgbClr val="FFFFFF"/>
                </a:solidFill>
                <a:latin typeface="Segoe UI"/>
                <a:ea typeface="Segoe UI"/>
                <a:cs typeface="Segoe UI"/>
              </a:defRPr>
            </a:lvl2pPr>
            <a:lvl3pPr>
              <a:defRPr sz="5550" b="1">
                <a:solidFill>
                  <a:srgbClr val="FFFFFF"/>
                </a:solidFill>
                <a:latin typeface="Segoe UI"/>
                <a:ea typeface="Segoe UI"/>
                <a:cs typeface="Segoe UI"/>
              </a:defRPr>
            </a:lvl3pPr>
            <a:lvl4pPr>
              <a:defRPr sz="5550" b="1">
                <a:solidFill>
                  <a:srgbClr val="FFFFFF"/>
                </a:solidFill>
                <a:latin typeface="Segoe UI"/>
                <a:ea typeface="Segoe UI"/>
                <a:cs typeface="Segoe UI"/>
              </a:defRPr>
            </a:lvl4pPr>
            <a:lvl5pPr>
              <a:defRPr sz="5550" b="1">
                <a:solidFill>
                  <a:srgbClr val="FFFFFF"/>
                </a:solidFill>
                <a:latin typeface="Segoe UI"/>
                <a:ea typeface="Segoe UI"/>
                <a:cs typeface="Segoe UI"/>
              </a:defRPr>
            </a:lvl5pPr>
            <a:lvl6pPr>
              <a:defRPr sz="5550" b="1">
                <a:solidFill>
                  <a:srgbClr val="FFFFFF"/>
                </a:solidFill>
                <a:latin typeface="Segoe UI"/>
                <a:ea typeface="Segoe UI"/>
                <a:cs typeface="Segoe UI"/>
              </a:defRPr>
            </a:lvl6pPr>
            <a:lvl7pPr>
              <a:defRPr sz="5550" b="1">
                <a:solidFill>
                  <a:srgbClr val="FFFFFF"/>
                </a:solidFill>
                <a:latin typeface="Segoe UI"/>
                <a:ea typeface="Segoe UI"/>
                <a:cs typeface="Segoe UI"/>
              </a:defRPr>
            </a:lvl7pPr>
            <a:lvl8pPr>
              <a:defRPr sz="5550" b="1">
                <a:solidFill>
                  <a:srgbClr val="FFFFFF"/>
                </a:solidFill>
                <a:latin typeface="Segoe UI"/>
                <a:ea typeface="Segoe UI"/>
                <a:cs typeface="Segoe UI"/>
              </a:defRPr>
            </a:lvl8pPr>
            <a:lvl9pPr>
              <a:defRPr sz="5550" b="1">
                <a:solidFill>
                  <a:srgbClr val="FFFFFF"/>
                </a:solidFill>
                <a:latin typeface="Segoe UI"/>
                <a:ea typeface="Segoe UI"/>
                <a:cs typeface="Segoe UI"/>
              </a:defRPr>
            </a:lvl9pPr>
          </a:lstStyle>
          <a:p xmlns:a="http://schemas.openxmlformats.org/drawingml/2006/main">
            <a:pPr>
              <a:defRPr sz="5550" b="1">
                <a:solidFill>
                  <a:srgbClr val="FFFFFF"/>
                </a:solidFill>
                <a:latin typeface="Segoe UI"/>
                <a:ea typeface="Segoe UI"/>
                <a:cs typeface="Segoe UI"/>
              </a:defRPr>
            </a:pPr>
            <a:r>
              <a:rPr sz="5550" b="1">
                <a:solidFill>
                  <a:srgbClr val="FFFFFF"/>
                </a:solidFill>
                <a:latin typeface="Segoe UI"/>
                <a:ea typeface="Segoe UI"/>
                <a:cs typeface="Segoe UI"/>
              </a:rPr>
              <a:t>ParcelTrack Lite</a:t>
            </a:r>
          </a:p>
        </p:txBody>
      </p:sp>
      <p:sp>
        <p:nvSpPr>
          <p:cNvPr id="2" name="">
            <a:extLst xmlns:a="http://schemas.openxmlformats.org/drawingml/2006/main">
              <a:ext uri="{FF2B5EF4-FFF2-40B4-BE49-F238E27FC236}">
                <a16:creationId xmlns:a16="http://schemas.microsoft.com/office/drawing/2014/main" id="{3D827959-DBFF-4A1E-9322-76F9EBD78B76}"/>
              </a:ext>
            </a:extLst>
          </p:cNvPr>
          <p:cNvSpPr>
            <a:spLocks xmlns:a="http://schemas.openxmlformats.org/drawingml/2006/main" noGrp="1"/>
          </p:cNvSpPr>
          <p:nvPr/>
        </p:nvSpPr>
        <p:spPr>
          <a:xfrm xmlns:a="http://schemas.openxmlformats.org/drawingml/2006/main">
            <a:off x="742950" y="252412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FFFFFF"/>
                </a:solidFill>
                <a:latin typeface="Segoe UI"/>
                <a:ea typeface="Segoe UI"/>
                <a:cs typeface="Segoe UI"/>
              </a:defRPr>
            </a:defPPr>
            <a:lvl1pPr>
              <a:defRPr sz="2700" b="0">
                <a:solidFill>
                  <a:srgbClr val="FFFFFF"/>
                </a:solidFill>
                <a:latin typeface="Segoe UI"/>
                <a:ea typeface="Segoe UI"/>
                <a:cs typeface="Segoe UI"/>
              </a:defRPr>
            </a:lvl1pPr>
            <a:lvl2pPr>
              <a:defRPr sz="2700" b="0">
                <a:solidFill>
                  <a:srgbClr val="FFFFFF"/>
                </a:solidFill>
                <a:latin typeface="Segoe UI"/>
                <a:ea typeface="Segoe UI"/>
                <a:cs typeface="Segoe UI"/>
              </a:defRPr>
            </a:lvl2pPr>
            <a:lvl3pPr>
              <a:defRPr sz="2700" b="0">
                <a:solidFill>
                  <a:srgbClr val="FFFFFF"/>
                </a:solidFill>
                <a:latin typeface="Segoe UI"/>
                <a:ea typeface="Segoe UI"/>
                <a:cs typeface="Segoe UI"/>
              </a:defRPr>
            </a:lvl3pPr>
            <a:lvl4pPr>
              <a:defRPr sz="2700" b="0">
                <a:solidFill>
                  <a:srgbClr val="FFFFFF"/>
                </a:solidFill>
                <a:latin typeface="Segoe UI"/>
                <a:ea typeface="Segoe UI"/>
                <a:cs typeface="Segoe UI"/>
              </a:defRPr>
            </a:lvl4pPr>
            <a:lvl5pPr>
              <a:defRPr sz="2700" b="0">
                <a:solidFill>
                  <a:srgbClr val="FFFFFF"/>
                </a:solidFill>
                <a:latin typeface="Segoe UI"/>
                <a:ea typeface="Segoe UI"/>
                <a:cs typeface="Segoe UI"/>
              </a:defRPr>
            </a:lvl5pPr>
            <a:lvl6pPr>
              <a:defRPr sz="2700" b="0">
                <a:solidFill>
                  <a:srgbClr val="FFFFFF"/>
                </a:solidFill>
                <a:latin typeface="Segoe UI"/>
                <a:ea typeface="Segoe UI"/>
                <a:cs typeface="Segoe UI"/>
              </a:defRPr>
            </a:lvl6pPr>
            <a:lvl7pPr>
              <a:defRPr sz="2700" b="0">
                <a:solidFill>
                  <a:srgbClr val="FFFFFF"/>
                </a:solidFill>
                <a:latin typeface="Segoe UI"/>
                <a:ea typeface="Segoe UI"/>
                <a:cs typeface="Segoe UI"/>
              </a:defRPr>
            </a:lvl7pPr>
            <a:lvl8pPr>
              <a:defRPr sz="2700" b="0">
                <a:solidFill>
                  <a:srgbClr val="FFFFFF"/>
                </a:solidFill>
                <a:latin typeface="Segoe UI"/>
                <a:ea typeface="Segoe UI"/>
                <a:cs typeface="Segoe UI"/>
              </a:defRPr>
            </a:lvl8pPr>
            <a:lvl9pPr>
              <a:defRPr sz="2700" b="0">
                <a:solidFill>
                  <a:srgbClr val="FFFFFF"/>
                </a:solidFill>
                <a:latin typeface="Segoe UI"/>
                <a:ea typeface="Segoe UI"/>
                <a:cs typeface="Segoe UI"/>
              </a:defRPr>
            </a:lvl9pPr>
          </a:lstStyle>
          <a:p xmlns:a="http://schemas.openxmlformats.org/drawingml/2006/main">
            <a:pPr>
              <a:defRPr sz="2700" b="0">
                <a:solidFill>
                  <a:srgbClr val="FFFFFF"/>
                </a:solidFill>
                <a:latin typeface="Segoe UI"/>
                <a:ea typeface="Segoe UI"/>
                <a:cs typeface="Segoe UI"/>
              </a:defRPr>
            </a:pPr>
            <a:r>
              <a:rPr sz="2700" b="0">
                <a:solidFill>
                  <a:srgbClr val="FFFFFF"/>
                </a:solidFill>
                <a:latin typeface="Segoe UI"/>
                <a:ea typeface="Segoe UI"/>
                <a:cs typeface="Segoe UI"/>
              </a:rPr>
              <a:t>Week 5 checkpoint</a:t>
            </a:r>
          </a:p>
        </p:txBody>
      </p:sp>
      <p:sp>
        <p:nvSpPr>
          <p:cNvPr id="3" name="">
            <a:extLst xmlns:a="http://schemas.openxmlformats.org/drawingml/2006/main">
              <a:ext uri="{FF2B5EF4-FFF2-40B4-BE49-F238E27FC236}">
                <a16:creationId xmlns:a16="http://schemas.microsoft.com/office/drawing/2014/main" id="{65F2D625-84B0-48D2-B89F-82B5B37BFFC7}"/>
              </a:ext>
            </a:extLst>
          </p:cNvPr>
          <p:cNvSpPr>
            <a:spLocks xmlns:a="http://schemas.openxmlformats.org/drawingml/2006/main" noGrp="1"/>
          </p:cNvSpPr>
          <p:nvPr/>
        </p:nvSpPr>
        <p:spPr>
          <a:xfrm xmlns:a="http://schemas.openxmlformats.org/drawingml/2006/main">
            <a:off x="762000" y="37433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D9E4ED"/>
                </a:solidFill>
                <a:latin typeface="Segoe UI"/>
                <a:ea typeface="Segoe UI"/>
                <a:cs typeface="Segoe UI"/>
              </a:defRPr>
            </a:defPPr>
            <a:lvl1pPr>
              <a:defRPr sz="2100" b="0">
                <a:solidFill>
                  <a:srgbClr val="D9E4ED"/>
                </a:solidFill>
                <a:latin typeface="Segoe UI"/>
                <a:ea typeface="Segoe UI"/>
                <a:cs typeface="Segoe UI"/>
              </a:defRPr>
            </a:lvl1pPr>
            <a:lvl2pPr>
              <a:defRPr sz="2100" b="0">
                <a:solidFill>
                  <a:srgbClr val="D9E4ED"/>
                </a:solidFill>
                <a:latin typeface="Segoe UI"/>
                <a:ea typeface="Segoe UI"/>
                <a:cs typeface="Segoe UI"/>
              </a:defRPr>
            </a:lvl2pPr>
            <a:lvl3pPr>
              <a:defRPr sz="2100" b="0">
                <a:solidFill>
                  <a:srgbClr val="D9E4ED"/>
                </a:solidFill>
                <a:latin typeface="Segoe UI"/>
                <a:ea typeface="Segoe UI"/>
                <a:cs typeface="Segoe UI"/>
              </a:defRPr>
            </a:lvl3pPr>
            <a:lvl4pPr>
              <a:defRPr sz="2100" b="0">
                <a:solidFill>
                  <a:srgbClr val="D9E4ED"/>
                </a:solidFill>
                <a:latin typeface="Segoe UI"/>
                <a:ea typeface="Segoe UI"/>
                <a:cs typeface="Segoe UI"/>
              </a:defRPr>
            </a:lvl4pPr>
            <a:lvl5pPr>
              <a:defRPr sz="2100" b="0">
                <a:solidFill>
                  <a:srgbClr val="D9E4ED"/>
                </a:solidFill>
                <a:latin typeface="Segoe UI"/>
                <a:ea typeface="Segoe UI"/>
                <a:cs typeface="Segoe UI"/>
              </a:defRPr>
            </a:lvl5pPr>
            <a:lvl6pPr>
              <a:defRPr sz="2100" b="0">
                <a:solidFill>
                  <a:srgbClr val="D9E4ED"/>
                </a:solidFill>
                <a:latin typeface="Segoe UI"/>
                <a:ea typeface="Segoe UI"/>
                <a:cs typeface="Segoe UI"/>
              </a:defRPr>
            </a:lvl6pPr>
            <a:lvl7pPr>
              <a:defRPr sz="2100" b="0">
                <a:solidFill>
                  <a:srgbClr val="D9E4ED"/>
                </a:solidFill>
                <a:latin typeface="Segoe UI"/>
                <a:ea typeface="Segoe UI"/>
                <a:cs typeface="Segoe UI"/>
              </a:defRPr>
            </a:lvl7pPr>
            <a:lvl8pPr>
              <a:defRPr sz="2100" b="0">
                <a:solidFill>
                  <a:srgbClr val="D9E4ED"/>
                </a:solidFill>
                <a:latin typeface="Segoe UI"/>
                <a:ea typeface="Segoe UI"/>
                <a:cs typeface="Segoe UI"/>
              </a:defRPr>
            </a:lvl8pPr>
            <a:lvl9pPr>
              <a:defRPr sz="2100" b="0">
                <a:solidFill>
                  <a:srgbClr val="D9E4ED"/>
                </a:solidFill>
                <a:latin typeface="Segoe UI"/>
                <a:ea typeface="Segoe UI"/>
                <a:cs typeface="Segoe UI"/>
              </a:defRPr>
            </a:lvl9pPr>
          </a:lstStyle>
          <a:p xmlns:a="http://schemas.openxmlformats.org/drawingml/2006/main">
            <a:pPr>
              <a:defRPr sz="2100" b="0">
                <a:solidFill>
                  <a:srgbClr val="D9E4ED"/>
                </a:solidFill>
                <a:latin typeface="Segoe UI"/>
                <a:ea typeface="Segoe UI"/>
                <a:cs typeface="Segoe UI"/>
              </a:defRPr>
            </a:pPr>
            <a:r>
              <a:rPr sz="2100" b="0">
                <a:solidFill>
                  <a:srgbClr val="D9E4ED"/>
                </a:solidFill>
                <a:latin typeface="Segoe UI"/>
                <a:ea typeface="Segoe UI"/>
                <a:cs typeface="Segoe UI"/>
              </a:rPr>
              <a:t>Naszrul / Zikri / Syauqi</a:t>
            </a:r>
          </a:p>
        </p:txBody>
      </p:sp>
      <p:sp>
        <p:nvSpPr>
          <p:cNvPr id="4" name="">
            <a:extLst xmlns:a="http://schemas.openxmlformats.org/drawingml/2006/main">
              <a:ext uri="{FF2B5EF4-FFF2-40B4-BE49-F238E27FC236}">
                <a16:creationId xmlns:a16="http://schemas.microsoft.com/office/drawing/2014/main" id="{42E678BD-BE42-4B7C-88E4-C82F93D0E5C8}"/>
              </a:ext>
            </a:extLst>
          </p:cNvPr>
          <p:cNvSpPr>
            <a:spLocks xmlns:a="http://schemas.openxmlformats.org/drawingml/2006/main" noGrp="1"/>
          </p:cNvSpPr>
          <p:nvPr/>
        </p:nvSpPr>
        <p:spPr>
          <a:xfrm xmlns:a="http://schemas.openxmlformats.org/drawingml/2006/main">
            <a:off x="762000" y="433387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D9E4ED"/>
                </a:solidFill>
                <a:latin typeface="Segoe UI"/>
                <a:ea typeface="Segoe UI"/>
                <a:cs typeface="Segoe UI"/>
              </a:defRPr>
            </a:defPPr>
            <a:lvl1pPr>
              <a:defRPr sz="1950" b="0">
                <a:solidFill>
                  <a:srgbClr val="D9E4ED"/>
                </a:solidFill>
                <a:latin typeface="Segoe UI"/>
                <a:ea typeface="Segoe UI"/>
                <a:cs typeface="Segoe UI"/>
              </a:defRPr>
            </a:lvl1pPr>
            <a:lvl2pPr>
              <a:defRPr sz="1950" b="0">
                <a:solidFill>
                  <a:srgbClr val="D9E4ED"/>
                </a:solidFill>
                <a:latin typeface="Segoe UI"/>
                <a:ea typeface="Segoe UI"/>
                <a:cs typeface="Segoe UI"/>
              </a:defRPr>
            </a:lvl2pPr>
            <a:lvl3pPr>
              <a:defRPr sz="1950" b="0">
                <a:solidFill>
                  <a:srgbClr val="D9E4ED"/>
                </a:solidFill>
                <a:latin typeface="Segoe UI"/>
                <a:ea typeface="Segoe UI"/>
                <a:cs typeface="Segoe UI"/>
              </a:defRPr>
            </a:lvl3pPr>
            <a:lvl4pPr>
              <a:defRPr sz="1950" b="0">
                <a:solidFill>
                  <a:srgbClr val="D9E4ED"/>
                </a:solidFill>
                <a:latin typeface="Segoe UI"/>
                <a:ea typeface="Segoe UI"/>
                <a:cs typeface="Segoe UI"/>
              </a:defRPr>
            </a:lvl4pPr>
            <a:lvl5pPr>
              <a:defRPr sz="1950" b="0">
                <a:solidFill>
                  <a:srgbClr val="D9E4ED"/>
                </a:solidFill>
                <a:latin typeface="Segoe UI"/>
                <a:ea typeface="Segoe UI"/>
                <a:cs typeface="Segoe UI"/>
              </a:defRPr>
            </a:lvl5pPr>
            <a:lvl6pPr>
              <a:defRPr sz="1950" b="0">
                <a:solidFill>
                  <a:srgbClr val="D9E4ED"/>
                </a:solidFill>
                <a:latin typeface="Segoe UI"/>
                <a:ea typeface="Segoe UI"/>
                <a:cs typeface="Segoe UI"/>
              </a:defRPr>
            </a:lvl6pPr>
            <a:lvl7pPr>
              <a:defRPr sz="1950" b="0">
                <a:solidFill>
                  <a:srgbClr val="D9E4ED"/>
                </a:solidFill>
                <a:latin typeface="Segoe UI"/>
                <a:ea typeface="Segoe UI"/>
                <a:cs typeface="Segoe UI"/>
              </a:defRPr>
            </a:lvl7pPr>
            <a:lvl8pPr>
              <a:defRPr sz="1950" b="0">
                <a:solidFill>
                  <a:srgbClr val="D9E4ED"/>
                </a:solidFill>
                <a:latin typeface="Segoe UI"/>
                <a:ea typeface="Segoe UI"/>
                <a:cs typeface="Segoe UI"/>
              </a:defRPr>
            </a:lvl8pPr>
            <a:lvl9pPr>
              <a:defRPr sz="1950" b="0">
                <a:solidFill>
                  <a:srgbClr val="D9E4ED"/>
                </a:solidFill>
                <a:latin typeface="Segoe UI"/>
                <a:ea typeface="Segoe UI"/>
                <a:cs typeface="Segoe UI"/>
              </a:defRPr>
            </a:lvl9pPr>
          </a:lstStyle>
          <a:p xmlns:a="http://schemas.openxmlformats.org/drawingml/2006/main">
            <a:pPr>
              <a:defRPr sz="1950" b="0">
                <a:solidFill>
                  <a:srgbClr val="D9E4ED"/>
                </a:solidFill>
                <a:latin typeface="Segoe UI"/>
                <a:ea typeface="Segoe UI"/>
                <a:cs typeface="Segoe UI"/>
              </a:defRPr>
            </a:pPr>
            <a:r>
              <a:rPr sz="1950" b="0">
                <a:solidFill>
                  <a:srgbClr val="D9E4ED"/>
                </a:solidFill>
                <a:latin typeface="Segoe UI"/>
                <a:ea typeface="Segoe UI"/>
                <a:cs typeface="Segoe UI"/>
              </a:rPr>
              <a:t>22 October 2026</a:t>
            </a:r>
          </a:p>
        </p:txBody>
      </p:sp>
      <p:sp>
        <p:nvSpPr>
          <p:cNvPr id="5" name="">
            <a:extLst xmlns:a="http://schemas.openxmlformats.org/drawingml/2006/main">
              <a:ext uri="{FF2B5EF4-FFF2-40B4-BE49-F238E27FC236}">
                <a16:creationId xmlns:a16="http://schemas.microsoft.com/office/drawing/2014/main" id="{7CC9CADB-B8BA-431E-B2F4-2B5BF0D6D294}"/>
              </a:ext>
            </a:extLst>
          </p:cNvPr>
          <p:cNvSpPr>
            <a:spLocks xmlns:a="http://schemas.openxmlformats.org/drawingml/2006/main" noGrp="1"/>
          </p:cNvSpPr>
          <p:nvPr/>
        </p:nvSpPr>
        <p:spPr>
          <a:xfrm xmlns:a="http://schemas.openxmlformats.org/drawingml/2006/main">
            <a:off x="762000" y="5715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Frontend prototype and implementation plan</a:t>
            </a:r>
          </a:p>
        </p:txBody>
      </p:sp>
    </p:spTree>
    <p:extLst>
      <p:ext uri="{BB962C8B-B14F-4D97-AF65-F5344CB8AC3E}">
        <p14:creationId xmlns:p14="http://schemas.microsoft.com/office/powerpoint/2010/main" val="8363251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C54C96-1CAF-42D1-9E9A-CEA0108F562C}"/>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Module allocation</a:t>
            </a:r>
          </a:p>
        </p:txBody>
      </p:sp>
      <p:sp>
        <p:nvSpPr>
          <p:cNvPr id="2" name="">
            <a:extLst xmlns:a="http://schemas.openxmlformats.org/drawingml/2006/main">
              <a:ext uri="{FF2B5EF4-FFF2-40B4-BE49-F238E27FC236}">
                <a16:creationId xmlns:a16="http://schemas.microsoft.com/office/drawing/2014/main" id="{A5FBEB02-CF6E-4B92-8EAE-7EFF974117EF}"/>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02</a:t>
            </a:r>
          </a:p>
        </p:txBody>
      </p:sp>
      <p:graphicFrame>
        <p:nvGraphicFramePr>
          <p:cNvPr id="3" name="">
            <a:extLst xmlns:a="http://schemas.openxmlformats.org/drawingml/2006/main">
              <a:ext uri="{FF2B5EF4-FFF2-40B4-BE49-F238E27FC236}">
                <a16:creationId xmlns:a16="http://schemas.microsoft.com/office/drawing/2014/main" id="{0E1BE273-1A5B-4559-A8A9-E80708D484D9}"/>
              </a:ext>
            </a:extLst>
          </p:cNvPr>
          <p:cNvGraphicFramePr/>
          <p:nvPr/>
        </p:nvGraphicFramePr>
        <p:xfrm>
          <a:off xmlns:a="http://schemas.openxmlformats.org/drawingml/2006/main" x="666750" y="1762125"/>
          <a:ext xmlns:a="http://schemas.openxmlformats.org/drawingml/2006/main" cx="10858500" cy="3238500"/>
        </p:xfrm>
        <a:graphic xmlns:a="http://schemas.openxmlformats.org/drawingml/2006/main">
          <a:graphicData uri="http://schemas.openxmlformats.org/drawingml/2006/table">
            <a:tbl>
              <a:tblPr/>
              <a:tblGrid>
                <a:gridCol w="1428750"/>
                <a:gridCol w="1428750"/>
                <a:gridCol w="8001000"/>
              </a:tblGrid>
              <a:tr h="809625">
                <a:tc>
                  <a:txBody>
                    <a:bodyPr/>
                    <a:lstStyle/>
                    <a:p>
                      <a:r>
                        <a:rPr sz="1725" b="1">
                          <a:solidFill>
                            <a:srgbClr val="FFFFFF"/>
                          </a:solidFill>
                          <a:latin typeface="Segoe UI"/>
                          <a:ea typeface="Segoe UI"/>
                          <a:cs typeface="Segoe UI"/>
                        </a:rPr>
                        <a:t>Owner</a:t>
                      </a:r>
                    </a:p>
                  </a:txBody>
                  <a:tcPr marL="133350" marR="133350" marT="133350" marB="133350">
                    <a:lnL w="9525">
                      <a:solidFill>
                        <a:srgbClr val="C7D2DD"/>
                      </a:solidFill>
                      <a:prstDash val="solid"/>
                    </a:lnL>
                    <a:lnR w="9525">
                      <a:solidFill>
                        <a:srgbClr val="C7D2DD"/>
                      </a:solidFill>
                      <a:prstDash val="solid"/>
                    </a:lnR>
                    <a:lnT w="9525">
                      <a:solidFill>
                        <a:srgbClr val="C7D2DD"/>
                      </a:solidFill>
                      <a:prstDash val="solid"/>
                    </a:lnT>
                    <a:lnB w="9525">
                      <a:solidFill>
                        <a:srgbClr val="C7D2DD"/>
                      </a:solidFill>
                      <a:prstDash val="solid"/>
                    </a:lnB>
                    <a:solidFill>
                      <a:srgbClr val="152E48"/>
                    </a:solidFill>
                  </a:tcPr>
                </a:tc>
                <a:tc>
                  <a:txBody>
                    <a:bodyPr/>
                    <a:lstStyle/>
                    <a:p>
                      <a:r>
                        <a:rPr sz="1725" b="1">
                          <a:solidFill>
                            <a:srgbClr val="FFFFFF"/>
                          </a:solidFill>
                          <a:latin typeface="Segoe UI"/>
                          <a:ea typeface="Segoe UI"/>
                          <a:cs typeface="Segoe UI"/>
                        </a:rPr>
                        <a:t>Module</a:t>
                      </a:r>
                    </a:p>
                  </a:txBody>
                  <a:tcPr marL="133350" marR="133350" marT="133350" marB="133350">
                    <a:lnR w="9525">
                      <a:solidFill>
                        <a:srgbClr val="C7D2DD"/>
                      </a:solidFill>
                      <a:prstDash val="solid"/>
                    </a:lnR>
                    <a:lnT w="9525">
                      <a:solidFill>
                        <a:srgbClr val="C7D2DD"/>
                      </a:solidFill>
                      <a:prstDash val="solid"/>
                    </a:lnT>
                    <a:lnB w="9525">
                      <a:solidFill>
                        <a:srgbClr val="C7D2DD"/>
                      </a:solidFill>
                      <a:prstDash val="solid"/>
                    </a:lnB>
                    <a:solidFill>
                      <a:srgbClr val="152E48"/>
                    </a:solidFill>
                  </a:tcPr>
                </a:tc>
                <a:tc>
                  <a:txBody>
                    <a:bodyPr/>
                    <a:lstStyle/>
                    <a:p>
                      <a:r>
                        <a:rPr sz="1725" b="1">
                          <a:solidFill>
                            <a:srgbClr val="FFFFFF"/>
                          </a:solidFill>
                          <a:latin typeface="Segoe UI"/>
                          <a:ea typeface="Segoe UI"/>
                          <a:cs typeface="Segoe UI"/>
                        </a:rPr>
                        <a:t>Main responsibility</a:t>
                      </a:r>
                    </a:p>
                  </a:txBody>
                  <a:tcPr marL="133350" marR="133350" marT="133350" marB="133350">
                    <a:lnR w="9525">
                      <a:solidFill>
                        <a:srgbClr val="C7D2DD"/>
                      </a:solidFill>
                      <a:prstDash val="solid"/>
                    </a:lnR>
                    <a:lnT w="9525">
                      <a:solidFill>
                        <a:srgbClr val="C7D2DD"/>
                      </a:solidFill>
                      <a:prstDash val="solid"/>
                    </a:lnT>
                    <a:lnB w="9525">
                      <a:solidFill>
                        <a:srgbClr val="C7D2DD"/>
                      </a:solidFill>
                      <a:prstDash val="solid"/>
                    </a:lnB>
                    <a:solidFill>
                      <a:srgbClr val="152E48"/>
                    </a:solidFill>
                  </a:tcPr>
                </a:tc>
              </a:tr>
              <a:tr h="809625">
                <a:tc>
                  <a:txBody>
                    <a:bodyPr/>
                    <a:lstStyle/>
                    <a:p>
                      <a:r>
                        <a:rPr sz="1725">
                          <a:solidFill>
                            <a:srgbClr val="172B3A"/>
                          </a:solidFill>
                          <a:latin typeface="Segoe UI"/>
                          <a:ea typeface="Segoe UI"/>
                          <a:cs typeface="Segoe UI"/>
                        </a:rPr>
                        <a:t>Naszrul</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M1</a:t>
                      </a:r>
                    </a:p>
                  </a:txBody>
                  <a:tcPr marL="133350" marR="133350" marT="133350" marB="133350">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Login and User Management</a:t>
                      </a:r>
                    </a:p>
                  </a:txBody>
                  <a:tcPr marL="133350" marR="133350" marT="133350" marB="133350">
                    <a:lnR w="9525">
                      <a:solidFill>
                        <a:srgbClr val="C7D2DD"/>
                      </a:solidFill>
                      <a:prstDash val="solid"/>
                    </a:lnR>
                    <a:lnB w="9525">
                      <a:solidFill>
                        <a:srgbClr val="C7D2DD"/>
                      </a:solidFill>
                      <a:prstDash val="solid"/>
                    </a:lnB>
                    <a:solidFill>
                      <a:srgbClr val="FFFFFF"/>
                    </a:solidFill>
                  </a:tcPr>
                </a:tc>
              </a:tr>
              <a:tr h="809625">
                <a:tc>
                  <a:txBody>
                    <a:bodyPr/>
                    <a:lstStyle/>
                    <a:p>
                      <a:r>
                        <a:rPr sz="1725">
                          <a:solidFill>
                            <a:srgbClr val="172B3A"/>
                          </a:solidFill>
                          <a:latin typeface="Segoe UI"/>
                          <a:ea typeface="Segoe UI"/>
                          <a:cs typeface="Segoe UI"/>
                        </a:rPr>
                        <a:t>Zikri</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M2</a:t>
                      </a:r>
                    </a:p>
                  </a:txBody>
                  <a:tcPr marL="133350" marR="133350" marT="133350" marB="133350">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Parcel Registration and Public Tracking</a:t>
                      </a:r>
                    </a:p>
                  </a:txBody>
                  <a:tcPr marL="133350" marR="133350" marT="133350" marB="133350">
                    <a:lnR w="9525">
                      <a:solidFill>
                        <a:srgbClr val="C7D2DD"/>
                      </a:solidFill>
                      <a:prstDash val="solid"/>
                    </a:lnR>
                    <a:lnB w="9525">
                      <a:solidFill>
                        <a:srgbClr val="C7D2DD"/>
                      </a:solidFill>
                      <a:prstDash val="solid"/>
                    </a:lnB>
                    <a:solidFill>
                      <a:srgbClr val="FFFFFF"/>
                    </a:solidFill>
                  </a:tcPr>
                </a:tc>
              </a:tr>
              <a:tr h="809625">
                <a:tc>
                  <a:txBody>
                    <a:bodyPr/>
                    <a:lstStyle/>
                    <a:p>
                      <a:r>
                        <a:rPr sz="1725">
                          <a:solidFill>
                            <a:srgbClr val="172B3A"/>
                          </a:solidFill>
                          <a:latin typeface="Segoe UI"/>
                          <a:ea typeface="Segoe UI"/>
                          <a:cs typeface="Segoe UI"/>
                        </a:rPr>
                        <a:t>Syauqi</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M3</a:t>
                      </a:r>
                    </a:p>
                  </a:txBody>
                  <a:tcPr marL="133350" marR="133350" marT="133350" marB="133350">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Delivery Update and Admin Dashboard</a:t>
                      </a:r>
                    </a:p>
                  </a:txBody>
                  <a:tcPr marL="133350" marR="133350" marT="133350" marB="133350">
                    <a:lnR w="9525">
                      <a:solidFill>
                        <a:srgbClr val="C7D2DD"/>
                      </a:solidFill>
                      <a:prstDash val="solid"/>
                    </a:lnR>
                    <a:lnB w="9525">
                      <a:solidFill>
                        <a:srgbClr val="C7D2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1AE4F8B-ED4E-45FE-B7B7-676042A75045}"/>
              </a:ext>
            </a:extLst>
          </p:cNvPr>
          <p:cNvSpPr>
            <a:spLocks xmlns:a="http://schemas.openxmlformats.org/drawingml/2006/main" noGrp="1"/>
          </p:cNvSpPr>
          <p:nvPr/>
        </p:nvSpPr>
        <p:spPr>
          <a:xfrm xmlns:a="http://schemas.openxmlformats.org/drawingml/2006/main">
            <a:off x="714375" y="5429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171"/>
                </a:solidFill>
                <a:latin typeface="Segoe UI"/>
                <a:ea typeface="Segoe UI"/>
                <a:cs typeface="Segoe UI"/>
              </a:defRPr>
            </a:defPPr>
            <a:lvl1pPr>
              <a:defRPr sz="2025" b="0">
                <a:solidFill>
                  <a:srgbClr val="526171"/>
                </a:solidFill>
                <a:latin typeface="Segoe UI"/>
                <a:ea typeface="Segoe UI"/>
                <a:cs typeface="Segoe UI"/>
              </a:defRPr>
            </a:lvl1pPr>
            <a:lvl2pPr>
              <a:defRPr sz="2025" b="0">
                <a:solidFill>
                  <a:srgbClr val="526171"/>
                </a:solidFill>
                <a:latin typeface="Segoe UI"/>
                <a:ea typeface="Segoe UI"/>
                <a:cs typeface="Segoe UI"/>
              </a:defRPr>
            </a:lvl2pPr>
            <a:lvl3pPr>
              <a:defRPr sz="2025" b="0">
                <a:solidFill>
                  <a:srgbClr val="526171"/>
                </a:solidFill>
                <a:latin typeface="Segoe UI"/>
                <a:ea typeface="Segoe UI"/>
                <a:cs typeface="Segoe UI"/>
              </a:defRPr>
            </a:lvl3pPr>
            <a:lvl4pPr>
              <a:defRPr sz="2025" b="0">
                <a:solidFill>
                  <a:srgbClr val="526171"/>
                </a:solidFill>
                <a:latin typeface="Segoe UI"/>
                <a:ea typeface="Segoe UI"/>
                <a:cs typeface="Segoe UI"/>
              </a:defRPr>
            </a:lvl4pPr>
            <a:lvl5pPr>
              <a:defRPr sz="2025" b="0">
                <a:solidFill>
                  <a:srgbClr val="526171"/>
                </a:solidFill>
                <a:latin typeface="Segoe UI"/>
                <a:ea typeface="Segoe UI"/>
                <a:cs typeface="Segoe UI"/>
              </a:defRPr>
            </a:lvl5pPr>
            <a:lvl6pPr>
              <a:defRPr sz="2025" b="0">
                <a:solidFill>
                  <a:srgbClr val="526171"/>
                </a:solidFill>
                <a:latin typeface="Segoe UI"/>
                <a:ea typeface="Segoe UI"/>
                <a:cs typeface="Segoe UI"/>
              </a:defRPr>
            </a:lvl6pPr>
            <a:lvl7pPr>
              <a:defRPr sz="2025" b="0">
                <a:solidFill>
                  <a:srgbClr val="526171"/>
                </a:solidFill>
                <a:latin typeface="Segoe UI"/>
                <a:ea typeface="Segoe UI"/>
                <a:cs typeface="Segoe UI"/>
              </a:defRPr>
            </a:lvl7pPr>
            <a:lvl8pPr>
              <a:defRPr sz="2025" b="0">
                <a:solidFill>
                  <a:srgbClr val="526171"/>
                </a:solidFill>
                <a:latin typeface="Segoe UI"/>
                <a:ea typeface="Segoe UI"/>
                <a:cs typeface="Segoe UI"/>
              </a:defRPr>
            </a:lvl8pPr>
            <a:lvl9pPr>
              <a:defRPr sz="2025" b="0">
                <a:solidFill>
                  <a:srgbClr val="526171"/>
                </a:solidFill>
                <a:latin typeface="Segoe UI"/>
                <a:ea typeface="Segoe UI"/>
                <a:cs typeface="Segoe UI"/>
              </a:defRPr>
            </a:lvl9pPr>
          </a:lstStyle>
          <a:p xmlns:a="http://schemas.openxmlformats.org/drawingml/2006/main">
            <a:pPr>
              <a:defRPr sz="2025" b="0">
                <a:solidFill>
                  <a:srgbClr val="526171"/>
                </a:solidFill>
                <a:latin typeface="Segoe UI"/>
                <a:ea typeface="Segoe UI"/>
                <a:cs typeface="Segoe UI"/>
              </a:defRPr>
            </a:pPr>
            <a:r>
              <a:rPr sz="2025" b="0">
                <a:solidFill>
                  <a:srgbClr val="526171"/>
                </a:solidFill>
                <a:latin typeface="Segoe UI"/>
                <a:ea typeface="Segoe UI"/>
                <a:cs typeface="Segoe UI"/>
              </a:rPr>
              <a:t>Shared data model, API contracts, integration and test evidence</a:t>
            </a:r>
          </a:p>
        </p:txBody>
      </p:sp>
    </p:spTree>
    <p:extLst>
      <p:ext uri="{BB962C8B-B14F-4D97-AF65-F5344CB8AC3E}">
        <p14:creationId xmlns:p14="http://schemas.microsoft.com/office/powerpoint/2010/main" val="17542252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32D8313-13B2-4BC5-B893-5AB820793846}"/>
              </a:ext>
            </a:extLst>
          </p:cNvPr>
          <p:cNvCxnSpPr>
            <a:stCxn xmlns:a="http://schemas.openxmlformats.org/drawingml/2006/main" id="6" idx="3"/>
            <a:endCxn xmlns:a="http://schemas.openxmlformats.org/drawingml/2006/main" id="9" idx="1"/>
          </p:cNvCxnSpPr>
          <p:nvPr/>
        </p:nvCxnSpPr>
        <p:spPr>
          <a:xfrm xmlns:a="http://schemas.openxmlformats.org/drawingml/2006/main">
            <a:off x="7524750" y="2714625"/>
            <a:ext cx="1476375" cy="0"/>
          </a:xfrm>
          <a:prstGeom xmlns:a="http://schemas.openxmlformats.org/drawingml/2006/main" prst="straightConnector1">
            <a:avLst/>
          </a:prstGeom>
          <a:ln xmlns:a="http://schemas.openxmlformats.org/drawingml/2006/main" w="14288">
            <a:solidFill>
              <a:srgbClr val="526171"/>
            </a:solidFill>
          </a:ln>
        </p:spPr>
      </p:cxnSp>
      <p:cxnSp>
        <p:nvCxnSpPr>
          <p:cNvPr id="12" name="">
            <a:extLst xmlns:a="http://schemas.openxmlformats.org/drawingml/2006/main">
              <a:ext uri="{FF2B5EF4-FFF2-40B4-BE49-F238E27FC236}">
                <a16:creationId xmlns:a16="http://schemas.microsoft.com/office/drawing/2014/main" id="{DAFE9EF5-121F-4440-BFCE-854DD8EB8DE7}"/>
              </a:ext>
            </a:extLst>
          </p:cNvPr>
          <p:cNvCxnSpPr>
            <a:stCxn xmlns:a="http://schemas.openxmlformats.org/drawingml/2006/main" id="3" idx="3"/>
            <a:endCxn xmlns:a="http://schemas.openxmlformats.org/drawingml/2006/main" id="6" idx="1"/>
          </p:cNvCxnSpPr>
          <p:nvPr/>
        </p:nvCxnSpPr>
        <p:spPr>
          <a:xfrm xmlns:a="http://schemas.openxmlformats.org/drawingml/2006/main">
            <a:off x="3286125" y="2714625"/>
            <a:ext cx="1524000" cy="0"/>
          </a:xfrm>
          <a:prstGeom xmlns:a="http://schemas.openxmlformats.org/drawingml/2006/main" prst="straightConnector1">
            <a:avLst/>
          </a:prstGeom>
          <a:ln xmlns:a="http://schemas.openxmlformats.org/drawingml/2006/main" w="14288">
            <a:solidFill>
              <a:srgbClr val="526171"/>
            </a:solidFill>
          </a:ln>
        </p:spPr>
      </p:cxnSp>
      <p:sp>
        <p:nvSpPr>
          <p:cNvPr id="17" name="">
            <a:extLst xmlns:a="http://schemas.openxmlformats.org/drawingml/2006/main">
              <a:ext uri="{FF2B5EF4-FFF2-40B4-BE49-F238E27FC236}">
                <a16:creationId xmlns:a16="http://schemas.microsoft.com/office/drawing/2014/main" id="{EC7751B6-F8EC-4D4F-AE48-1C06D30DFF54}"/>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Development stack and hosting</a:t>
            </a:r>
          </a:p>
        </p:txBody>
      </p:sp>
      <p:sp>
        <p:nvSpPr>
          <p:cNvPr id="2" name="">
            <a:extLst xmlns:a="http://schemas.openxmlformats.org/drawingml/2006/main">
              <a:ext uri="{FF2B5EF4-FFF2-40B4-BE49-F238E27FC236}">
                <a16:creationId xmlns:a16="http://schemas.microsoft.com/office/drawing/2014/main" id="{B6537011-5C50-42D7-8652-F66E3840B137}"/>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03</a:t>
            </a:r>
          </a:p>
        </p:txBody>
      </p:sp>
      <p:sp>
        <p:nvSpPr>
          <p:cNvPr id="3" name="">
            <a:extLst xmlns:a="http://schemas.openxmlformats.org/drawingml/2006/main">
              <a:ext uri="{FF2B5EF4-FFF2-40B4-BE49-F238E27FC236}">
                <a16:creationId xmlns:a16="http://schemas.microsoft.com/office/drawing/2014/main" id="{332B7B86-DF62-4B94-942B-DE1EB1C558A4}"/>
              </a:ext>
            </a:extLst>
          </p:cNvPr>
          <p:cNvSpPr>
            <a:spLocks xmlns:a="http://schemas.openxmlformats.org/drawingml/2006/main" noGrp="1"/>
          </p:cNvSpPr>
          <p:nvPr/>
        </p:nvSpPr>
        <p:spPr>
          <a:xfrm xmlns:a="http://schemas.openxmlformats.org/drawingml/2006/main">
            <a:off x="714375" y="1905000"/>
            <a:ext cx="2571750"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4" name="">
            <a:extLst xmlns:a="http://schemas.openxmlformats.org/drawingml/2006/main">
              <a:ext uri="{FF2B5EF4-FFF2-40B4-BE49-F238E27FC236}">
                <a16:creationId xmlns:a16="http://schemas.microsoft.com/office/drawing/2014/main" id="{E0325E5D-9743-4186-AD87-5E09A9A27147}"/>
              </a:ext>
            </a:extLst>
          </p:cNvPr>
          <p:cNvSpPr>
            <a:spLocks xmlns:a="http://schemas.openxmlformats.org/drawingml/2006/main" noGrp="1"/>
          </p:cNvSpPr>
          <p:nvPr/>
        </p:nvSpPr>
        <p:spPr>
          <a:xfrm xmlns:a="http://schemas.openxmlformats.org/drawingml/2006/main">
            <a:off x="866775" y="2019300"/>
            <a:ext cx="2266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React + TypeScript</a:t>
            </a:r>
          </a:p>
        </p:txBody>
      </p:sp>
      <p:sp>
        <p:nvSpPr>
          <p:cNvPr id="5" name="">
            <a:extLst xmlns:a="http://schemas.openxmlformats.org/drawingml/2006/main">
              <a:ext uri="{FF2B5EF4-FFF2-40B4-BE49-F238E27FC236}">
                <a16:creationId xmlns:a16="http://schemas.microsoft.com/office/drawing/2014/main" id="{63A6D946-961A-4B88-8CAF-413F075D7CD6}"/>
              </a:ext>
            </a:extLst>
          </p:cNvPr>
          <p:cNvSpPr>
            <a:spLocks xmlns:a="http://schemas.openxmlformats.org/drawingml/2006/main" noGrp="1"/>
          </p:cNvSpPr>
          <p:nvPr/>
        </p:nvSpPr>
        <p:spPr>
          <a:xfrm xmlns:a="http://schemas.openxmlformats.org/drawingml/2006/main">
            <a:off x="866775" y="240030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Seller, Rider, Admin</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and public interfaces</a:t>
            </a:r>
          </a:p>
        </p:txBody>
      </p:sp>
      <p:sp>
        <p:nvSpPr>
          <p:cNvPr id="6" name="">
            <a:extLst xmlns:a="http://schemas.openxmlformats.org/drawingml/2006/main">
              <a:ext uri="{FF2B5EF4-FFF2-40B4-BE49-F238E27FC236}">
                <a16:creationId xmlns:a16="http://schemas.microsoft.com/office/drawing/2014/main" id="{8306F704-7634-4550-86D5-D04A15A0EEBF}"/>
              </a:ext>
            </a:extLst>
          </p:cNvPr>
          <p:cNvSpPr>
            <a:spLocks xmlns:a="http://schemas.openxmlformats.org/drawingml/2006/main" noGrp="1"/>
          </p:cNvSpPr>
          <p:nvPr/>
        </p:nvSpPr>
        <p:spPr>
          <a:xfrm xmlns:a="http://schemas.openxmlformats.org/drawingml/2006/main">
            <a:off x="4810125" y="1905000"/>
            <a:ext cx="2714625"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7" name="">
            <a:extLst xmlns:a="http://schemas.openxmlformats.org/drawingml/2006/main">
              <a:ext uri="{FF2B5EF4-FFF2-40B4-BE49-F238E27FC236}">
                <a16:creationId xmlns:a16="http://schemas.microsoft.com/office/drawing/2014/main" id="{867D71ED-1688-4D57-96EF-E0FD6B9928EF}"/>
              </a:ext>
            </a:extLst>
          </p:cNvPr>
          <p:cNvSpPr>
            <a:spLocks xmlns:a="http://schemas.openxmlformats.org/drawingml/2006/main" noGrp="1"/>
          </p:cNvSpPr>
          <p:nvPr/>
        </p:nvSpPr>
        <p:spPr>
          <a:xfrm xmlns:a="http://schemas.openxmlformats.org/drawingml/2006/main">
            <a:off x="4962525" y="2019300"/>
            <a:ext cx="2409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FastAPI</a:t>
            </a:r>
          </a:p>
        </p:txBody>
      </p:sp>
      <p:sp>
        <p:nvSpPr>
          <p:cNvPr id="8" name="">
            <a:extLst xmlns:a="http://schemas.openxmlformats.org/drawingml/2006/main">
              <a:ext uri="{FF2B5EF4-FFF2-40B4-BE49-F238E27FC236}">
                <a16:creationId xmlns:a16="http://schemas.microsoft.com/office/drawing/2014/main" id="{5D4C966A-22C7-437E-9C0F-201BE8599CC1}"/>
              </a:ext>
            </a:extLst>
          </p:cNvPr>
          <p:cNvSpPr>
            <a:spLocks xmlns:a="http://schemas.openxmlformats.org/drawingml/2006/main" noGrp="1"/>
          </p:cNvSpPr>
          <p:nvPr/>
        </p:nvSpPr>
        <p:spPr>
          <a:xfrm xmlns:a="http://schemas.openxmlformats.org/drawingml/2006/main">
            <a:off x="4962525" y="2400300"/>
            <a:ext cx="2409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Shared authenticated APIs</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SQLAlchemy + Alembic</a:t>
            </a:r>
          </a:p>
        </p:txBody>
      </p:sp>
      <p:sp>
        <p:nvSpPr>
          <p:cNvPr id="9" name="">
            <a:extLst xmlns:a="http://schemas.openxmlformats.org/drawingml/2006/main">
              <a:ext uri="{FF2B5EF4-FFF2-40B4-BE49-F238E27FC236}">
                <a16:creationId xmlns:a16="http://schemas.microsoft.com/office/drawing/2014/main" id="{2932F70F-05D4-4652-AE7E-1307FADA1721}"/>
              </a:ext>
            </a:extLst>
          </p:cNvPr>
          <p:cNvSpPr>
            <a:spLocks xmlns:a="http://schemas.openxmlformats.org/drawingml/2006/main" noGrp="1"/>
          </p:cNvSpPr>
          <p:nvPr/>
        </p:nvSpPr>
        <p:spPr>
          <a:xfrm xmlns:a="http://schemas.openxmlformats.org/drawingml/2006/main">
            <a:off x="9001125" y="1905000"/>
            <a:ext cx="2524125"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10" name="">
            <a:extLst xmlns:a="http://schemas.openxmlformats.org/drawingml/2006/main">
              <a:ext uri="{FF2B5EF4-FFF2-40B4-BE49-F238E27FC236}">
                <a16:creationId xmlns:a16="http://schemas.microsoft.com/office/drawing/2014/main" id="{DD34A1D0-11AB-4E03-9BEA-D7F968882ED4}"/>
              </a:ext>
            </a:extLst>
          </p:cNvPr>
          <p:cNvSpPr>
            <a:spLocks xmlns:a="http://schemas.openxmlformats.org/drawingml/2006/main" noGrp="1"/>
          </p:cNvSpPr>
          <p:nvPr/>
        </p:nvSpPr>
        <p:spPr>
          <a:xfrm xmlns:a="http://schemas.openxmlformats.org/drawingml/2006/main">
            <a:off x="9153525" y="2019300"/>
            <a:ext cx="2219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PostgreSQL</a:t>
            </a:r>
          </a:p>
        </p:txBody>
      </p:sp>
      <p:sp>
        <p:nvSpPr>
          <p:cNvPr id="11" name="">
            <a:extLst xmlns:a="http://schemas.openxmlformats.org/drawingml/2006/main">
              <a:ext uri="{FF2B5EF4-FFF2-40B4-BE49-F238E27FC236}">
                <a16:creationId xmlns:a16="http://schemas.microsoft.com/office/drawing/2014/main" id="{54C565A5-9F43-49D7-ABA3-82C2147DC1B9}"/>
              </a:ext>
            </a:extLst>
          </p:cNvPr>
          <p:cNvSpPr>
            <a:spLocks xmlns:a="http://schemas.openxmlformats.org/drawingml/2006/main" noGrp="1"/>
          </p:cNvSpPr>
          <p:nvPr/>
        </p:nvSpPr>
        <p:spPr>
          <a:xfrm xmlns:a="http://schemas.openxmlformats.org/drawingml/2006/main">
            <a:off x="9153525" y="2400300"/>
            <a:ext cx="22193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Private database</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Row level security</a:t>
            </a:r>
          </a:p>
        </p:txBody>
      </p:sp>
      <p:sp>
        <p:nvSpPr>
          <p:cNvPr id="14" name="">
            <a:extLst xmlns:a="http://schemas.openxmlformats.org/drawingml/2006/main">
              <a:ext uri="{FF2B5EF4-FFF2-40B4-BE49-F238E27FC236}">
                <a16:creationId xmlns:a16="http://schemas.microsoft.com/office/drawing/2014/main" id="{6E57652D-BEDB-461C-9D55-2195E26C4F79}"/>
              </a:ext>
            </a:extLst>
          </p:cNvPr>
          <p:cNvSpPr>
            <a:spLocks xmlns:a="http://schemas.openxmlformats.org/drawingml/2006/main" noGrp="1"/>
          </p:cNvSpPr>
          <p:nvPr/>
        </p:nvSpPr>
        <p:spPr>
          <a:xfrm xmlns:a="http://schemas.openxmlformats.org/drawingml/2006/main">
            <a:off x="714375" y="4191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2E48"/>
                </a:solidFill>
                <a:latin typeface="Segoe UI"/>
                <a:ea typeface="Segoe UI"/>
                <a:cs typeface="Segoe UI"/>
              </a:defRPr>
            </a:defPPr>
            <a:lvl1pPr>
              <a:defRPr sz="2250" b="1">
                <a:solidFill>
                  <a:srgbClr val="152E48"/>
                </a:solidFill>
                <a:latin typeface="Segoe UI"/>
                <a:ea typeface="Segoe UI"/>
                <a:cs typeface="Segoe UI"/>
              </a:defRPr>
            </a:lvl1pPr>
            <a:lvl2pPr>
              <a:defRPr sz="2250" b="1">
                <a:solidFill>
                  <a:srgbClr val="152E48"/>
                </a:solidFill>
                <a:latin typeface="Segoe UI"/>
                <a:ea typeface="Segoe UI"/>
                <a:cs typeface="Segoe UI"/>
              </a:defRPr>
            </a:lvl2pPr>
            <a:lvl3pPr>
              <a:defRPr sz="2250" b="1">
                <a:solidFill>
                  <a:srgbClr val="152E48"/>
                </a:solidFill>
                <a:latin typeface="Segoe UI"/>
                <a:ea typeface="Segoe UI"/>
                <a:cs typeface="Segoe UI"/>
              </a:defRPr>
            </a:lvl3pPr>
            <a:lvl4pPr>
              <a:defRPr sz="2250" b="1">
                <a:solidFill>
                  <a:srgbClr val="152E48"/>
                </a:solidFill>
                <a:latin typeface="Segoe UI"/>
                <a:ea typeface="Segoe UI"/>
                <a:cs typeface="Segoe UI"/>
              </a:defRPr>
            </a:lvl4pPr>
            <a:lvl5pPr>
              <a:defRPr sz="2250" b="1">
                <a:solidFill>
                  <a:srgbClr val="152E48"/>
                </a:solidFill>
                <a:latin typeface="Segoe UI"/>
                <a:ea typeface="Segoe UI"/>
                <a:cs typeface="Segoe UI"/>
              </a:defRPr>
            </a:lvl5pPr>
            <a:lvl6pPr>
              <a:defRPr sz="2250" b="1">
                <a:solidFill>
                  <a:srgbClr val="152E48"/>
                </a:solidFill>
                <a:latin typeface="Segoe UI"/>
                <a:ea typeface="Segoe UI"/>
                <a:cs typeface="Segoe UI"/>
              </a:defRPr>
            </a:lvl6pPr>
            <a:lvl7pPr>
              <a:defRPr sz="2250" b="1">
                <a:solidFill>
                  <a:srgbClr val="152E48"/>
                </a:solidFill>
                <a:latin typeface="Segoe UI"/>
                <a:ea typeface="Segoe UI"/>
                <a:cs typeface="Segoe UI"/>
              </a:defRPr>
            </a:lvl7pPr>
            <a:lvl8pPr>
              <a:defRPr sz="2250" b="1">
                <a:solidFill>
                  <a:srgbClr val="152E48"/>
                </a:solidFill>
                <a:latin typeface="Segoe UI"/>
                <a:ea typeface="Segoe UI"/>
                <a:cs typeface="Segoe UI"/>
              </a:defRPr>
            </a:lvl8pPr>
            <a:lvl9pPr>
              <a:defRPr sz="2250" b="1">
                <a:solidFill>
                  <a:srgbClr val="152E48"/>
                </a:solidFill>
                <a:latin typeface="Segoe UI"/>
                <a:ea typeface="Segoe UI"/>
                <a:cs typeface="Segoe UI"/>
              </a:defRPr>
            </a:lvl9pPr>
          </a:lstStyle>
          <a:p xmlns:a="http://schemas.openxmlformats.org/drawingml/2006/main">
            <a:pPr>
              <a:defRPr sz="2250" b="1">
                <a:solidFill>
                  <a:srgbClr val="152E48"/>
                </a:solidFill>
                <a:latin typeface="Segoe UI"/>
                <a:ea typeface="Segoe UI"/>
                <a:cs typeface="Segoe UI"/>
              </a:defRPr>
            </a:pPr>
            <a:r>
              <a:rPr sz="2250" b="1">
                <a:solidFill>
                  <a:srgbClr val="152E48"/>
                </a:solidFill>
                <a:latin typeface="Segoe UI"/>
                <a:ea typeface="Segoe UI"/>
                <a:cs typeface="Segoe UI"/>
              </a:rPr>
              <a:t>Planned deployment: Docker Compose on AWS EC2 with HTTPS</a:t>
            </a:r>
          </a:p>
        </p:txBody>
      </p:sp>
      <p:sp>
        <p:nvSpPr>
          <p:cNvPr id="15" name="">
            <a:extLst xmlns:a="http://schemas.openxmlformats.org/drawingml/2006/main">
              <a:ext uri="{FF2B5EF4-FFF2-40B4-BE49-F238E27FC236}">
                <a16:creationId xmlns:a16="http://schemas.microsoft.com/office/drawing/2014/main" id="{5FAA9F88-A634-4CDC-8277-B977A3DEB0A6}"/>
              </a:ext>
            </a:extLst>
          </p:cNvPr>
          <p:cNvSpPr>
            <a:spLocks xmlns:a="http://schemas.openxmlformats.org/drawingml/2006/main" noGrp="1"/>
          </p:cNvSpPr>
          <p:nvPr/>
        </p:nvSpPr>
        <p:spPr>
          <a:xfrm xmlns:a="http://schemas.openxmlformats.org/drawingml/2006/main">
            <a:off x="714375" y="5048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171"/>
                </a:solidFill>
                <a:latin typeface="Segoe UI"/>
                <a:ea typeface="Segoe UI"/>
                <a:cs typeface="Segoe UI"/>
              </a:defRPr>
            </a:defPPr>
            <a:lvl1pPr>
              <a:defRPr sz="2100" b="0">
                <a:solidFill>
                  <a:srgbClr val="526171"/>
                </a:solidFill>
                <a:latin typeface="Segoe UI"/>
                <a:ea typeface="Segoe UI"/>
                <a:cs typeface="Segoe UI"/>
              </a:defRPr>
            </a:lvl1pPr>
            <a:lvl2pPr>
              <a:defRPr sz="2100" b="0">
                <a:solidFill>
                  <a:srgbClr val="526171"/>
                </a:solidFill>
                <a:latin typeface="Segoe UI"/>
                <a:ea typeface="Segoe UI"/>
                <a:cs typeface="Segoe UI"/>
              </a:defRPr>
            </a:lvl2pPr>
            <a:lvl3pPr>
              <a:defRPr sz="2100" b="0">
                <a:solidFill>
                  <a:srgbClr val="526171"/>
                </a:solidFill>
                <a:latin typeface="Segoe UI"/>
                <a:ea typeface="Segoe UI"/>
                <a:cs typeface="Segoe UI"/>
              </a:defRPr>
            </a:lvl3pPr>
            <a:lvl4pPr>
              <a:defRPr sz="2100" b="0">
                <a:solidFill>
                  <a:srgbClr val="526171"/>
                </a:solidFill>
                <a:latin typeface="Segoe UI"/>
                <a:ea typeface="Segoe UI"/>
                <a:cs typeface="Segoe UI"/>
              </a:defRPr>
            </a:lvl4pPr>
            <a:lvl5pPr>
              <a:defRPr sz="2100" b="0">
                <a:solidFill>
                  <a:srgbClr val="526171"/>
                </a:solidFill>
                <a:latin typeface="Segoe UI"/>
                <a:ea typeface="Segoe UI"/>
                <a:cs typeface="Segoe UI"/>
              </a:defRPr>
            </a:lvl5pPr>
            <a:lvl6pPr>
              <a:defRPr sz="2100" b="0">
                <a:solidFill>
                  <a:srgbClr val="526171"/>
                </a:solidFill>
                <a:latin typeface="Segoe UI"/>
                <a:ea typeface="Segoe UI"/>
                <a:cs typeface="Segoe UI"/>
              </a:defRPr>
            </a:lvl6pPr>
            <a:lvl7pPr>
              <a:defRPr sz="2100" b="0">
                <a:solidFill>
                  <a:srgbClr val="526171"/>
                </a:solidFill>
                <a:latin typeface="Segoe UI"/>
                <a:ea typeface="Segoe UI"/>
                <a:cs typeface="Segoe UI"/>
              </a:defRPr>
            </a:lvl7pPr>
            <a:lvl8pPr>
              <a:defRPr sz="2100" b="0">
                <a:solidFill>
                  <a:srgbClr val="526171"/>
                </a:solidFill>
                <a:latin typeface="Segoe UI"/>
                <a:ea typeface="Segoe UI"/>
                <a:cs typeface="Segoe UI"/>
              </a:defRPr>
            </a:lvl8pPr>
            <a:lvl9pPr>
              <a:defRPr sz="2100" b="0">
                <a:solidFill>
                  <a:srgbClr val="526171"/>
                </a:solidFill>
                <a:latin typeface="Segoe UI"/>
                <a:ea typeface="Segoe UI"/>
                <a:cs typeface="Segoe UI"/>
              </a:defRPr>
            </a:lvl9pPr>
          </a:lstStyle>
          <a:p xmlns:a="http://schemas.openxmlformats.org/drawingml/2006/main">
            <a:pPr>
              <a:defRPr sz="2100" b="0">
                <a:solidFill>
                  <a:srgbClr val="526171"/>
                </a:solidFill>
                <a:latin typeface="Segoe UI"/>
                <a:ea typeface="Segoe UI"/>
                <a:cs typeface="Segoe UI"/>
              </a:defRPr>
            </a:pPr>
            <a:r>
              <a:rPr sz="2100" b="0">
                <a:solidFill>
                  <a:srgbClr val="526171"/>
                </a:solidFill>
                <a:latin typeface="Segoe UI"/>
                <a:ea typeface="Segoe UI"/>
                <a:cs typeface="Segoe UI"/>
              </a:rPr>
              <a:t>Prototype today: React and synthetic browser data</a:t>
            </a:r>
          </a:p>
        </p:txBody>
      </p:sp>
      <p:sp>
        <p:nvSpPr>
          <p:cNvPr id="16" name="">
            <a:extLst xmlns:a="http://schemas.openxmlformats.org/drawingml/2006/main">
              <a:ext uri="{FF2B5EF4-FFF2-40B4-BE49-F238E27FC236}">
                <a16:creationId xmlns:a16="http://schemas.microsoft.com/office/drawing/2014/main" id="{BD4E4A50-BC17-46E2-8AD7-167CA722207B}"/>
              </a:ext>
            </a:extLst>
          </p:cNvPr>
          <p:cNvSpPr>
            <a:spLocks xmlns:a="http://schemas.openxmlformats.org/drawingml/2006/main" noGrp="1"/>
          </p:cNvSpPr>
          <p:nvPr/>
        </p:nvSpPr>
        <p:spPr>
          <a:xfrm xmlns:a="http://schemas.openxmlformats.org/drawingml/2006/main">
            <a:off x="714375" y="57150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A94110"/>
                </a:solidFill>
                <a:latin typeface="Segoe UI"/>
                <a:ea typeface="Segoe UI"/>
                <a:cs typeface="Segoe UI"/>
              </a:defRPr>
            </a:defPPr>
            <a:lvl1pPr>
              <a:defRPr sz="1800" b="0">
                <a:solidFill>
                  <a:srgbClr val="A94110"/>
                </a:solidFill>
                <a:latin typeface="Segoe UI"/>
                <a:ea typeface="Segoe UI"/>
                <a:cs typeface="Segoe UI"/>
              </a:defRPr>
            </a:lvl1pPr>
            <a:lvl2pPr>
              <a:defRPr sz="1800" b="0">
                <a:solidFill>
                  <a:srgbClr val="A94110"/>
                </a:solidFill>
                <a:latin typeface="Segoe UI"/>
                <a:ea typeface="Segoe UI"/>
                <a:cs typeface="Segoe UI"/>
              </a:defRPr>
            </a:lvl2pPr>
            <a:lvl3pPr>
              <a:defRPr sz="1800" b="0">
                <a:solidFill>
                  <a:srgbClr val="A94110"/>
                </a:solidFill>
                <a:latin typeface="Segoe UI"/>
                <a:ea typeface="Segoe UI"/>
                <a:cs typeface="Segoe UI"/>
              </a:defRPr>
            </a:lvl3pPr>
            <a:lvl4pPr>
              <a:defRPr sz="1800" b="0">
                <a:solidFill>
                  <a:srgbClr val="A94110"/>
                </a:solidFill>
                <a:latin typeface="Segoe UI"/>
                <a:ea typeface="Segoe UI"/>
                <a:cs typeface="Segoe UI"/>
              </a:defRPr>
            </a:lvl4pPr>
            <a:lvl5pPr>
              <a:defRPr sz="1800" b="0">
                <a:solidFill>
                  <a:srgbClr val="A94110"/>
                </a:solidFill>
                <a:latin typeface="Segoe UI"/>
                <a:ea typeface="Segoe UI"/>
                <a:cs typeface="Segoe UI"/>
              </a:defRPr>
            </a:lvl5pPr>
            <a:lvl6pPr>
              <a:defRPr sz="1800" b="0">
                <a:solidFill>
                  <a:srgbClr val="A94110"/>
                </a:solidFill>
                <a:latin typeface="Segoe UI"/>
                <a:ea typeface="Segoe UI"/>
                <a:cs typeface="Segoe UI"/>
              </a:defRPr>
            </a:lvl6pPr>
            <a:lvl7pPr>
              <a:defRPr sz="1800" b="0">
                <a:solidFill>
                  <a:srgbClr val="A94110"/>
                </a:solidFill>
                <a:latin typeface="Segoe UI"/>
                <a:ea typeface="Segoe UI"/>
                <a:cs typeface="Segoe UI"/>
              </a:defRPr>
            </a:lvl7pPr>
            <a:lvl8pPr>
              <a:defRPr sz="1800" b="0">
                <a:solidFill>
                  <a:srgbClr val="A94110"/>
                </a:solidFill>
                <a:latin typeface="Segoe UI"/>
                <a:ea typeface="Segoe UI"/>
                <a:cs typeface="Segoe UI"/>
              </a:defRPr>
            </a:lvl8pPr>
            <a:lvl9pPr>
              <a:defRPr sz="1800" b="0">
                <a:solidFill>
                  <a:srgbClr val="A94110"/>
                </a:solidFill>
                <a:latin typeface="Segoe UI"/>
                <a:ea typeface="Segoe UI"/>
                <a:cs typeface="Segoe UI"/>
              </a:defRPr>
            </a:lvl9pPr>
          </a:lstStyle>
          <a:p xmlns:a="http://schemas.openxmlformats.org/drawingml/2006/main">
            <a:pPr>
              <a:defRPr sz="1800" b="0">
                <a:solidFill>
                  <a:srgbClr val="A94110"/>
                </a:solidFill>
                <a:latin typeface="Segoe UI"/>
                <a:ea typeface="Segoe UI"/>
                <a:cs typeface="Segoe UI"/>
              </a:defRPr>
            </a:pPr>
            <a:r>
              <a:rPr sz="1800" b="0">
                <a:solidFill>
                  <a:srgbClr val="A94110"/>
                </a:solidFill>
                <a:latin typeface="Segoe UI"/>
                <a:ea typeface="Segoe UI"/>
                <a:cs typeface="Segoe UI"/>
              </a:rPr>
              <a:t>FastAPI/PostgreSQL variation: lecturer acceptance unverified</a:t>
            </a:r>
          </a:p>
        </p:txBody>
      </p:sp>
    </p:spTree>
    <p:extLst>
      <p:ext uri="{BB962C8B-B14F-4D97-AF65-F5344CB8AC3E}">
        <p14:creationId xmlns:p14="http://schemas.microsoft.com/office/powerpoint/2010/main" val="18780570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3C96E150-3DCB-44EF-8744-30D3F0C0027E}"/>
              </a:ext>
            </a:extLst>
          </p:cNvPr>
          <p:cNvCxnSpPr>
            <a:stCxn xmlns:a="http://schemas.openxmlformats.org/drawingml/2006/main" id="6" idx="2"/>
            <a:endCxn xmlns:a="http://schemas.openxmlformats.org/drawingml/2006/main" id="15" idx="0"/>
          </p:cNvCxnSpPr>
          <p:nvPr/>
        </p:nvCxnSpPr>
        <p:spPr>
          <a:xfrm xmlns:a="http://schemas.openxmlformats.org/drawingml/2006/main" flipH="1">
            <a:off x="4048125" y="3952875"/>
            <a:ext cx="2024063" cy="714375"/>
          </a:xfrm>
          <a:prstGeom xmlns:a="http://schemas.openxmlformats.org/drawingml/2006/main" prst="bentConnector4">
            <a:avLst>
              <a:gd name="adj1" fmla="val 0"/>
              <a:gd name="adj2" fmla="val 50000"/>
            </a:avLst>
          </a:prstGeom>
          <a:ln xmlns:a="http://schemas.openxmlformats.org/drawingml/2006/main" w="14288">
            <a:solidFill>
              <a:srgbClr val="526171"/>
            </a:solidFill>
          </a:ln>
        </p:spPr>
      </p:cxnSp>
      <p:cxnSp>
        <p:nvCxnSpPr>
          <p:cNvPr id="21" name="">
            <a:extLst xmlns:a="http://schemas.openxmlformats.org/drawingml/2006/main">
              <a:ext uri="{FF2B5EF4-FFF2-40B4-BE49-F238E27FC236}">
                <a16:creationId xmlns:a16="http://schemas.microsoft.com/office/drawing/2014/main" id="{36D18214-5C2E-41C2-B9A7-55D5F1A1800E}"/>
              </a:ext>
            </a:extLst>
          </p:cNvPr>
          <p:cNvCxnSpPr>
            <a:stCxn xmlns:a="http://schemas.openxmlformats.org/drawingml/2006/main" id="3" idx="2"/>
            <a:endCxn xmlns:a="http://schemas.openxmlformats.org/drawingml/2006/main" id="15" idx="0"/>
          </p:cNvCxnSpPr>
          <p:nvPr/>
        </p:nvCxnSpPr>
        <p:spPr>
          <a:xfrm xmlns:a="http://schemas.openxmlformats.org/drawingml/2006/main">
            <a:off x="1905000" y="3476625"/>
            <a:ext cx="2143125" cy="1190625"/>
          </a:xfrm>
          <a:prstGeom xmlns:a="http://schemas.openxmlformats.org/drawingml/2006/main" prst="bentConnector4">
            <a:avLst>
              <a:gd name="adj1" fmla="val 0"/>
              <a:gd name="adj2" fmla="val 50000"/>
            </a:avLst>
          </a:prstGeom>
          <a:ln xmlns:a="http://schemas.openxmlformats.org/drawingml/2006/main" w="14288">
            <a:solidFill>
              <a:srgbClr val="526171"/>
            </a:solidFill>
          </a:ln>
        </p:spPr>
      </p:cxnSp>
      <p:cxnSp>
        <p:nvCxnSpPr>
          <p:cNvPr id="20" name="">
            <a:extLst xmlns:a="http://schemas.openxmlformats.org/drawingml/2006/main">
              <a:ext uri="{FF2B5EF4-FFF2-40B4-BE49-F238E27FC236}">
                <a16:creationId xmlns:a16="http://schemas.microsoft.com/office/drawing/2014/main" id="{1AA68732-3A0E-45BA-99DE-DDC1C14099E4}"/>
              </a:ext>
            </a:extLst>
          </p:cNvPr>
          <p:cNvCxnSpPr>
            <a:stCxn xmlns:a="http://schemas.openxmlformats.org/drawingml/2006/main" id="6" idx="3"/>
            <a:endCxn xmlns:a="http://schemas.openxmlformats.org/drawingml/2006/main" id="12" idx="1"/>
          </p:cNvCxnSpPr>
          <p:nvPr/>
        </p:nvCxnSpPr>
        <p:spPr>
          <a:xfrm xmlns:a="http://schemas.openxmlformats.org/drawingml/2006/main">
            <a:off x="7477125" y="2833688"/>
            <a:ext cx="1524000" cy="1595438"/>
          </a:xfrm>
          <a:prstGeom xmlns:a="http://schemas.openxmlformats.org/drawingml/2006/main" prst="bentConnector3">
            <a:avLst>
              <a:gd name="adj1" fmla="val 50000"/>
            </a:avLst>
          </a:prstGeom>
          <a:ln xmlns:a="http://schemas.openxmlformats.org/drawingml/2006/main" w="14288">
            <a:solidFill>
              <a:srgbClr val="526171"/>
            </a:solidFill>
          </a:ln>
        </p:spPr>
      </p:cxnSp>
      <p:cxnSp>
        <p:nvCxnSpPr>
          <p:cNvPr id="19" name="">
            <a:extLst xmlns:a="http://schemas.openxmlformats.org/drawingml/2006/main">
              <a:ext uri="{FF2B5EF4-FFF2-40B4-BE49-F238E27FC236}">
                <a16:creationId xmlns:a16="http://schemas.microsoft.com/office/drawing/2014/main" id="{FB698505-01D4-4B82-B04E-895C64D68006}"/>
              </a:ext>
            </a:extLst>
          </p:cNvPr>
          <p:cNvCxnSpPr>
            <a:stCxn xmlns:a="http://schemas.openxmlformats.org/drawingml/2006/main" id="6" idx="3"/>
            <a:endCxn xmlns:a="http://schemas.openxmlformats.org/drawingml/2006/main" id="9" idx="1"/>
          </p:cNvCxnSpPr>
          <p:nvPr/>
        </p:nvCxnSpPr>
        <p:spPr>
          <a:xfrm xmlns:a="http://schemas.openxmlformats.org/drawingml/2006/main" flipV="1">
            <a:off x="7477125" y="2238375"/>
            <a:ext cx="1524000" cy="595313"/>
          </a:xfrm>
          <a:prstGeom xmlns:a="http://schemas.openxmlformats.org/drawingml/2006/main" prst="bentConnector3">
            <a:avLst>
              <a:gd name="adj1" fmla="val 50000"/>
            </a:avLst>
          </a:prstGeom>
          <a:ln xmlns:a="http://schemas.openxmlformats.org/drawingml/2006/main" w="14288">
            <a:solidFill>
              <a:srgbClr val="526171"/>
            </a:solidFill>
          </a:ln>
        </p:spPr>
      </p:cxnSp>
      <p:cxnSp>
        <p:nvCxnSpPr>
          <p:cNvPr id="18" name="">
            <a:extLst xmlns:a="http://schemas.openxmlformats.org/drawingml/2006/main">
              <a:ext uri="{FF2B5EF4-FFF2-40B4-BE49-F238E27FC236}">
                <a16:creationId xmlns:a16="http://schemas.microsoft.com/office/drawing/2014/main" id="{C8F0F1D0-CB49-4008-9D79-DFC93583BFCF}"/>
              </a:ext>
            </a:extLst>
          </p:cNvPr>
          <p:cNvCxnSpPr>
            <a:stCxn xmlns:a="http://schemas.openxmlformats.org/drawingml/2006/main" id="3" idx="3"/>
            <a:endCxn xmlns:a="http://schemas.openxmlformats.org/drawingml/2006/main" id="6" idx="1"/>
          </p:cNvCxnSpPr>
          <p:nvPr/>
        </p:nvCxnSpPr>
        <p:spPr>
          <a:xfrm xmlns:a="http://schemas.openxmlformats.org/drawingml/2006/main">
            <a:off x="3190875" y="2595563"/>
            <a:ext cx="1476375" cy="238125"/>
          </a:xfrm>
          <a:prstGeom xmlns:a="http://schemas.openxmlformats.org/drawingml/2006/main" prst="bentConnector3">
            <a:avLst>
              <a:gd name="adj1" fmla="val 50000"/>
            </a:avLst>
          </a:prstGeom>
          <a:ln xmlns:a="http://schemas.openxmlformats.org/drawingml/2006/main" w="14288">
            <a:solidFill>
              <a:srgbClr val="526171"/>
            </a:solidFill>
          </a:ln>
        </p:spPr>
      </p:cxnSp>
      <p:sp>
        <p:nvSpPr>
          <p:cNvPr id="27" name="">
            <a:extLst xmlns:a="http://schemas.openxmlformats.org/drawingml/2006/main">
              <a:ext uri="{FF2B5EF4-FFF2-40B4-BE49-F238E27FC236}">
                <a16:creationId xmlns:a16="http://schemas.microsoft.com/office/drawing/2014/main" id="{854D5367-E018-4750-A21A-591988F7BF02}"/>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Initial entity relationship diagram</a:t>
            </a:r>
          </a:p>
        </p:txBody>
      </p:sp>
      <p:sp>
        <p:nvSpPr>
          <p:cNvPr id="2" name="">
            <a:extLst xmlns:a="http://schemas.openxmlformats.org/drawingml/2006/main">
              <a:ext uri="{FF2B5EF4-FFF2-40B4-BE49-F238E27FC236}">
                <a16:creationId xmlns:a16="http://schemas.microsoft.com/office/drawing/2014/main" id="{5E154786-C786-4D36-8595-26BF37F39967}"/>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04</a:t>
            </a:r>
          </a:p>
        </p:txBody>
      </p:sp>
      <p:sp>
        <p:nvSpPr>
          <p:cNvPr id="3" name="">
            <a:extLst xmlns:a="http://schemas.openxmlformats.org/drawingml/2006/main">
              <a:ext uri="{FF2B5EF4-FFF2-40B4-BE49-F238E27FC236}">
                <a16:creationId xmlns:a16="http://schemas.microsoft.com/office/drawing/2014/main" id="{3DCEE871-C449-44A4-8233-1C68D1DE5B9B}"/>
              </a:ext>
            </a:extLst>
          </p:cNvPr>
          <p:cNvSpPr>
            <a:spLocks xmlns:a="http://schemas.openxmlformats.org/drawingml/2006/main" noGrp="1"/>
          </p:cNvSpPr>
          <p:nvPr/>
        </p:nvSpPr>
        <p:spPr>
          <a:xfrm xmlns:a="http://schemas.openxmlformats.org/drawingml/2006/main">
            <a:off x="619125" y="1714500"/>
            <a:ext cx="2571750" cy="1762125"/>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4" name="">
            <a:extLst xmlns:a="http://schemas.openxmlformats.org/drawingml/2006/main">
              <a:ext uri="{FF2B5EF4-FFF2-40B4-BE49-F238E27FC236}">
                <a16:creationId xmlns:a16="http://schemas.microsoft.com/office/drawing/2014/main" id="{4C267B27-8CB3-40E8-8623-525E01AFF4BD}"/>
              </a:ext>
            </a:extLst>
          </p:cNvPr>
          <p:cNvSpPr>
            <a:spLocks xmlns:a="http://schemas.openxmlformats.org/drawingml/2006/main" noGrp="1"/>
          </p:cNvSpPr>
          <p:nvPr/>
        </p:nvSpPr>
        <p:spPr>
          <a:xfrm xmlns:a="http://schemas.openxmlformats.org/drawingml/2006/main">
            <a:off x="771525" y="1828800"/>
            <a:ext cx="2266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User</a:t>
            </a:r>
          </a:p>
        </p:txBody>
      </p:sp>
      <p:sp>
        <p:nvSpPr>
          <p:cNvPr id="5" name="">
            <a:extLst xmlns:a="http://schemas.openxmlformats.org/drawingml/2006/main">
              <a:ext uri="{FF2B5EF4-FFF2-40B4-BE49-F238E27FC236}">
                <a16:creationId xmlns:a16="http://schemas.microsoft.com/office/drawing/2014/main" id="{B606EAF8-DB2B-4514-9F56-DB75C6AD535E}"/>
              </a:ext>
            </a:extLst>
          </p:cNvPr>
          <p:cNvSpPr>
            <a:spLocks xmlns:a="http://schemas.openxmlformats.org/drawingml/2006/main" noGrp="1"/>
          </p:cNvSpPr>
          <p:nvPr/>
        </p:nvSpPr>
        <p:spPr>
          <a:xfrm xmlns:a="http://schemas.openxmlformats.org/drawingml/2006/main">
            <a:off x="771525" y="2209800"/>
            <a:ext cx="22669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id (PK) / role</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username / password_hash</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is_active / session_version</a:t>
            </a:r>
          </a:p>
        </p:txBody>
      </p:sp>
      <p:sp>
        <p:nvSpPr>
          <p:cNvPr id="6" name="">
            <a:extLst xmlns:a="http://schemas.openxmlformats.org/drawingml/2006/main">
              <a:ext uri="{FF2B5EF4-FFF2-40B4-BE49-F238E27FC236}">
                <a16:creationId xmlns:a16="http://schemas.microsoft.com/office/drawing/2014/main" id="{530F6E5A-29F3-4114-BFBC-4FFEB43F055D}"/>
              </a:ext>
            </a:extLst>
          </p:cNvPr>
          <p:cNvSpPr>
            <a:spLocks xmlns:a="http://schemas.openxmlformats.org/drawingml/2006/main" noGrp="1"/>
          </p:cNvSpPr>
          <p:nvPr/>
        </p:nvSpPr>
        <p:spPr>
          <a:xfrm xmlns:a="http://schemas.openxmlformats.org/drawingml/2006/main">
            <a:off x="4667250" y="1714500"/>
            <a:ext cx="2809875" cy="2238375"/>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7" name="">
            <a:extLst xmlns:a="http://schemas.openxmlformats.org/drawingml/2006/main">
              <a:ext uri="{FF2B5EF4-FFF2-40B4-BE49-F238E27FC236}">
                <a16:creationId xmlns:a16="http://schemas.microsoft.com/office/drawing/2014/main" id="{06730FC9-29E4-4766-A391-AA0FD9052B6F}"/>
              </a:ext>
            </a:extLst>
          </p:cNvPr>
          <p:cNvSpPr>
            <a:spLocks xmlns:a="http://schemas.openxmlformats.org/drawingml/2006/main" noGrp="1"/>
          </p:cNvSpPr>
          <p:nvPr/>
        </p:nvSpPr>
        <p:spPr>
          <a:xfrm xmlns:a="http://schemas.openxmlformats.org/drawingml/2006/main">
            <a:off x="4819650" y="1828800"/>
            <a:ext cx="2505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Parcel</a:t>
            </a:r>
          </a:p>
        </p:txBody>
      </p:sp>
      <p:sp>
        <p:nvSpPr>
          <p:cNvPr id="8" name="">
            <a:extLst xmlns:a="http://schemas.openxmlformats.org/drawingml/2006/main">
              <a:ext uri="{FF2B5EF4-FFF2-40B4-BE49-F238E27FC236}">
                <a16:creationId xmlns:a16="http://schemas.microsoft.com/office/drawing/2014/main" id="{76B7070D-0029-434B-ADA5-38CC4A264F2B}"/>
              </a:ext>
            </a:extLst>
          </p:cNvPr>
          <p:cNvSpPr>
            <a:spLocks xmlns:a="http://schemas.openxmlformats.org/drawingml/2006/main" noGrp="1"/>
          </p:cNvSpPr>
          <p:nvPr/>
        </p:nvSpPr>
        <p:spPr>
          <a:xfrm xmlns:a="http://schemas.openxmlformats.org/drawingml/2006/main">
            <a:off x="4819650" y="2209800"/>
            <a:ext cx="25050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id (PK) / tracking_number</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seller_id / assigned_rider_id</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recipient fields / weight</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current_status / version</a:t>
            </a:r>
          </a:p>
        </p:txBody>
      </p:sp>
      <p:sp>
        <p:nvSpPr>
          <p:cNvPr id="9" name="">
            <a:extLst xmlns:a="http://schemas.openxmlformats.org/drawingml/2006/main">
              <a:ext uri="{FF2B5EF4-FFF2-40B4-BE49-F238E27FC236}">
                <a16:creationId xmlns:a16="http://schemas.microsoft.com/office/drawing/2014/main" id="{60566968-F8F9-47FF-A3F4-7C520046B7C9}"/>
              </a:ext>
            </a:extLst>
          </p:cNvPr>
          <p:cNvSpPr>
            <a:spLocks xmlns:a="http://schemas.openxmlformats.org/drawingml/2006/main" noGrp="1"/>
          </p:cNvSpPr>
          <p:nvPr/>
        </p:nvSpPr>
        <p:spPr>
          <a:xfrm xmlns:a="http://schemas.openxmlformats.org/drawingml/2006/main">
            <a:off x="9001125" y="1524000"/>
            <a:ext cx="2619375"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10" name="">
            <a:extLst xmlns:a="http://schemas.openxmlformats.org/drawingml/2006/main">
              <a:ext uri="{FF2B5EF4-FFF2-40B4-BE49-F238E27FC236}">
                <a16:creationId xmlns:a16="http://schemas.microsoft.com/office/drawing/2014/main" id="{8F35B857-374F-47F8-BB8B-434D8506E10F}"/>
              </a:ext>
            </a:extLst>
          </p:cNvPr>
          <p:cNvSpPr>
            <a:spLocks xmlns:a="http://schemas.openxmlformats.org/drawingml/2006/main" noGrp="1"/>
          </p:cNvSpPr>
          <p:nvPr/>
        </p:nvSpPr>
        <p:spPr>
          <a:xfrm xmlns:a="http://schemas.openxmlformats.org/drawingml/2006/main">
            <a:off x="9153525" y="1638300"/>
            <a:ext cx="2314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ParcelStatusHistory</a:t>
            </a:r>
          </a:p>
        </p:txBody>
      </p:sp>
      <p:sp>
        <p:nvSpPr>
          <p:cNvPr id="11" name="">
            <a:extLst xmlns:a="http://schemas.openxmlformats.org/drawingml/2006/main">
              <a:ext uri="{FF2B5EF4-FFF2-40B4-BE49-F238E27FC236}">
                <a16:creationId xmlns:a16="http://schemas.microsoft.com/office/drawing/2014/main" id="{19A45CEC-3FF7-46D6-85DC-9787E864CD6F}"/>
              </a:ext>
            </a:extLst>
          </p:cNvPr>
          <p:cNvSpPr>
            <a:spLocks xmlns:a="http://schemas.openxmlformats.org/drawingml/2006/main" noGrp="1"/>
          </p:cNvSpPr>
          <p:nvPr/>
        </p:nvSpPr>
        <p:spPr>
          <a:xfrm xmlns:a="http://schemas.openxmlformats.org/drawingml/2006/main">
            <a:off x="9153525" y="201930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parcel_id / changed_by_id</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status / changed_at</a:t>
            </a:r>
          </a:p>
        </p:txBody>
      </p:sp>
      <p:sp>
        <p:nvSpPr>
          <p:cNvPr id="12" name="">
            <a:extLst xmlns:a="http://schemas.openxmlformats.org/drawingml/2006/main">
              <a:ext uri="{FF2B5EF4-FFF2-40B4-BE49-F238E27FC236}">
                <a16:creationId xmlns:a16="http://schemas.microsoft.com/office/drawing/2014/main" id="{53FF4AD9-7A4B-492D-9750-323D9FD78D32}"/>
              </a:ext>
            </a:extLst>
          </p:cNvPr>
          <p:cNvSpPr>
            <a:spLocks xmlns:a="http://schemas.openxmlformats.org/drawingml/2006/main" noGrp="1"/>
          </p:cNvSpPr>
          <p:nvPr/>
        </p:nvSpPr>
        <p:spPr>
          <a:xfrm xmlns:a="http://schemas.openxmlformats.org/drawingml/2006/main">
            <a:off x="9001125" y="3714750"/>
            <a:ext cx="2619375"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13" name="">
            <a:extLst xmlns:a="http://schemas.openxmlformats.org/drawingml/2006/main">
              <a:ext uri="{FF2B5EF4-FFF2-40B4-BE49-F238E27FC236}">
                <a16:creationId xmlns:a16="http://schemas.microsoft.com/office/drawing/2014/main" id="{09A50E64-73D8-4B65-B631-2F4435C4E3B1}"/>
              </a:ext>
            </a:extLst>
          </p:cNvPr>
          <p:cNvSpPr>
            <a:spLocks xmlns:a="http://schemas.openxmlformats.org/drawingml/2006/main" noGrp="1"/>
          </p:cNvSpPr>
          <p:nvPr/>
        </p:nvSpPr>
        <p:spPr>
          <a:xfrm xmlns:a="http://schemas.openxmlformats.org/drawingml/2006/main">
            <a:off x="9153525" y="3829050"/>
            <a:ext cx="2314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DeliveryProof</a:t>
            </a:r>
          </a:p>
        </p:txBody>
      </p:sp>
      <p:sp>
        <p:nvSpPr>
          <p:cNvPr id="14" name="">
            <a:extLst xmlns:a="http://schemas.openxmlformats.org/drawingml/2006/main">
              <a:ext uri="{FF2B5EF4-FFF2-40B4-BE49-F238E27FC236}">
                <a16:creationId xmlns:a16="http://schemas.microsoft.com/office/drawing/2014/main" id="{ADF05F35-4F8C-4783-B5CA-063A49C0818A}"/>
              </a:ext>
            </a:extLst>
          </p:cNvPr>
          <p:cNvSpPr>
            <a:spLocks xmlns:a="http://schemas.openxmlformats.org/drawingml/2006/main" noGrp="1"/>
          </p:cNvSpPr>
          <p:nvPr/>
        </p:nvSpPr>
        <p:spPr>
          <a:xfrm xmlns:a="http://schemas.openxmlformats.org/drawingml/2006/main">
            <a:off x="9153525" y="421005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parcel_id (unique FK)</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private storage key / metadata</a:t>
            </a:r>
          </a:p>
        </p:txBody>
      </p:sp>
      <p:sp>
        <p:nvSpPr>
          <p:cNvPr id="15" name="">
            <a:extLst xmlns:a="http://schemas.openxmlformats.org/drawingml/2006/main">
              <a:ext uri="{FF2B5EF4-FFF2-40B4-BE49-F238E27FC236}">
                <a16:creationId xmlns:a16="http://schemas.microsoft.com/office/drawing/2014/main" id="{9C2ADF17-773B-44C7-A120-DC22C528BCA6}"/>
              </a:ext>
            </a:extLst>
          </p:cNvPr>
          <p:cNvSpPr>
            <a:spLocks xmlns:a="http://schemas.openxmlformats.org/drawingml/2006/main" noGrp="1"/>
          </p:cNvSpPr>
          <p:nvPr/>
        </p:nvSpPr>
        <p:spPr>
          <a:xfrm xmlns:a="http://schemas.openxmlformats.org/drawingml/2006/main">
            <a:off x="619125" y="4667250"/>
            <a:ext cx="685800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2DD"/>
            </a:solidFill>
          </a:ln>
        </p:spPr>
      </p:sp>
      <p:sp>
        <p:nvSpPr>
          <p:cNvPr id="16" name="">
            <a:extLst xmlns:a="http://schemas.openxmlformats.org/drawingml/2006/main">
              <a:ext uri="{FF2B5EF4-FFF2-40B4-BE49-F238E27FC236}">
                <a16:creationId xmlns:a16="http://schemas.microsoft.com/office/drawing/2014/main" id="{32A82590-2E26-48A3-8442-711B78E2EE4C}"/>
              </a:ext>
            </a:extLst>
          </p:cNvPr>
          <p:cNvSpPr>
            <a:spLocks xmlns:a="http://schemas.openxmlformats.org/drawingml/2006/main" noGrp="1"/>
          </p:cNvSpPr>
          <p:nvPr/>
        </p:nvSpPr>
        <p:spPr>
          <a:xfrm xmlns:a="http://schemas.openxmlformats.org/drawingml/2006/main">
            <a:off x="771525" y="4781550"/>
            <a:ext cx="655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2E48"/>
                </a:solidFill>
                <a:latin typeface="Segoe UI"/>
                <a:ea typeface="Segoe UI"/>
                <a:cs typeface="Segoe UI"/>
              </a:defRPr>
            </a:defPPr>
            <a:lvl1pPr>
              <a:defRPr sz="1800" b="1">
                <a:solidFill>
                  <a:srgbClr val="152E48"/>
                </a:solidFill>
                <a:latin typeface="Segoe UI"/>
                <a:ea typeface="Segoe UI"/>
                <a:cs typeface="Segoe UI"/>
              </a:defRPr>
            </a:lvl1pPr>
            <a:lvl2pPr>
              <a:defRPr sz="1800" b="1">
                <a:solidFill>
                  <a:srgbClr val="152E48"/>
                </a:solidFill>
                <a:latin typeface="Segoe UI"/>
                <a:ea typeface="Segoe UI"/>
                <a:cs typeface="Segoe UI"/>
              </a:defRPr>
            </a:lvl2pPr>
            <a:lvl3pPr>
              <a:defRPr sz="1800" b="1">
                <a:solidFill>
                  <a:srgbClr val="152E48"/>
                </a:solidFill>
                <a:latin typeface="Segoe UI"/>
                <a:ea typeface="Segoe UI"/>
                <a:cs typeface="Segoe UI"/>
              </a:defRPr>
            </a:lvl3pPr>
            <a:lvl4pPr>
              <a:defRPr sz="1800" b="1">
                <a:solidFill>
                  <a:srgbClr val="152E48"/>
                </a:solidFill>
                <a:latin typeface="Segoe UI"/>
                <a:ea typeface="Segoe UI"/>
                <a:cs typeface="Segoe UI"/>
              </a:defRPr>
            </a:lvl4pPr>
            <a:lvl5pPr>
              <a:defRPr sz="1800" b="1">
                <a:solidFill>
                  <a:srgbClr val="152E48"/>
                </a:solidFill>
                <a:latin typeface="Segoe UI"/>
                <a:ea typeface="Segoe UI"/>
                <a:cs typeface="Segoe UI"/>
              </a:defRPr>
            </a:lvl5pPr>
            <a:lvl6pPr>
              <a:defRPr sz="1800" b="1">
                <a:solidFill>
                  <a:srgbClr val="152E48"/>
                </a:solidFill>
                <a:latin typeface="Segoe UI"/>
                <a:ea typeface="Segoe UI"/>
                <a:cs typeface="Segoe UI"/>
              </a:defRPr>
            </a:lvl6pPr>
            <a:lvl7pPr>
              <a:defRPr sz="1800" b="1">
                <a:solidFill>
                  <a:srgbClr val="152E48"/>
                </a:solidFill>
                <a:latin typeface="Segoe UI"/>
                <a:ea typeface="Segoe UI"/>
                <a:cs typeface="Segoe UI"/>
              </a:defRPr>
            </a:lvl7pPr>
            <a:lvl8pPr>
              <a:defRPr sz="1800" b="1">
                <a:solidFill>
                  <a:srgbClr val="152E48"/>
                </a:solidFill>
                <a:latin typeface="Segoe UI"/>
                <a:ea typeface="Segoe UI"/>
                <a:cs typeface="Segoe UI"/>
              </a:defRPr>
            </a:lvl8pPr>
            <a:lvl9pPr>
              <a:defRPr sz="1800" b="1">
                <a:solidFill>
                  <a:srgbClr val="152E48"/>
                </a:solidFill>
                <a:latin typeface="Segoe UI"/>
                <a:ea typeface="Segoe UI"/>
                <a:cs typeface="Segoe UI"/>
              </a:defRPr>
            </a:lvl9pPr>
          </a:lstStyle>
          <a:p xmlns:a="http://schemas.openxmlformats.org/drawingml/2006/main">
            <a:pPr>
              <a:defRPr sz="1800" b="1">
                <a:solidFill>
                  <a:srgbClr val="152E48"/>
                </a:solidFill>
                <a:latin typeface="Segoe UI"/>
                <a:ea typeface="Segoe UI"/>
                <a:cs typeface="Segoe UI"/>
              </a:defRPr>
            </a:pPr>
            <a:r>
              <a:rPr sz="1800" b="1">
                <a:solidFill>
                  <a:srgbClr val="152E48"/>
                </a:solidFill>
                <a:latin typeface="Segoe UI"/>
                <a:ea typeface="Segoe UI"/>
                <a:cs typeface="Segoe UI"/>
              </a:rPr>
              <a:t>AuditEvent</a:t>
            </a:r>
          </a:p>
        </p:txBody>
      </p:sp>
      <p:sp>
        <p:nvSpPr>
          <p:cNvPr id="17" name="">
            <a:extLst xmlns:a="http://schemas.openxmlformats.org/drawingml/2006/main">
              <a:ext uri="{FF2B5EF4-FFF2-40B4-BE49-F238E27FC236}">
                <a16:creationId xmlns:a16="http://schemas.microsoft.com/office/drawing/2014/main" id="{1E7F8A9B-44F8-4E5A-AC58-9CD4CAC48304}"/>
              </a:ext>
            </a:extLst>
          </p:cNvPr>
          <p:cNvSpPr>
            <a:spLocks xmlns:a="http://schemas.openxmlformats.org/drawingml/2006/main" noGrp="1"/>
          </p:cNvSpPr>
          <p:nvPr/>
        </p:nvSpPr>
        <p:spPr>
          <a:xfrm xmlns:a="http://schemas.openxmlformats.org/drawingml/2006/main">
            <a:off x="771525" y="5162550"/>
            <a:ext cx="6553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171"/>
                </a:solidFill>
                <a:latin typeface="Segoe UI"/>
                <a:ea typeface="Segoe UI"/>
                <a:cs typeface="Segoe UI"/>
              </a:defRPr>
            </a:defPPr>
            <a:lvl1pPr>
              <a:defRPr sz="1425" b="0">
                <a:solidFill>
                  <a:srgbClr val="526171"/>
                </a:solidFill>
                <a:latin typeface="Segoe UI"/>
                <a:ea typeface="Segoe UI"/>
                <a:cs typeface="Segoe UI"/>
              </a:defRPr>
            </a:lvl1pPr>
            <a:lvl2pPr>
              <a:defRPr sz="1425" b="0">
                <a:solidFill>
                  <a:srgbClr val="526171"/>
                </a:solidFill>
                <a:latin typeface="Segoe UI"/>
                <a:ea typeface="Segoe UI"/>
                <a:cs typeface="Segoe UI"/>
              </a:defRPr>
            </a:lvl2pPr>
            <a:lvl3pPr>
              <a:defRPr sz="1425" b="0">
                <a:solidFill>
                  <a:srgbClr val="526171"/>
                </a:solidFill>
                <a:latin typeface="Segoe UI"/>
                <a:ea typeface="Segoe UI"/>
                <a:cs typeface="Segoe UI"/>
              </a:defRPr>
            </a:lvl3pPr>
            <a:lvl4pPr>
              <a:defRPr sz="1425" b="0">
                <a:solidFill>
                  <a:srgbClr val="526171"/>
                </a:solidFill>
                <a:latin typeface="Segoe UI"/>
                <a:ea typeface="Segoe UI"/>
                <a:cs typeface="Segoe UI"/>
              </a:defRPr>
            </a:lvl4pPr>
            <a:lvl5pPr>
              <a:defRPr sz="1425" b="0">
                <a:solidFill>
                  <a:srgbClr val="526171"/>
                </a:solidFill>
                <a:latin typeface="Segoe UI"/>
                <a:ea typeface="Segoe UI"/>
                <a:cs typeface="Segoe UI"/>
              </a:defRPr>
            </a:lvl5pPr>
            <a:lvl6pPr>
              <a:defRPr sz="1425" b="0">
                <a:solidFill>
                  <a:srgbClr val="526171"/>
                </a:solidFill>
                <a:latin typeface="Segoe UI"/>
                <a:ea typeface="Segoe UI"/>
                <a:cs typeface="Segoe UI"/>
              </a:defRPr>
            </a:lvl6pPr>
            <a:lvl7pPr>
              <a:defRPr sz="1425" b="0">
                <a:solidFill>
                  <a:srgbClr val="526171"/>
                </a:solidFill>
                <a:latin typeface="Segoe UI"/>
                <a:ea typeface="Segoe UI"/>
                <a:cs typeface="Segoe UI"/>
              </a:defRPr>
            </a:lvl7pPr>
            <a:lvl8pPr>
              <a:defRPr sz="1425" b="0">
                <a:solidFill>
                  <a:srgbClr val="526171"/>
                </a:solidFill>
                <a:latin typeface="Segoe UI"/>
                <a:ea typeface="Segoe UI"/>
                <a:cs typeface="Segoe UI"/>
              </a:defRPr>
            </a:lvl8pPr>
            <a:lvl9pPr>
              <a:defRPr sz="1425" b="0">
                <a:solidFill>
                  <a:srgbClr val="526171"/>
                </a:solidFill>
                <a:latin typeface="Segoe UI"/>
                <a:ea typeface="Segoe UI"/>
                <a:cs typeface="Segoe UI"/>
              </a:defRPr>
            </a:lvl9pPr>
          </a:lstStyle>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actor_id / target_user_id / parcel_id (nullable FKs)</a:t>
            </a:r>
          </a:p>
          <a:p xmlns:a="http://schemas.openxmlformats.org/drawingml/2006/main">
            <a:pPr>
              <a:defRPr sz="1425" b="0">
                <a:solidFill>
                  <a:srgbClr val="526171"/>
                </a:solidFill>
                <a:latin typeface="Segoe UI"/>
                <a:ea typeface="Segoe UI"/>
                <a:cs typeface="Segoe UI"/>
              </a:defRPr>
            </a:pPr>
            <a:r>
              <a:rPr sz="1425" b="0">
                <a:solidFill>
                  <a:srgbClr val="526171"/>
                </a:solidFill>
                <a:latin typeface="Segoe UI"/>
                <a:ea typeface="Segoe UI"/>
                <a:cs typeface="Segoe UI"/>
              </a:rPr>
              <a:t>event_type / outcome / occurred_at / safe_details</a:t>
            </a:r>
          </a:p>
        </p:txBody>
      </p:sp>
      <p:sp>
        <p:nvSpPr>
          <p:cNvPr id="23" name="">
            <a:extLst xmlns:a="http://schemas.openxmlformats.org/drawingml/2006/main">
              <a:ext uri="{FF2B5EF4-FFF2-40B4-BE49-F238E27FC236}">
                <a16:creationId xmlns:a16="http://schemas.microsoft.com/office/drawing/2014/main" id="{19C4CE6B-E11C-410A-A905-043D0D96DB0B}"/>
              </a:ext>
            </a:extLst>
          </p:cNvPr>
          <p:cNvSpPr>
            <a:spLocks xmlns:a="http://schemas.openxmlformats.org/drawingml/2006/main" noGrp="1"/>
          </p:cNvSpPr>
          <p:nvPr/>
        </p:nvSpPr>
        <p:spPr>
          <a:xfrm xmlns:a="http://schemas.openxmlformats.org/drawingml/2006/main">
            <a:off x="3333750" y="1762125"/>
            <a:ext cx="128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Seller: 1 to many</a:t>
            </a:r>
          </a:p>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Rider: 0..1 to many</a:t>
            </a:r>
          </a:p>
        </p:txBody>
      </p:sp>
      <p:sp>
        <p:nvSpPr>
          <p:cNvPr id="24" name="">
            <a:extLst xmlns:a="http://schemas.openxmlformats.org/drawingml/2006/main">
              <a:ext uri="{FF2B5EF4-FFF2-40B4-BE49-F238E27FC236}">
                <a16:creationId xmlns:a16="http://schemas.microsoft.com/office/drawing/2014/main" id="{2DAA92F1-0163-44FC-AE87-5A4F5515902B}"/>
              </a:ext>
            </a:extLst>
          </p:cNvPr>
          <p:cNvSpPr>
            <a:spLocks xmlns:a="http://schemas.openxmlformats.org/drawingml/2006/main" noGrp="1"/>
          </p:cNvSpPr>
          <p:nvPr/>
        </p:nvSpPr>
        <p:spPr>
          <a:xfrm xmlns:a="http://schemas.openxmlformats.org/drawingml/2006/main">
            <a:off x="7667625" y="1619250"/>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1 to many</a:t>
            </a:r>
          </a:p>
        </p:txBody>
      </p:sp>
      <p:sp>
        <p:nvSpPr>
          <p:cNvPr id="25" name="">
            <a:extLst xmlns:a="http://schemas.openxmlformats.org/drawingml/2006/main">
              <a:ext uri="{FF2B5EF4-FFF2-40B4-BE49-F238E27FC236}">
                <a16:creationId xmlns:a16="http://schemas.microsoft.com/office/drawing/2014/main" id="{A113DF5A-0694-4479-94FE-84A07BD7908C}"/>
              </a:ext>
            </a:extLst>
          </p:cNvPr>
          <p:cNvSpPr>
            <a:spLocks xmlns:a="http://schemas.openxmlformats.org/drawingml/2006/main" noGrp="1"/>
          </p:cNvSpPr>
          <p:nvPr/>
        </p:nvSpPr>
        <p:spPr>
          <a:xfrm xmlns:a="http://schemas.openxmlformats.org/drawingml/2006/main">
            <a:off x="7667625" y="4714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1 to 0..1</a:t>
            </a:r>
          </a:p>
        </p:txBody>
      </p:sp>
      <p:sp>
        <p:nvSpPr>
          <p:cNvPr id="26" name="">
            <a:extLst xmlns:a="http://schemas.openxmlformats.org/drawingml/2006/main">
              <a:ext uri="{FF2B5EF4-FFF2-40B4-BE49-F238E27FC236}">
                <a16:creationId xmlns:a16="http://schemas.microsoft.com/office/drawing/2014/main" id="{30CC461E-4497-43E3-A982-51EAA442D4AC}"/>
              </a:ext>
            </a:extLst>
          </p:cNvPr>
          <p:cNvSpPr>
            <a:spLocks xmlns:a="http://schemas.openxmlformats.org/drawingml/2006/main" noGrp="1"/>
          </p:cNvSpPr>
          <p:nvPr/>
        </p:nvSpPr>
        <p:spPr>
          <a:xfrm xmlns:a="http://schemas.openxmlformats.org/drawingml/2006/main">
            <a:off x="666750" y="619125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171"/>
                </a:solidFill>
                <a:latin typeface="Segoe UI"/>
                <a:ea typeface="Segoe UI"/>
                <a:cs typeface="Segoe UI"/>
              </a:defRPr>
            </a:defPPr>
            <a:lvl1pPr>
              <a:defRPr sz="1575" b="0">
                <a:solidFill>
                  <a:srgbClr val="526171"/>
                </a:solidFill>
                <a:latin typeface="Segoe UI"/>
                <a:ea typeface="Segoe UI"/>
                <a:cs typeface="Segoe UI"/>
              </a:defRPr>
            </a:lvl1pPr>
            <a:lvl2pPr>
              <a:defRPr sz="1575" b="0">
                <a:solidFill>
                  <a:srgbClr val="526171"/>
                </a:solidFill>
                <a:latin typeface="Segoe UI"/>
                <a:ea typeface="Segoe UI"/>
                <a:cs typeface="Segoe UI"/>
              </a:defRPr>
            </a:lvl2pPr>
            <a:lvl3pPr>
              <a:defRPr sz="1575" b="0">
                <a:solidFill>
                  <a:srgbClr val="526171"/>
                </a:solidFill>
                <a:latin typeface="Segoe UI"/>
                <a:ea typeface="Segoe UI"/>
                <a:cs typeface="Segoe UI"/>
              </a:defRPr>
            </a:lvl3pPr>
            <a:lvl4pPr>
              <a:defRPr sz="1575" b="0">
                <a:solidFill>
                  <a:srgbClr val="526171"/>
                </a:solidFill>
                <a:latin typeface="Segoe UI"/>
                <a:ea typeface="Segoe UI"/>
                <a:cs typeface="Segoe UI"/>
              </a:defRPr>
            </a:lvl4pPr>
            <a:lvl5pPr>
              <a:defRPr sz="1575" b="0">
                <a:solidFill>
                  <a:srgbClr val="526171"/>
                </a:solidFill>
                <a:latin typeface="Segoe UI"/>
                <a:ea typeface="Segoe UI"/>
                <a:cs typeface="Segoe UI"/>
              </a:defRPr>
            </a:lvl5pPr>
            <a:lvl6pPr>
              <a:defRPr sz="1575" b="0">
                <a:solidFill>
                  <a:srgbClr val="526171"/>
                </a:solidFill>
                <a:latin typeface="Segoe UI"/>
                <a:ea typeface="Segoe UI"/>
                <a:cs typeface="Segoe UI"/>
              </a:defRPr>
            </a:lvl6pPr>
            <a:lvl7pPr>
              <a:defRPr sz="1575" b="0">
                <a:solidFill>
                  <a:srgbClr val="526171"/>
                </a:solidFill>
                <a:latin typeface="Segoe UI"/>
                <a:ea typeface="Segoe UI"/>
                <a:cs typeface="Segoe UI"/>
              </a:defRPr>
            </a:lvl7pPr>
            <a:lvl8pPr>
              <a:defRPr sz="1575" b="0">
                <a:solidFill>
                  <a:srgbClr val="526171"/>
                </a:solidFill>
                <a:latin typeface="Segoe UI"/>
                <a:ea typeface="Segoe UI"/>
                <a:cs typeface="Segoe UI"/>
              </a:defRPr>
            </a:lvl8pPr>
            <a:lvl9pPr>
              <a:defRPr sz="1575" b="0">
                <a:solidFill>
                  <a:srgbClr val="526171"/>
                </a:solidFill>
                <a:latin typeface="Segoe UI"/>
                <a:ea typeface="Segoe UI"/>
                <a:cs typeface="Segoe UI"/>
              </a:defRPr>
            </a:lvl9pPr>
          </a:lstStyle>
          <a:p xmlns:a="http://schemas.openxmlformats.org/drawingml/2006/main">
            <a:pPr>
              <a:defRPr sz="1575" b="0">
                <a:solidFill>
                  <a:srgbClr val="526171"/>
                </a:solidFill>
                <a:latin typeface="Segoe UI"/>
                <a:ea typeface="Segoe UI"/>
                <a:cs typeface="Segoe UI"/>
              </a:defRPr>
            </a:pPr>
            <a:r>
              <a:rPr sz="1575" b="0">
                <a:solidFill>
                  <a:srgbClr val="526171"/>
                </a:solidFill>
                <a:latin typeface="Segoe UI"/>
                <a:ea typeface="Segoe UI"/>
                <a:cs typeface="Segoe UI"/>
              </a:rPr>
              <a:t>Conceptual design. Session and rate-limit infrastructure omitted.</a:t>
            </a:r>
          </a:p>
        </p:txBody>
      </p:sp>
    </p:spTree>
    <p:extLst>
      <p:ext uri="{BB962C8B-B14F-4D97-AF65-F5344CB8AC3E}">
        <p14:creationId xmlns:p14="http://schemas.microsoft.com/office/powerpoint/2010/main" val="9626207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995F8C-5D2F-4A4D-8A2D-F739D15108C5}"/>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M1 Login and User Management</a:t>
            </a:r>
          </a:p>
        </p:txBody>
      </p:sp>
      <p:sp>
        <p:nvSpPr>
          <p:cNvPr id="2" name="">
            <a:extLst xmlns:a="http://schemas.openxmlformats.org/drawingml/2006/main">
              <a:ext uri="{FF2B5EF4-FFF2-40B4-BE49-F238E27FC236}">
                <a16:creationId xmlns:a16="http://schemas.microsoft.com/office/drawing/2014/main" id="{49A37297-4C5F-4C3E-AEB4-421E3B1699CF}"/>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05</a:t>
            </a:r>
          </a:p>
        </p:txBody>
      </p:sp>
      <p:sp>
        <p:nvSpPr>
          <p:cNvPr id="3" name="">
            <a:extLst xmlns:a="http://schemas.openxmlformats.org/drawingml/2006/main">
              <a:ext uri="{FF2B5EF4-FFF2-40B4-BE49-F238E27FC236}">
                <a16:creationId xmlns:a16="http://schemas.microsoft.com/office/drawing/2014/main" id="{2C1F5459-D1A5-4573-92B7-8D805A527CD1}"/>
              </a:ext>
            </a:extLst>
          </p:cNvPr>
          <p:cNvSpPr>
            <a:spLocks xmlns:a="http://schemas.openxmlformats.org/drawingml/2006/main" noGrp="1"/>
          </p:cNvSpPr>
          <p:nvPr/>
        </p:nvSpPr>
        <p:spPr>
          <a:xfrm xmlns:a="http://schemas.openxmlformats.org/drawingml/2006/main">
            <a:off x="619125" y="18573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94110"/>
                </a:solidFill>
                <a:latin typeface="Segoe UI"/>
                <a:ea typeface="Segoe UI"/>
                <a:cs typeface="Segoe UI"/>
              </a:defRPr>
            </a:defPPr>
            <a:lvl1pPr>
              <a:defRPr sz="1950" b="1">
                <a:solidFill>
                  <a:srgbClr val="A94110"/>
                </a:solidFill>
                <a:latin typeface="Segoe UI"/>
                <a:ea typeface="Segoe UI"/>
                <a:cs typeface="Segoe UI"/>
              </a:defRPr>
            </a:lvl1pPr>
            <a:lvl2pPr>
              <a:defRPr sz="1950" b="1">
                <a:solidFill>
                  <a:srgbClr val="A94110"/>
                </a:solidFill>
                <a:latin typeface="Segoe UI"/>
                <a:ea typeface="Segoe UI"/>
                <a:cs typeface="Segoe UI"/>
              </a:defRPr>
            </a:lvl2pPr>
            <a:lvl3pPr>
              <a:defRPr sz="1950" b="1">
                <a:solidFill>
                  <a:srgbClr val="A94110"/>
                </a:solidFill>
                <a:latin typeface="Segoe UI"/>
                <a:ea typeface="Segoe UI"/>
                <a:cs typeface="Segoe UI"/>
              </a:defRPr>
            </a:lvl3pPr>
            <a:lvl4pPr>
              <a:defRPr sz="1950" b="1">
                <a:solidFill>
                  <a:srgbClr val="A94110"/>
                </a:solidFill>
                <a:latin typeface="Segoe UI"/>
                <a:ea typeface="Segoe UI"/>
                <a:cs typeface="Segoe UI"/>
              </a:defRPr>
            </a:lvl4pPr>
            <a:lvl5pPr>
              <a:defRPr sz="1950" b="1">
                <a:solidFill>
                  <a:srgbClr val="A94110"/>
                </a:solidFill>
                <a:latin typeface="Segoe UI"/>
                <a:ea typeface="Segoe UI"/>
                <a:cs typeface="Segoe UI"/>
              </a:defRPr>
            </a:lvl5pPr>
            <a:lvl6pPr>
              <a:defRPr sz="1950" b="1">
                <a:solidFill>
                  <a:srgbClr val="A94110"/>
                </a:solidFill>
                <a:latin typeface="Segoe UI"/>
                <a:ea typeface="Segoe UI"/>
                <a:cs typeface="Segoe UI"/>
              </a:defRPr>
            </a:lvl6pPr>
            <a:lvl7pPr>
              <a:defRPr sz="1950" b="1">
                <a:solidFill>
                  <a:srgbClr val="A94110"/>
                </a:solidFill>
                <a:latin typeface="Segoe UI"/>
                <a:ea typeface="Segoe UI"/>
                <a:cs typeface="Segoe UI"/>
              </a:defRPr>
            </a:lvl7pPr>
            <a:lvl8pPr>
              <a:defRPr sz="1950" b="1">
                <a:solidFill>
                  <a:srgbClr val="A94110"/>
                </a:solidFill>
                <a:latin typeface="Segoe UI"/>
                <a:ea typeface="Segoe UI"/>
                <a:cs typeface="Segoe UI"/>
              </a:defRPr>
            </a:lvl8pPr>
            <a:lvl9pPr>
              <a:defRPr sz="1950" b="1">
                <a:solidFill>
                  <a:srgbClr val="A94110"/>
                </a:solidFill>
                <a:latin typeface="Segoe UI"/>
                <a:ea typeface="Segoe UI"/>
                <a:cs typeface="Segoe UI"/>
              </a:defRPr>
            </a:lvl9pPr>
          </a:lstStyle>
          <a:p xmlns:a="http://schemas.openxmlformats.org/drawingml/2006/main">
            <a:pPr>
              <a:defRPr sz="1950" b="1">
                <a:solidFill>
                  <a:srgbClr val="A94110"/>
                </a:solidFill>
                <a:latin typeface="Segoe UI"/>
                <a:ea typeface="Segoe UI"/>
                <a:cs typeface="Segoe UI"/>
              </a:defRPr>
            </a:pPr>
            <a:r>
              <a:rPr sz="1950" b="1">
                <a:solidFill>
                  <a:srgbClr val="A94110"/>
                </a:solidFill>
                <a:latin typeface="Segoe UI"/>
                <a:ea typeface="Segoe UI"/>
                <a:cs typeface="Segoe UI"/>
              </a:rPr>
              <a:t>Owner: Naszrul</a:t>
            </a:r>
          </a:p>
        </p:txBody>
      </p:sp>
      <p:sp>
        <p:nvSpPr>
          <p:cNvPr id="4" name="">
            <a:extLst xmlns:a="http://schemas.openxmlformats.org/drawingml/2006/main">
              <a:ext uri="{FF2B5EF4-FFF2-40B4-BE49-F238E27FC236}">
                <a16:creationId xmlns:a16="http://schemas.microsoft.com/office/drawing/2014/main" id="{18F3D146-A9E9-47ED-8FCF-28A18795126F}"/>
              </a:ext>
            </a:extLst>
          </p:cNvPr>
          <p:cNvSpPr>
            <a:spLocks xmlns:a="http://schemas.openxmlformats.org/drawingml/2006/main" noGrp="1"/>
          </p:cNvSpPr>
          <p:nvPr/>
        </p:nvSpPr>
        <p:spPr>
          <a:xfrm xmlns:a="http://schemas.openxmlformats.org/drawingml/2006/main">
            <a:off x="619125" y="285750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Username/password sign-in and role pages</a:t>
            </a:r>
          </a:p>
        </p:txBody>
      </p:sp>
      <p:sp>
        <p:nvSpPr>
          <p:cNvPr id="5" name="">
            <a:extLst xmlns:a="http://schemas.openxmlformats.org/drawingml/2006/main">
              <a:ext uri="{FF2B5EF4-FFF2-40B4-BE49-F238E27FC236}">
                <a16:creationId xmlns:a16="http://schemas.microsoft.com/office/drawing/2014/main" id="{F486C774-F9AB-4F51-9643-AAAB4619F94B}"/>
              </a:ext>
            </a:extLst>
          </p:cNvPr>
          <p:cNvSpPr>
            <a:spLocks xmlns:a="http://schemas.openxmlformats.org/drawingml/2006/main" noGrp="1"/>
          </p:cNvSpPr>
          <p:nvPr/>
        </p:nvSpPr>
        <p:spPr>
          <a:xfrm xmlns:a="http://schemas.openxmlformats.org/drawingml/2006/main">
            <a:off x="619125" y="38576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Seller registration and Rider management</a:t>
            </a:r>
          </a:p>
        </p:txBody>
      </p:sp>
      <p:sp>
        <p:nvSpPr>
          <p:cNvPr id="6" name="">
            <a:extLst xmlns:a="http://schemas.openxmlformats.org/drawingml/2006/main">
              <a:ext uri="{FF2B5EF4-FFF2-40B4-BE49-F238E27FC236}">
                <a16:creationId xmlns:a16="http://schemas.microsoft.com/office/drawing/2014/main" id="{152192B2-EC1E-4AAF-9014-38D02B61277F}"/>
              </a:ext>
            </a:extLst>
          </p:cNvPr>
          <p:cNvSpPr>
            <a:spLocks xmlns:a="http://schemas.openxmlformats.org/drawingml/2006/main" noGrp="1"/>
          </p:cNvSpPr>
          <p:nvPr/>
        </p:nvSpPr>
        <p:spPr>
          <a:xfrm xmlns:a="http://schemas.openxmlformats.org/drawingml/2006/main">
            <a:off x="619125" y="48577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Authentication is simulated</a:t>
            </a:r>
          </a:p>
        </p:txBody>
      </p:sp>
      <p:pic>
        <p:nvPicPr>
          <p:cNvPr id="7" name="">
            <a:extLst xmlns:a="http://schemas.openxmlformats.org/drawingml/2006/main">
              <a:ext uri="{FF2B5EF4-FFF2-40B4-BE49-F238E27FC236}">
                <a16:creationId xmlns:a16="http://schemas.microsoft.com/office/drawing/2014/main" id="{C25AFBD3-6A18-4719-B998-4324E1743D3B}"/>
              </a:ext>
            </a:extLst>
          </p:cNvPr>
          <p:cNvPicPr>
            <a:picLocks xmlns:a="http://schemas.openxmlformats.org/drawingml/2006/main" noChangeAspect="1"/>
          </p:cNvPicPr>
          <p:nvPr/>
        </p:nvPicPr>
        <p:blipFill>
          <a:blip xmlns:r="http://schemas.openxmlformats.org/officeDocument/2006/relationships" xmlns:a="http://schemas.openxmlformats.org/drawingml/2006/main" r:embed="Red9c9216a20e46c5"/>
          <a:stretch xmlns:a="http://schemas.openxmlformats.org/drawingml/2006/main"/>
        </p:blipFill>
        <p:spPr>
          <a:xfrm xmlns:a="http://schemas.openxmlformats.org/drawingml/2006/main">
            <a:off x="5628433" y="1571625"/>
            <a:ext cx="4078385" cy="4333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B0EDB78-97CB-4E80-86FC-FA62F8118708}"/>
              </a:ext>
            </a:extLst>
          </p:cNvPr>
          <p:cNvSpPr>
            <a:spLocks xmlns:a="http://schemas.openxmlformats.org/drawingml/2006/main" noGrp="1"/>
          </p:cNvSpPr>
          <p:nvPr/>
        </p:nvSpPr>
        <p:spPr>
          <a:xfrm xmlns:a="http://schemas.openxmlformats.org/drawingml/2006/main">
            <a:off x="3762375" y="60198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171"/>
                </a:solidFill>
                <a:latin typeface="Segoe UI"/>
                <a:ea typeface="Segoe UI"/>
                <a:cs typeface="Segoe UI"/>
              </a:defRPr>
            </a:defPPr>
            <a:lvl1pPr>
              <a:defRPr sz="1500" b="0">
                <a:solidFill>
                  <a:srgbClr val="526171"/>
                </a:solidFill>
                <a:latin typeface="Segoe UI"/>
                <a:ea typeface="Segoe UI"/>
                <a:cs typeface="Segoe UI"/>
              </a:defRPr>
            </a:lvl1pPr>
            <a:lvl2pPr>
              <a:defRPr sz="1500" b="0">
                <a:solidFill>
                  <a:srgbClr val="526171"/>
                </a:solidFill>
                <a:latin typeface="Segoe UI"/>
                <a:ea typeface="Segoe UI"/>
                <a:cs typeface="Segoe UI"/>
              </a:defRPr>
            </a:lvl2pPr>
            <a:lvl3pPr>
              <a:defRPr sz="1500" b="0">
                <a:solidFill>
                  <a:srgbClr val="526171"/>
                </a:solidFill>
                <a:latin typeface="Segoe UI"/>
                <a:ea typeface="Segoe UI"/>
                <a:cs typeface="Segoe UI"/>
              </a:defRPr>
            </a:lvl3pPr>
            <a:lvl4pPr>
              <a:defRPr sz="1500" b="0">
                <a:solidFill>
                  <a:srgbClr val="526171"/>
                </a:solidFill>
                <a:latin typeface="Segoe UI"/>
                <a:ea typeface="Segoe UI"/>
                <a:cs typeface="Segoe UI"/>
              </a:defRPr>
            </a:lvl4pPr>
            <a:lvl5pPr>
              <a:defRPr sz="1500" b="0">
                <a:solidFill>
                  <a:srgbClr val="526171"/>
                </a:solidFill>
                <a:latin typeface="Segoe UI"/>
                <a:ea typeface="Segoe UI"/>
                <a:cs typeface="Segoe UI"/>
              </a:defRPr>
            </a:lvl5pPr>
            <a:lvl6pPr>
              <a:defRPr sz="1500" b="0">
                <a:solidFill>
                  <a:srgbClr val="526171"/>
                </a:solidFill>
                <a:latin typeface="Segoe UI"/>
                <a:ea typeface="Segoe UI"/>
                <a:cs typeface="Segoe UI"/>
              </a:defRPr>
            </a:lvl6pPr>
            <a:lvl7pPr>
              <a:defRPr sz="1500" b="0">
                <a:solidFill>
                  <a:srgbClr val="526171"/>
                </a:solidFill>
                <a:latin typeface="Segoe UI"/>
                <a:ea typeface="Segoe UI"/>
                <a:cs typeface="Segoe UI"/>
              </a:defRPr>
            </a:lvl7pPr>
            <a:lvl8pPr>
              <a:defRPr sz="1500" b="0">
                <a:solidFill>
                  <a:srgbClr val="526171"/>
                </a:solidFill>
                <a:latin typeface="Segoe UI"/>
                <a:ea typeface="Segoe UI"/>
                <a:cs typeface="Segoe UI"/>
              </a:defRPr>
            </a:lvl8pPr>
            <a:lvl9pPr>
              <a:defRPr sz="1500" b="0">
                <a:solidFill>
                  <a:srgbClr val="526171"/>
                </a:solidFill>
                <a:latin typeface="Segoe UI"/>
                <a:ea typeface="Segoe UI"/>
                <a:cs typeface="Segoe UI"/>
              </a:defRPr>
            </a:lvl9pPr>
          </a:lstStyle>
          <a:p xmlns:a="http://schemas.openxmlformats.org/drawingml/2006/main">
            <a:pPr>
              <a:defRPr sz="1500" b="0">
                <a:solidFill>
                  <a:srgbClr val="526171"/>
                </a:solidFill>
                <a:latin typeface="Segoe UI"/>
                <a:ea typeface="Segoe UI"/>
                <a:cs typeface="Segoe UI"/>
              </a:defRPr>
            </a:pPr>
            <a:r>
              <a:rPr sz="1500" b="0">
                <a:solidFill>
                  <a:srgbClr val="526171"/>
                </a:solidFill>
                <a:latin typeface="Segoe UI"/>
                <a:ea typeface="Segoe UI"/>
                <a:cs typeface="Segoe UI"/>
              </a:rPr>
              <a:t>Frontend prototype / synthetic data / backend enforcement planned</a:t>
            </a:r>
          </a:p>
        </p:txBody>
      </p:sp>
    </p:spTree>
    <p:extLst>
      <p:ext uri="{BB962C8B-B14F-4D97-AF65-F5344CB8AC3E}">
        <p14:creationId xmlns:p14="http://schemas.microsoft.com/office/powerpoint/2010/main" val="2131424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0362F6-9794-4C73-9FD6-CA1979E55DC0}"/>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M2 Parcel Registration and Tracking</a:t>
            </a:r>
          </a:p>
        </p:txBody>
      </p:sp>
      <p:sp>
        <p:nvSpPr>
          <p:cNvPr id="2" name="">
            <a:extLst xmlns:a="http://schemas.openxmlformats.org/drawingml/2006/main">
              <a:ext uri="{FF2B5EF4-FFF2-40B4-BE49-F238E27FC236}">
                <a16:creationId xmlns:a16="http://schemas.microsoft.com/office/drawing/2014/main" id="{C49DB157-FBA1-4DD9-A1E3-D86BC8D38102}"/>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06</a:t>
            </a:r>
          </a:p>
        </p:txBody>
      </p:sp>
      <p:sp>
        <p:nvSpPr>
          <p:cNvPr id="3" name="">
            <a:extLst xmlns:a="http://schemas.openxmlformats.org/drawingml/2006/main">
              <a:ext uri="{FF2B5EF4-FFF2-40B4-BE49-F238E27FC236}">
                <a16:creationId xmlns:a16="http://schemas.microsoft.com/office/drawing/2014/main" id="{AC73417E-A7FB-4C70-8EC4-DA619B583781}"/>
              </a:ext>
            </a:extLst>
          </p:cNvPr>
          <p:cNvSpPr>
            <a:spLocks xmlns:a="http://schemas.openxmlformats.org/drawingml/2006/main" noGrp="1"/>
          </p:cNvSpPr>
          <p:nvPr/>
        </p:nvSpPr>
        <p:spPr>
          <a:xfrm xmlns:a="http://schemas.openxmlformats.org/drawingml/2006/main">
            <a:off x="619125" y="18573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94110"/>
                </a:solidFill>
                <a:latin typeface="Segoe UI"/>
                <a:ea typeface="Segoe UI"/>
                <a:cs typeface="Segoe UI"/>
              </a:defRPr>
            </a:defPPr>
            <a:lvl1pPr>
              <a:defRPr sz="1950" b="1">
                <a:solidFill>
                  <a:srgbClr val="A94110"/>
                </a:solidFill>
                <a:latin typeface="Segoe UI"/>
                <a:ea typeface="Segoe UI"/>
                <a:cs typeface="Segoe UI"/>
              </a:defRPr>
            </a:lvl1pPr>
            <a:lvl2pPr>
              <a:defRPr sz="1950" b="1">
                <a:solidFill>
                  <a:srgbClr val="A94110"/>
                </a:solidFill>
                <a:latin typeface="Segoe UI"/>
                <a:ea typeface="Segoe UI"/>
                <a:cs typeface="Segoe UI"/>
              </a:defRPr>
            </a:lvl2pPr>
            <a:lvl3pPr>
              <a:defRPr sz="1950" b="1">
                <a:solidFill>
                  <a:srgbClr val="A94110"/>
                </a:solidFill>
                <a:latin typeface="Segoe UI"/>
                <a:ea typeface="Segoe UI"/>
                <a:cs typeface="Segoe UI"/>
              </a:defRPr>
            </a:lvl3pPr>
            <a:lvl4pPr>
              <a:defRPr sz="1950" b="1">
                <a:solidFill>
                  <a:srgbClr val="A94110"/>
                </a:solidFill>
                <a:latin typeface="Segoe UI"/>
                <a:ea typeface="Segoe UI"/>
                <a:cs typeface="Segoe UI"/>
              </a:defRPr>
            </a:lvl4pPr>
            <a:lvl5pPr>
              <a:defRPr sz="1950" b="1">
                <a:solidFill>
                  <a:srgbClr val="A94110"/>
                </a:solidFill>
                <a:latin typeface="Segoe UI"/>
                <a:ea typeface="Segoe UI"/>
                <a:cs typeface="Segoe UI"/>
              </a:defRPr>
            </a:lvl5pPr>
            <a:lvl6pPr>
              <a:defRPr sz="1950" b="1">
                <a:solidFill>
                  <a:srgbClr val="A94110"/>
                </a:solidFill>
                <a:latin typeface="Segoe UI"/>
                <a:ea typeface="Segoe UI"/>
                <a:cs typeface="Segoe UI"/>
              </a:defRPr>
            </a:lvl6pPr>
            <a:lvl7pPr>
              <a:defRPr sz="1950" b="1">
                <a:solidFill>
                  <a:srgbClr val="A94110"/>
                </a:solidFill>
                <a:latin typeface="Segoe UI"/>
                <a:ea typeface="Segoe UI"/>
                <a:cs typeface="Segoe UI"/>
              </a:defRPr>
            </a:lvl7pPr>
            <a:lvl8pPr>
              <a:defRPr sz="1950" b="1">
                <a:solidFill>
                  <a:srgbClr val="A94110"/>
                </a:solidFill>
                <a:latin typeface="Segoe UI"/>
                <a:ea typeface="Segoe UI"/>
                <a:cs typeface="Segoe UI"/>
              </a:defRPr>
            </a:lvl8pPr>
            <a:lvl9pPr>
              <a:defRPr sz="1950" b="1">
                <a:solidFill>
                  <a:srgbClr val="A94110"/>
                </a:solidFill>
                <a:latin typeface="Segoe UI"/>
                <a:ea typeface="Segoe UI"/>
                <a:cs typeface="Segoe UI"/>
              </a:defRPr>
            </a:lvl9pPr>
          </a:lstStyle>
          <a:p xmlns:a="http://schemas.openxmlformats.org/drawingml/2006/main">
            <a:pPr>
              <a:defRPr sz="1950" b="1">
                <a:solidFill>
                  <a:srgbClr val="A94110"/>
                </a:solidFill>
                <a:latin typeface="Segoe UI"/>
                <a:ea typeface="Segoe UI"/>
                <a:cs typeface="Segoe UI"/>
              </a:defRPr>
            </a:pPr>
            <a:r>
              <a:rPr sz="1950" b="1">
                <a:solidFill>
                  <a:srgbClr val="A94110"/>
                </a:solidFill>
                <a:latin typeface="Segoe UI"/>
                <a:ea typeface="Segoe UI"/>
                <a:cs typeface="Segoe UI"/>
              </a:rPr>
              <a:t>Owner: Zikri</a:t>
            </a:r>
          </a:p>
        </p:txBody>
      </p:sp>
      <p:sp>
        <p:nvSpPr>
          <p:cNvPr id="4" name="">
            <a:extLst xmlns:a="http://schemas.openxmlformats.org/drawingml/2006/main">
              <a:ext uri="{FF2B5EF4-FFF2-40B4-BE49-F238E27FC236}">
                <a16:creationId xmlns:a16="http://schemas.microsoft.com/office/drawing/2014/main" id="{CC1CB7F7-9BA6-4457-BE3C-6ABAC209AA81}"/>
              </a:ext>
            </a:extLst>
          </p:cNvPr>
          <p:cNvSpPr>
            <a:spLocks xmlns:a="http://schemas.openxmlformats.org/drawingml/2006/main" noGrp="1"/>
          </p:cNvSpPr>
          <p:nvPr/>
        </p:nvSpPr>
        <p:spPr>
          <a:xfrm xmlns:a="http://schemas.openxmlformats.org/drawingml/2006/main">
            <a:off x="619125" y="285750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Recipient, phone, address and weight</a:t>
            </a:r>
          </a:p>
        </p:txBody>
      </p:sp>
      <p:sp>
        <p:nvSpPr>
          <p:cNvPr id="5" name="">
            <a:extLst xmlns:a="http://schemas.openxmlformats.org/drawingml/2006/main">
              <a:ext uri="{FF2B5EF4-FFF2-40B4-BE49-F238E27FC236}">
                <a16:creationId xmlns:a16="http://schemas.microsoft.com/office/drawing/2014/main" id="{DAB59BEC-8149-456B-B7EA-5A3698C06877}"/>
              </a:ext>
            </a:extLst>
          </p:cNvPr>
          <p:cNvSpPr>
            <a:spLocks xmlns:a="http://schemas.openxmlformats.org/drawingml/2006/main" noGrp="1"/>
          </p:cNvSpPr>
          <p:nvPr/>
        </p:nvSpPr>
        <p:spPr>
          <a:xfrm xmlns:a="http://schemas.openxmlformats.org/drawingml/2006/main">
            <a:off x="619125" y="38576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Parcel list, search and status history</a:t>
            </a:r>
          </a:p>
        </p:txBody>
      </p:sp>
      <p:sp>
        <p:nvSpPr>
          <p:cNvPr id="6" name="">
            <a:extLst xmlns:a="http://schemas.openxmlformats.org/drawingml/2006/main">
              <a:ext uri="{FF2B5EF4-FFF2-40B4-BE49-F238E27FC236}">
                <a16:creationId xmlns:a16="http://schemas.microsoft.com/office/drawing/2014/main" id="{442160A2-5D02-4B93-A9D6-C8D356D5A013}"/>
              </a:ext>
            </a:extLst>
          </p:cNvPr>
          <p:cNvSpPr>
            <a:spLocks xmlns:a="http://schemas.openxmlformats.org/drawingml/2006/main" noGrp="1"/>
          </p:cNvSpPr>
          <p:nvPr/>
        </p:nvSpPr>
        <p:spPr>
          <a:xfrm xmlns:a="http://schemas.openxmlformats.org/drawingml/2006/main">
            <a:off x="619125" y="48577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Sample records persist in this browser</a:t>
            </a:r>
          </a:p>
        </p:txBody>
      </p:sp>
      <p:pic>
        <p:nvPicPr>
          <p:cNvPr id="7" name="">
            <a:extLst xmlns:a="http://schemas.openxmlformats.org/drawingml/2006/main">
              <a:ext uri="{FF2B5EF4-FFF2-40B4-BE49-F238E27FC236}">
                <a16:creationId xmlns:a16="http://schemas.microsoft.com/office/drawing/2014/main" id="{418C2FDB-07D6-4AD4-8309-5CFCE46CEB6E}"/>
              </a:ext>
            </a:extLst>
          </p:cNvPr>
          <p:cNvPicPr>
            <a:picLocks xmlns:a="http://schemas.openxmlformats.org/drawingml/2006/main" noChangeAspect="1"/>
          </p:cNvPicPr>
          <p:nvPr/>
        </p:nvPicPr>
        <p:blipFill>
          <a:blip xmlns:r="http://schemas.openxmlformats.org/officeDocument/2006/relationships" xmlns:a="http://schemas.openxmlformats.org/drawingml/2006/main" r:embed="R9c4dd30408d34a63"/>
          <a:stretch xmlns:a="http://schemas.openxmlformats.org/drawingml/2006/main"/>
        </p:blipFill>
        <p:spPr>
          <a:xfrm xmlns:a="http://schemas.openxmlformats.org/drawingml/2006/main">
            <a:off x="3762375" y="2483807"/>
            <a:ext cx="7810500" cy="250951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3821629-3360-4329-9CAE-6945E1D859D6}"/>
              </a:ext>
            </a:extLst>
          </p:cNvPr>
          <p:cNvSpPr>
            <a:spLocks xmlns:a="http://schemas.openxmlformats.org/drawingml/2006/main" noGrp="1"/>
          </p:cNvSpPr>
          <p:nvPr/>
        </p:nvSpPr>
        <p:spPr>
          <a:xfrm xmlns:a="http://schemas.openxmlformats.org/drawingml/2006/main">
            <a:off x="3762375" y="60198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171"/>
                </a:solidFill>
                <a:latin typeface="Segoe UI"/>
                <a:ea typeface="Segoe UI"/>
                <a:cs typeface="Segoe UI"/>
              </a:defRPr>
            </a:defPPr>
            <a:lvl1pPr>
              <a:defRPr sz="1500" b="0">
                <a:solidFill>
                  <a:srgbClr val="526171"/>
                </a:solidFill>
                <a:latin typeface="Segoe UI"/>
                <a:ea typeface="Segoe UI"/>
                <a:cs typeface="Segoe UI"/>
              </a:defRPr>
            </a:lvl1pPr>
            <a:lvl2pPr>
              <a:defRPr sz="1500" b="0">
                <a:solidFill>
                  <a:srgbClr val="526171"/>
                </a:solidFill>
                <a:latin typeface="Segoe UI"/>
                <a:ea typeface="Segoe UI"/>
                <a:cs typeface="Segoe UI"/>
              </a:defRPr>
            </a:lvl2pPr>
            <a:lvl3pPr>
              <a:defRPr sz="1500" b="0">
                <a:solidFill>
                  <a:srgbClr val="526171"/>
                </a:solidFill>
                <a:latin typeface="Segoe UI"/>
                <a:ea typeface="Segoe UI"/>
                <a:cs typeface="Segoe UI"/>
              </a:defRPr>
            </a:lvl3pPr>
            <a:lvl4pPr>
              <a:defRPr sz="1500" b="0">
                <a:solidFill>
                  <a:srgbClr val="526171"/>
                </a:solidFill>
                <a:latin typeface="Segoe UI"/>
                <a:ea typeface="Segoe UI"/>
                <a:cs typeface="Segoe UI"/>
              </a:defRPr>
            </a:lvl4pPr>
            <a:lvl5pPr>
              <a:defRPr sz="1500" b="0">
                <a:solidFill>
                  <a:srgbClr val="526171"/>
                </a:solidFill>
                <a:latin typeface="Segoe UI"/>
                <a:ea typeface="Segoe UI"/>
                <a:cs typeface="Segoe UI"/>
              </a:defRPr>
            </a:lvl5pPr>
            <a:lvl6pPr>
              <a:defRPr sz="1500" b="0">
                <a:solidFill>
                  <a:srgbClr val="526171"/>
                </a:solidFill>
                <a:latin typeface="Segoe UI"/>
                <a:ea typeface="Segoe UI"/>
                <a:cs typeface="Segoe UI"/>
              </a:defRPr>
            </a:lvl6pPr>
            <a:lvl7pPr>
              <a:defRPr sz="1500" b="0">
                <a:solidFill>
                  <a:srgbClr val="526171"/>
                </a:solidFill>
                <a:latin typeface="Segoe UI"/>
                <a:ea typeface="Segoe UI"/>
                <a:cs typeface="Segoe UI"/>
              </a:defRPr>
            </a:lvl7pPr>
            <a:lvl8pPr>
              <a:defRPr sz="1500" b="0">
                <a:solidFill>
                  <a:srgbClr val="526171"/>
                </a:solidFill>
                <a:latin typeface="Segoe UI"/>
                <a:ea typeface="Segoe UI"/>
                <a:cs typeface="Segoe UI"/>
              </a:defRPr>
            </a:lvl8pPr>
            <a:lvl9pPr>
              <a:defRPr sz="1500" b="0">
                <a:solidFill>
                  <a:srgbClr val="526171"/>
                </a:solidFill>
                <a:latin typeface="Segoe UI"/>
                <a:ea typeface="Segoe UI"/>
                <a:cs typeface="Segoe UI"/>
              </a:defRPr>
            </a:lvl9pPr>
          </a:lstStyle>
          <a:p xmlns:a="http://schemas.openxmlformats.org/drawingml/2006/main">
            <a:pPr>
              <a:defRPr sz="1500" b="0">
                <a:solidFill>
                  <a:srgbClr val="526171"/>
                </a:solidFill>
                <a:latin typeface="Segoe UI"/>
                <a:ea typeface="Segoe UI"/>
                <a:cs typeface="Segoe UI"/>
              </a:defRPr>
            </a:pPr>
            <a:r>
              <a:rPr sz="1500" b="0">
                <a:solidFill>
                  <a:srgbClr val="526171"/>
                </a:solidFill>
                <a:latin typeface="Segoe UI"/>
                <a:ea typeface="Segoe UI"/>
                <a:cs typeface="Segoe UI"/>
              </a:rPr>
              <a:t>Frontend prototype / synthetic data / backend enforcement planned</a:t>
            </a:r>
          </a:p>
        </p:txBody>
      </p:sp>
    </p:spTree>
    <p:extLst>
      <p:ext uri="{BB962C8B-B14F-4D97-AF65-F5344CB8AC3E}">
        <p14:creationId xmlns:p14="http://schemas.microsoft.com/office/powerpoint/2010/main" val="9826396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17622C-038B-4CCF-8AB6-0D6C3FF9346D}"/>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M3 Delivery Update and Dashboard</a:t>
            </a:r>
          </a:p>
        </p:txBody>
      </p:sp>
      <p:sp>
        <p:nvSpPr>
          <p:cNvPr id="2" name="">
            <a:extLst xmlns:a="http://schemas.openxmlformats.org/drawingml/2006/main">
              <a:ext uri="{FF2B5EF4-FFF2-40B4-BE49-F238E27FC236}">
                <a16:creationId xmlns:a16="http://schemas.microsoft.com/office/drawing/2014/main" id="{BF04D2DC-0C5F-4165-8059-FB72B921C057}"/>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07</a:t>
            </a:r>
          </a:p>
        </p:txBody>
      </p:sp>
      <p:sp>
        <p:nvSpPr>
          <p:cNvPr id="3" name="">
            <a:extLst xmlns:a="http://schemas.openxmlformats.org/drawingml/2006/main">
              <a:ext uri="{FF2B5EF4-FFF2-40B4-BE49-F238E27FC236}">
                <a16:creationId xmlns:a16="http://schemas.microsoft.com/office/drawing/2014/main" id="{639B909D-8F05-44BE-BC66-B425C0C3C92B}"/>
              </a:ext>
            </a:extLst>
          </p:cNvPr>
          <p:cNvSpPr>
            <a:spLocks xmlns:a="http://schemas.openxmlformats.org/drawingml/2006/main" noGrp="1"/>
          </p:cNvSpPr>
          <p:nvPr/>
        </p:nvSpPr>
        <p:spPr>
          <a:xfrm xmlns:a="http://schemas.openxmlformats.org/drawingml/2006/main">
            <a:off x="619125" y="18573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94110"/>
                </a:solidFill>
                <a:latin typeface="Segoe UI"/>
                <a:ea typeface="Segoe UI"/>
                <a:cs typeface="Segoe UI"/>
              </a:defRPr>
            </a:defPPr>
            <a:lvl1pPr>
              <a:defRPr sz="1950" b="1">
                <a:solidFill>
                  <a:srgbClr val="A94110"/>
                </a:solidFill>
                <a:latin typeface="Segoe UI"/>
                <a:ea typeface="Segoe UI"/>
                <a:cs typeface="Segoe UI"/>
              </a:defRPr>
            </a:lvl1pPr>
            <a:lvl2pPr>
              <a:defRPr sz="1950" b="1">
                <a:solidFill>
                  <a:srgbClr val="A94110"/>
                </a:solidFill>
                <a:latin typeface="Segoe UI"/>
                <a:ea typeface="Segoe UI"/>
                <a:cs typeface="Segoe UI"/>
              </a:defRPr>
            </a:lvl2pPr>
            <a:lvl3pPr>
              <a:defRPr sz="1950" b="1">
                <a:solidFill>
                  <a:srgbClr val="A94110"/>
                </a:solidFill>
                <a:latin typeface="Segoe UI"/>
                <a:ea typeface="Segoe UI"/>
                <a:cs typeface="Segoe UI"/>
              </a:defRPr>
            </a:lvl3pPr>
            <a:lvl4pPr>
              <a:defRPr sz="1950" b="1">
                <a:solidFill>
                  <a:srgbClr val="A94110"/>
                </a:solidFill>
                <a:latin typeface="Segoe UI"/>
                <a:ea typeface="Segoe UI"/>
                <a:cs typeface="Segoe UI"/>
              </a:defRPr>
            </a:lvl4pPr>
            <a:lvl5pPr>
              <a:defRPr sz="1950" b="1">
                <a:solidFill>
                  <a:srgbClr val="A94110"/>
                </a:solidFill>
                <a:latin typeface="Segoe UI"/>
                <a:ea typeface="Segoe UI"/>
                <a:cs typeface="Segoe UI"/>
              </a:defRPr>
            </a:lvl5pPr>
            <a:lvl6pPr>
              <a:defRPr sz="1950" b="1">
                <a:solidFill>
                  <a:srgbClr val="A94110"/>
                </a:solidFill>
                <a:latin typeface="Segoe UI"/>
                <a:ea typeface="Segoe UI"/>
                <a:cs typeface="Segoe UI"/>
              </a:defRPr>
            </a:lvl6pPr>
            <a:lvl7pPr>
              <a:defRPr sz="1950" b="1">
                <a:solidFill>
                  <a:srgbClr val="A94110"/>
                </a:solidFill>
                <a:latin typeface="Segoe UI"/>
                <a:ea typeface="Segoe UI"/>
                <a:cs typeface="Segoe UI"/>
              </a:defRPr>
            </a:lvl7pPr>
            <a:lvl8pPr>
              <a:defRPr sz="1950" b="1">
                <a:solidFill>
                  <a:srgbClr val="A94110"/>
                </a:solidFill>
                <a:latin typeface="Segoe UI"/>
                <a:ea typeface="Segoe UI"/>
                <a:cs typeface="Segoe UI"/>
              </a:defRPr>
            </a:lvl8pPr>
            <a:lvl9pPr>
              <a:defRPr sz="1950" b="1">
                <a:solidFill>
                  <a:srgbClr val="A94110"/>
                </a:solidFill>
                <a:latin typeface="Segoe UI"/>
                <a:ea typeface="Segoe UI"/>
                <a:cs typeface="Segoe UI"/>
              </a:defRPr>
            </a:lvl9pPr>
          </a:lstStyle>
          <a:p xmlns:a="http://schemas.openxmlformats.org/drawingml/2006/main">
            <a:pPr>
              <a:defRPr sz="1950" b="1">
                <a:solidFill>
                  <a:srgbClr val="A94110"/>
                </a:solidFill>
                <a:latin typeface="Segoe UI"/>
                <a:ea typeface="Segoe UI"/>
                <a:cs typeface="Segoe UI"/>
              </a:defRPr>
            </a:pPr>
            <a:r>
              <a:rPr sz="1950" b="1">
                <a:solidFill>
                  <a:srgbClr val="A94110"/>
                </a:solidFill>
                <a:latin typeface="Segoe UI"/>
                <a:ea typeface="Segoe UI"/>
                <a:cs typeface="Segoe UI"/>
              </a:rPr>
              <a:t>Owner: Syauqi</a:t>
            </a:r>
          </a:p>
        </p:txBody>
      </p:sp>
      <p:sp>
        <p:nvSpPr>
          <p:cNvPr id="4" name="">
            <a:extLst xmlns:a="http://schemas.openxmlformats.org/drawingml/2006/main">
              <a:ext uri="{FF2B5EF4-FFF2-40B4-BE49-F238E27FC236}">
                <a16:creationId xmlns:a16="http://schemas.microsoft.com/office/drawing/2014/main" id="{09CDD89F-3E0B-48AF-90D1-398DC02D217F}"/>
              </a:ext>
            </a:extLst>
          </p:cNvPr>
          <p:cNvSpPr>
            <a:spLocks xmlns:a="http://schemas.openxmlformats.org/drawingml/2006/main" noGrp="1"/>
          </p:cNvSpPr>
          <p:nvPr/>
        </p:nvSpPr>
        <p:spPr>
          <a:xfrm xmlns:a="http://schemas.openxmlformats.org/drawingml/2006/main">
            <a:off x="619125" y="285750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Admin assignment and five status counts</a:t>
            </a:r>
          </a:p>
        </p:txBody>
      </p:sp>
      <p:sp>
        <p:nvSpPr>
          <p:cNvPr id="5" name="">
            <a:extLst xmlns:a="http://schemas.openxmlformats.org/drawingml/2006/main">
              <a:ext uri="{FF2B5EF4-FFF2-40B4-BE49-F238E27FC236}">
                <a16:creationId xmlns:a16="http://schemas.microsoft.com/office/drawing/2014/main" id="{A62014BB-E58F-4F64-80A0-79E04644799D}"/>
              </a:ext>
            </a:extLst>
          </p:cNvPr>
          <p:cNvSpPr>
            <a:spLocks xmlns:a="http://schemas.openxmlformats.org/drawingml/2006/main" noGrp="1"/>
          </p:cNvSpPr>
          <p:nvPr/>
        </p:nvSpPr>
        <p:spPr>
          <a:xfrm xmlns:a="http://schemas.openxmlformats.org/drawingml/2006/main">
            <a:off x="619125" y="38576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Rider list, delivery outcome and proof</a:t>
            </a:r>
          </a:p>
        </p:txBody>
      </p:sp>
      <p:sp>
        <p:nvSpPr>
          <p:cNvPr id="6" name="">
            <a:extLst xmlns:a="http://schemas.openxmlformats.org/drawingml/2006/main">
              <a:ext uri="{FF2B5EF4-FFF2-40B4-BE49-F238E27FC236}">
                <a16:creationId xmlns:a16="http://schemas.microsoft.com/office/drawing/2014/main" id="{FE84D1DC-0209-44CF-9EDE-D93DD3936EFE}"/>
              </a:ext>
            </a:extLst>
          </p:cNvPr>
          <p:cNvSpPr>
            <a:spLocks xmlns:a="http://schemas.openxmlformats.org/drawingml/2006/main" noGrp="1"/>
          </p:cNvSpPr>
          <p:nvPr/>
        </p:nvSpPr>
        <p:spPr>
          <a:xfrm xmlns:a="http://schemas.openxmlformats.org/drawingml/2006/main">
            <a:off x="619125" y="48577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One shared parcel lifecycle</a:t>
            </a:r>
          </a:p>
        </p:txBody>
      </p:sp>
      <p:pic>
        <p:nvPicPr>
          <p:cNvPr id="7" name="">
            <a:extLst xmlns:a="http://schemas.openxmlformats.org/drawingml/2006/main">
              <a:ext uri="{FF2B5EF4-FFF2-40B4-BE49-F238E27FC236}">
                <a16:creationId xmlns:a16="http://schemas.microsoft.com/office/drawing/2014/main" id="{6F6F7C1C-0470-413D-934C-A38BF29E562A}"/>
              </a:ext>
            </a:extLst>
          </p:cNvPr>
          <p:cNvPicPr>
            <a:picLocks xmlns:a="http://schemas.openxmlformats.org/drawingml/2006/main" noChangeAspect="1"/>
          </p:cNvPicPr>
          <p:nvPr/>
        </p:nvPicPr>
        <p:blipFill>
          <a:blip xmlns:r="http://schemas.openxmlformats.org/officeDocument/2006/relationships" xmlns:a="http://schemas.openxmlformats.org/drawingml/2006/main" r:embed="R0a8bdea5761a4f44"/>
          <a:stretch xmlns:a="http://schemas.openxmlformats.org/drawingml/2006/main"/>
        </p:blipFill>
        <p:spPr>
          <a:xfrm xmlns:a="http://schemas.openxmlformats.org/drawingml/2006/main">
            <a:off x="4356241" y="2857500"/>
            <a:ext cx="6622767" cy="2952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9FE26A3-DCF8-41EB-98F9-D57FC459C7E8}"/>
              </a:ext>
            </a:extLst>
          </p:cNvPr>
          <p:cNvPicPr>
            <a:picLocks xmlns:a="http://schemas.openxmlformats.org/drawingml/2006/main" noChangeAspect="1"/>
          </p:cNvPicPr>
          <p:nvPr/>
        </p:nvPicPr>
        <p:blipFill>
          <a:blip xmlns:r="http://schemas.openxmlformats.org/officeDocument/2006/relationships" xmlns:a="http://schemas.openxmlformats.org/drawingml/2006/main" r:embed="R0407cdcfd876490e"/>
          <a:stretch xmlns:a="http://schemas.openxmlformats.org/drawingml/2006/main"/>
        </p:blipFill>
        <p:spPr>
          <a:xfrm xmlns:a="http://schemas.openxmlformats.org/drawingml/2006/main">
            <a:off x="3762375" y="1762469"/>
            <a:ext cx="7810500" cy="76131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D083DE8-9737-4466-AC6F-86032169A3BA}"/>
              </a:ext>
            </a:extLst>
          </p:cNvPr>
          <p:cNvSpPr>
            <a:spLocks xmlns:a="http://schemas.openxmlformats.org/drawingml/2006/main" noGrp="1"/>
          </p:cNvSpPr>
          <p:nvPr/>
        </p:nvSpPr>
        <p:spPr>
          <a:xfrm xmlns:a="http://schemas.openxmlformats.org/drawingml/2006/main">
            <a:off x="3762375" y="60198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171"/>
                </a:solidFill>
                <a:latin typeface="Segoe UI"/>
                <a:ea typeface="Segoe UI"/>
                <a:cs typeface="Segoe UI"/>
              </a:defRPr>
            </a:defPPr>
            <a:lvl1pPr>
              <a:defRPr sz="1500" b="0">
                <a:solidFill>
                  <a:srgbClr val="526171"/>
                </a:solidFill>
                <a:latin typeface="Segoe UI"/>
                <a:ea typeface="Segoe UI"/>
                <a:cs typeface="Segoe UI"/>
              </a:defRPr>
            </a:lvl1pPr>
            <a:lvl2pPr>
              <a:defRPr sz="1500" b="0">
                <a:solidFill>
                  <a:srgbClr val="526171"/>
                </a:solidFill>
                <a:latin typeface="Segoe UI"/>
                <a:ea typeface="Segoe UI"/>
                <a:cs typeface="Segoe UI"/>
              </a:defRPr>
            </a:lvl2pPr>
            <a:lvl3pPr>
              <a:defRPr sz="1500" b="0">
                <a:solidFill>
                  <a:srgbClr val="526171"/>
                </a:solidFill>
                <a:latin typeface="Segoe UI"/>
                <a:ea typeface="Segoe UI"/>
                <a:cs typeface="Segoe UI"/>
              </a:defRPr>
            </a:lvl3pPr>
            <a:lvl4pPr>
              <a:defRPr sz="1500" b="0">
                <a:solidFill>
                  <a:srgbClr val="526171"/>
                </a:solidFill>
                <a:latin typeface="Segoe UI"/>
                <a:ea typeface="Segoe UI"/>
                <a:cs typeface="Segoe UI"/>
              </a:defRPr>
            </a:lvl4pPr>
            <a:lvl5pPr>
              <a:defRPr sz="1500" b="0">
                <a:solidFill>
                  <a:srgbClr val="526171"/>
                </a:solidFill>
                <a:latin typeface="Segoe UI"/>
                <a:ea typeface="Segoe UI"/>
                <a:cs typeface="Segoe UI"/>
              </a:defRPr>
            </a:lvl5pPr>
            <a:lvl6pPr>
              <a:defRPr sz="1500" b="0">
                <a:solidFill>
                  <a:srgbClr val="526171"/>
                </a:solidFill>
                <a:latin typeface="Segoe UI"/>
                <a:ea typeface="Segoe UI"/>
                <a:cs typeface="Segoe UI"/>
              </a:defRPr>
            </a:lvl6pPr>
            <a:lvl7pPr>
              <a:defRPr sz="1500" b="0">
                <a:solidFill>
                  <a:srgbClr val="526171"/>
                </a:solidFill>
                <a:latin typeface="Segoe UI"/>
                <a:ea typeface="Segoe UI"/>
                <a:cs typeface="Segoe UI"/>
              </a:defRPr>
            </a:lvl7pPr>
            <a:lvl8pPr>
              <a:defRPr sz="1500" b="0">
                <a:solidFill>
                  <a:srgbClr val="526171"/>
                </a:solidFill>
                <a:latin typeface="Segoe UI"/>
                <a:ea typeface="Segoe UI"/>
                <a:cs typeface="Segoe UI"/>
              </a:defRPr>
            </a:lvl8pPr>
            <a:lvl9pPr>
              <a:defRPr sz="1500" b="0">
                <a:solidFill>
                  <a:srgbClr val="526171"/>
                </a:solidFill>
                <a:latin typeface="Segoe UI"/>
                <a:ea typeface="Segoe UI"/>
                <a:cs typeface="Segoe UI"/>
              </a:defRPr>
            </a:lvl9pPr>
          </a:lstStyle>
          <a:p xmlns:a="http://schemas.openxmlformats.org/drawingml/2006/main">
            <a:pPr>
              <a:defRPr sz="1500" b="0">
                <a:solidFill>
                  <a:srgbClr val="526171"/>
                </a:solidFill>
                <a:latin typeface="Segoe UI"/>
                <a:ea typeface="Segoe UI"/>
                <a:cs typeface="Segoe UI"/>
              </a:defRPr>
            </a:pPr>
            <a:r>
              <a:rPr sz="1500" b="0">
                <a:solidFill>
                  <a:srgbClr val="526171"/>
                </a:solidFill>
                <a:latin typeface="Segoe UI"/>
                <a:ea typeface="Segoe UI"/>
                <a:cs typeface="Segoe UI"/>
              </a:rPr>
              <a:t>Frontend prototype / synthetic data / backend enforcement planned</a:t>
            </a:r>
          </a:p>
        </p:txBody>
      </p:sp>
    </p:spTree>
    <p:extLst>
      <p:ext uri="{BB962C8B-B14F-4D97-AF65-F5344CB8AC3E}">
        <p14:creationId xmlns:p14="http://schemas.microsoft.com/office/powerpoint/2010/main" val="2185378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410CAC-C421-4702-ABA8-45DC8278F826}"/>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Public tracking interface</a:t>
            </a:r>
          </a:p>
        </p:txBody>
      </p:sp>
      <p:sp>
        <p:nvSpPr>
          <p:cNvPr id="2" name="">
            <a:extLst xmlns:a="http://schemas.openxmlformats.org/drawingml/2006/main">
              <a:ext uri="{FF2B5EF4-FFF2-40B4-BE49-F238E27FC236}">
                <a16:creationId xmlns:a16="http://schemas.microsoft.com/office/drawing/2014/main" id="{7DCBBF82-BF75-45EE-BAF8-1BE417D2FD72}"/>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08</a:t>
            </a:r>
          </a:p>
        </p:txBody>
      </p:sp>
      <p:sp>
        <p:nvSpPr>
          <p:cNvPr id="3" name="">
            <a:extLst xmlns:a="http://schemas.openxmlformats.org/drawingml/2006/main">
              <a:ext uri="{FF2B5EF4-FFF2-40B4-BE49-F238E27FC236}">
                <a16:creationId xmlns:a16="http://schemas.microsoft.com/office/drawing/2014/main" id="{0817167C-12DD-4B6C-A0BF-6BF6E40149B9}"/>
              </a:ext>
            </a:extLst>
          </p:cNvPr>
          <p:cNvSpPr>
            <a:spLocks xmlns:a="http://schemas.openxmlformats.org/drawingml/2006/main" noGrp="1"/>
          </p:cNvSpPr>
          <p:nvPr/>
        </p:nvSpPr>
        <p:spPr>
          <a:xfrm xmlns:a="http://schemas.openxmlformats.org/drawingml/2006/main">
            <a:off x="619125" y="18573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No sign-in required</a:t>
            </a:r>
          </a:p>
        </p:txBody>
      </p:sp>
      <p:sp>
        <p:nvSpPr>
          <p:cNvPr id="4" name="">
            <a:extLst xmlns:a="http://schemas.openxmlformats.org/drawingml/2006/main">
              <a:ext uri="{FF2B5EF4-FFF2-40B4-BE49-F238E27FC236}">
                <a16:creationId xmlns:a16="http://schemas.microsoft.com/office/drawing/2014/main" id="{FE7C8DAC-3158-453E-92B1-4F7121BD2943}"/>
              </a:ext>
            </a:extLst>
          </p:cNvPr>
          <p:cNvSpPr>
            <a:spLocks xmlns:a="http://schemas.openxmlformats.org/drawingml/2006/main" noGrp="1"/>
          </p:cNvSpPr>
          <p:nvPr/>
        </p:nvSpPr>
        <p:spPr>
          <a:xfrm xmlns:a="http://schemas.openxmlformats.org/drawingml/2006/main">
            <a:off x="619125" y="285750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Tracking token identifies the parcel</a:t>
            </a:r>
          </a:p>
        </p:txBody>
      </p:sp>
      <p:sp>
        <p:nvSpPr>
          <p:cNvPr id="5" name="">
            <a:extLst xmlns:a="http://schemas.openxmlformats.org/drawingml/2006/main">
              <a:ext uri="{FF2B5EF4-FFF2-40B4-BE49-F238E27FC236}">
                <a16:creationId xmlns:a16="http://schemas.microsoft.com/office/drawing/2014/main" id="{2CA5F075-7D73-46FB-9CDA-B8C58C1528C2}"/>
              </a:ext>
            </a:extLst>
          </p:cNvPr>
          <p:cNvSpPr>
            <a:spLocks xmlns:a="http://schemas.openxmlformats.org/drawingml/2006/main" noGrp="1"/>
          </p:cNvSpPr>
          <p:nvPr/>
        </p:nvSpPr>
        <p:spPr>
          <a:xfrm xmlns:a="http://schemas.openxmlformats.org/drawingml/2006/main">
            <a:off x="619125" y="38576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Only status and timestamps appear</a:t>
            </a:r>
          </a:p>
        </p:txBody>
      </p:sp>
      <p:sp>
        <p:nvSpPr>
          <p:cNvPr id="6" name="">
            <a:extLst xmlns:a="http://schemas.openxmlformats.org/drawingml/2006/main">
              <a:ext uri="{FF2B5EF4-FFF2-40B4-BE49-F238E27FC236}">
                <a16:creationId xmlns:a16="http://schemas.microsoft.com/office/drawing/2014/main" id="{64C58565-450B-4103-A5AE-672BBEBA579F}"/>
              </a:ext>
            </a:extLst>
          </p:cNvPr>
          <p:cNvSpPr>
            <a:spLocks xmlns:a="http://schemas.openxmlformats.org/drawingml/2006/main" noGrp="1"/>
          </p:cNvSpPr>
          <p:nvPr/>
        </p:nvSpPr>
        <p:spPr>
          <a:xfrm xmlns:a="http://schemas.openxmlformats.org/drawingml/2006/main">
            <a:off x="619125" y="48577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3A"/>
                </a:solidFill>
                <a:latin typeface="Segoe UI"/>
                <a:ea typeface="Segoe UI"/>
                <a:cs typeface="Segoe UI"/>
              </a:defRPr>
            </a:defPPr>
            <a:lvl1pPr>
              <a:defRPr sz="1950" b="0">
                <a:solidFill>
                  <a:srgbClr val="172B3A"/>
                </a:solidFill>
                <a:latin typeface="Segoe UI"/>
                <a:ea typeface="Segoe UI"/>
                <a:cs typeface="Segoe UI"/>
              </a:defRPr>
            </a:lvl1pPr>
            <a:lvl2pPr>
              <a:defRPr sz="1950" b="0">
                <a:solidFill>
                  <a:srgbClr val="172B3A"/>
                </a:solidFill>
                <a:latin typeface="Segoe UI"/>
                <a:ea typeface="Segoe UI"/>
                <a:cs typeface="Segoe UI"/>
              </a:defRPr>
            </a:lvl2pPr>
            <a:lvl3pPr>
              <a:defRPr sz="1950" b="0">
                <a:solidFill>
                  <a:srgbClr val="172B3A"/>
                </a:solidFill>
                <a:latin typeface="Segoe UI"/>
                <a:ea typeface="Segoe UI"/>
                <a:cs typeface="Segoe UI"/>
              </a:defRPr>
            </a:lvl3pPr>
            <a:lvl4pPr>
              <a:defRPr sz="1950" b="0">
                <a:solidFill>
                  <a:srgbClr val="172B3A"/>
                </a:solidFill>
                <a:latin typeface="Segoe UI"/>
                <a:ea typeface="Segoe UI"/>
                <a:cs typeface="Segoe UI"/>
              </a:defRPr>
            </a:lvl4pPr>
            <a:lvl5pPr>
              <a:defRPr sz="1950" b="0">
                <a:solidFill>
                  <a:srgbClr val="172B3A"/>
                </a:solidFill>
                <a:latin typeface="Segoe UI"/>
                <a:ea typeface="Segoe UI"/>
                <a:cs typeface="Segoe UI"/>
              </a:defRPr>
            </a:lvl5pPr>
            <a:lvl6pPr>
              <a:defRPr sz="1950" b="0">
                <a:solidFill>
                  <a:srgbClr val="172B3A"/>
                </a:solidFill>
                <a:latin typeface="Segoe UI"/>
                <a:ea typeface="Segoe UI"/>
                <a:cs typeface="Segoe UI"/>
              </a:defRPr>
            </a:lvl6pPr>
            <a:lvl7pPr>
              <a:defRPr sz="1950" b="0">
                <a:solidFill>
                  <a:srgbClr val="172B3A"/>
                </a:solidFill>
                <a:latin typeface="Segoe UI"/>
                <a:ea typeface="Segoe UI"/>
                <a:cs typeface="Segoe UI"/>
              </a:defRPr>
            </a:lvl7pPr>
            <a:lvl8pPr>
              <a:defRPr sz="1950" b="0">
                <a:solidFill>
                  <a:srgbClr val="172B3A"/>
                </a:solidFill>
                <a:latin typeface="Segoe UI"/>
                <a:ea typeface="Segoe UI"/>
                <a:cs typeface="Segoe UI"/>
              </a:defRPr>
            </a:lvl8pPr>
            <a:lvl9pPr>
              <a:defRPr sz="1950" b="0">
                <a:solidFill>
                  <a:srgbClr val="172B3A"/>
                </a:solidFill>
                <a:latin typeface="Segoe UI"/>
                <a:ea typeface="Segoe UI"/>
                <a:cs typeface="Segoe UI"/>
              </a:defRPr>
            </a:lvl9pPr>
          </a:lstStyle>
          <a:p xmlns:a="http://schemas.openxmlformats.org/drawingml/2006/main">
            <a:pPr>
              <a:defRPr sz="1950" b="0">
                <a:solidFill>
                  <a:srgbClr val="172B3A"/>
                </a:solidFill>
                <a:latin typeface="Segoe UI"/>
                <a:ea typeface="Segoe UI"/>
                <a:cs typeface="Segoe UI"/>
              </a:defRPr>
            </a:pPr>
            <a:r>
              <a:rPr sz="1950" b="0">
                <a:solidFill>
                  <a:srgbClr val="172B3A"/>
                </a:solidFill>
                <a:latin typeface="Segoe UI"/>
                <a:ea typeface="Segoe UI"/>
                <a:cs typeface="Segoe UI"/>
              </a:rPr>
              <a:t>Production privacy checks are planned</a:t>
            </a:r>
          </a:p>
        </p:txBody>
      </p:sp>
      <p:pic>
        <p:nvPicPr>
          <p:cNvPr id="7" name="">
            <a:extLst xmlns:a="http://schemas.openxmlformats.org/drawingml/2006/main">
              <a:ext uri="{FF2B5EF4-FFF2-40B4-BE49-F238E27FC236}">
                <a16:creationId xmlns:a16="http://schemas.microsoft.com/office/drawing/2014/main" id="{38F3E49D-964D-4DFD-BF72-3999B26A6D1C}"/>
              </a:ext>
            </a:extLst>
          </p:cNvPr>
          <p:cNvPicPr>
            <a:picLocks xmlns:a="http://schemas.openxmlformats.org/drawingml/2006/main" noChangeAspect="1"/>
          </p:cNvPicPr>
          <p:nvPr/>
        </p:nvPicPr>
        <p:blipFill>
          <a:blip xmlns:r="http://schemas.openxmlformats.org/officeDocument/2006/relationships" xmlns:a="http://schemas.openxmlformats.org/drawingml/2006/main" r:embed="R5e7f52fae9ff4728"/>
          <a:stretch xmlns:a="http://schemas.openxmlformats.org/drawingml/2006/main"/>
        </p:blipFill>
        <p:spPr>
          <a:xfrm xmlns:a="http://schemas.openxmlformats.org/drawingml/2006/main">
            <a:off x="4547235" y="1571625"/>
            <a:ext cx="6240780" cy="4333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8F3CCFB-A496-4971-B017-591DBEE7578C}"/>
              </a:ext>
            </a:extLst>
          </p:cNvPr>
          <p:cNvSpPr>
            <a:spLocks xmlns:a="http://schemas.openxmlformats.org/drawingml/2006/main" noGrp="1"/>
          </p:cNvSpPr>
          <p:nvPr/>
        </p:nvSpPr>
        <p:spPr>
          <a:xfrm xmlns:a="http://schemas.openxmlformats.org/drawingml/2006/main">
            <a:off x="3762375" y="60198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171"/>
                </a:solidFill>
                <a:latin typeface="Segoe UI"/>
                <a:ea typeface="Segoe UI"/>
                <a:cs typeface="Segoe UI"/>
              </a:defRPr>
            </a:defPPr>
            <a:lvl1pPr>
              <a:defRPr sz="1500" b="0">
                <a:solidFill>
                  <a:srgbClr val="526171"/>
                </a:solidFill>
                <a:latin typeface="Segoe UI"/>
                <a:ea typeface="Segoe UI"/>
                <a:cs typeface="Segoe UI"/>
              </a:defRPr>
            </a:lvl1pPr>
            <a:lvl2pPr>
              <a:defRPr sz="1500" b="0">
                <a:solidFill>
                  <a:srgbClr val="526171"/>
                </a:solidFill>
                <a:latin typeface="Segoe UI"/>
                <a:ea typeface="Segoe UI"/>
                <a:cs typeface="Segoe UI"/>
              </a:defRPr>
            </a:lvl2pPr>
            <a:lvl3pPr>
              <a:defRPr sz="1500" b="0">
                <a:solidFill>
                  <a:srgbClr val="526171"/>
                </a:solidFill>
                <a:latin typeface="Segoe UI"/>
                <a:ea typeface="Segoe UI"/>
                <a:cs typeface="Segoe UI"/>
              </a:defRPr>
            </a:lvl3pPr>
            <a:lvl4pPr>
              <a:defRPr sz="1500" b="0">
                <a:solidFill>
                  <a:srgbClr val="526171"/>
                </a:solidFill>
                <a:latin typeface="Segoe UI"/>
                <a:ea typeface="Segoe UI"/>
                <a:cs typeface="Segoe UI"/>
              </a:defRPr>
            </a:lvl4pPr>
            <a:lvl5pPr>
              <a:defRPr sz="1500" b="0">
                <a:solidFill>
                  <a:srgbClr val="526171"/>
                </a:solidFill>
                <a:latin typeface="Segoe UI"/>
                <a:ea typeface="Segoe UI"/>
                <a:cs typeface="Segoe UI"/>
              </a:defRPr>
            </a:lvl5pPr>
            <a:lvl6pPr>
              <a:defRPr sz="1500" b="0">
                <a:solidFill>
                  <a:srgbClr val="526171"/>
                </a:solidFill>
                <a:latin typeface="Segoe UI"/>
                <a:ea typeface="Segoe UI"/>
                <a:cs typeface="Segoe UI"/>
              </a:defRPr>
            </a:lvl6pPr>
            <a:lvl7pPr>
              <a:defRPr sz="1500" b="0">
                <a:solidFill>
                  <a:srgbClr val="526171"/>
                </a:solidFill>
                <a:latin typeface="Segoe UI"/>
                <a:ea typeface="Segoe UI"/>
                <a:cs typeface="Segoe UI"/>
              </a:defRPr>
            </a:lvl7pPr>
            <a:lvl8pPr>
              <a:defRPr sz="1500" b="0">
                <a:solidFill>
                  <a:srgbClr val="526171"/>
                </a:solidFill>
                <a:latin typeface="Segoe UI"/>
                <a:ea typeface="Segoe UI"/>
                <a:cs typeface="Segoe UI"/>
              </a:defRPr>
            </a:lvl8pPr>
            <a:lvl9pPr>
              <a:defRPr sz="1500" b="0">
                <a:solidFill>
                  <a:srgbClr val="526171"/>
                </a:solidFill>
                <a:latin typeface="Segoe UI"/>
                <a:ea typeface="Segoe UI"/>
                <a:cs typeface="Segoe UI"/>
              </a:defRPr>
            </a:lvl9pPr>
          </a:lstStyle>
          <a:p xmlns:a="http://schemas.openxmlformats.org/drawingml/2006/main">
            <a:pPr>
              <a:defRPr sz="1500" b="0">
                <a:solidFill>
                  <a:srgbClr val="526171"/>
                </a:solidFill>
                <a:latin typeface="Segoe UI"/>
                <a:ea typeface="Segoe UI"/>
                <a:cs typeface="Segoe UI"/>
              </a:defRPr>
            </a:pPr>
            <a:r>
              <a:rPr sz="1500" b="0">
                <a:solidFill>
                  <a:srgbClr val="526171"/>
                </a:solidFill>
                <a:latin typeface="Segoe UI"/>
                <a:ea typeface="Segoe UI"/>
                <a:cs typeface="Segoe UI"/>
              </a:rPr>
              <a:t>Frontend prototype / synthetic data / backend enforcement planned</a:t>
            </a:r>
          </a:p>
        </p:txBody>
      </p:sp>
    </p:spTree>
    <p:extLst>
      <p:ext uri="{BB962C8B-B14F-4D97-AF65-F5344CB8AC3E}">
        <p14:creationId xmlns:p14="http://schemas.microsoft.com/office/powerpoint/2010/main" val="4569127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2B2D07-E10A-4D42-870F-5889CCB02987}"/>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Security requirements</a:t>
            </a:r>
          </a:p>
        </p:txBody>
      </p:sp>
      <p:sp>
        <p:nvSpPr>
          <p:cNvPr id="2" name="">
            <a:extLst xmlns:a="http://schemas.openxmlformats.org/drawingml/2006/main">
              <a:ext uri="{FF2B5EF4-FFF2-40B4-BE49-F238E27FC236}">
                <a16:creationId xmlns:a16="http://schemas.microsoft.com/office/drawing/2014/main" id="{A3F45334-F6A6-4E41-838D-3F83B6853EC8}"/>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09</a:t>
            </a:r>
          </a:p>
        </p:txBody>
      </p:sp>
      <p:graphicFrame>
        <p:nvGraphicFramePr>
          <p:cNvPr id="3" name="">
            <a:extLst xmlns:a="http://schemas.openxmlformats.org/drawingml/2006/main">
              <a:ext uri="{FF2B5EF4-FFF2-40B4-BE49-F238E27FC236}">
                <a16:creationId xmlns:a16="http://schemas.microsoft.com/office/drawing/2014/main" id="{27354C3E-7D11-4186-9F43-A8A7BC1A7AA5}"/>
              </a:ext>
            </a:extLst>
          </p:cNvPr>
          <p:cNvGraphicFramePr/>
          <p:nvPr/>
        </p:nvGraphicFramePr>
        <p:xfrm>
          <a:off xmlns:a="http://schemas.openxmlformats.org/drawingml/2006/main" x="666750" y="1571625"/>
          <a:ext xmlns:a="http://schemas.openxmlformats.org/drawingml/2006/main" cx="10858500" cy="4048125"/>
        </p:xfrm>
        <a:graphic xmlns:a="http://schemas.openxmlformats.org/drawingml/2006/main">
          <a:graphicData uri="http://schemas.openxmlformats.org/drawingml/2006/table">
            <a:tbl>
              <a:tblPr/>
              <a:tblGrid>
                <a:gridCol w="1190625"/>
                <a:gridCol w="9667875"/>
              </a:tblGrid>
              <a:tr h="674688">
                <a:tc>
                  <a:txBody>
                    <a:bodyPr/>
                    <a:lstStyle/>
                    <a:p>
                      <a:r>
                        <a:rPr sz="1725" b="1">
                          <a:solidFill>
                            <a:srgbClr val="FFFFFF"/>
                          </a:solidFill>
                          <a:latin typeface="Segoe UI"/>
                          <a:ea typeface="Segoe UI"/>
                          <a:cs typeface="Segoe UI"/>
                        </a:rPr>
                        <a:t>Policy</a:t>
                      </a:r>
                    </a:p>
                  </a:txBody>
                  <a:tcPr marL="133350" marR="133350" marT="133350" marB="133350">
                    <a:lnL w="9525">
                      <a:solidFill>
                        <a:srgbClr val="C7D2DD"/>
                      </a:solidFill>
                      <a:prstDash val="solid"/>
                    </a:lnL>
                    <a:lnR w="9525">
                      <a:solidFill>
                        <a:srgbClr val="C7D2DD"/>
                      </a:solidFill>
                      <a:prstDash val="solid"/>
                    </a:lnR>
                    <a:lnT w="9525">
                      <a:solidFill>
                        <a:srgbClr val="C7D2DD"/>
                      </a:solidFill>
                      <a:prstDash val="solid"/>
                    </a:lnT>
                    <a:lnB w="9525">
                      <a:solidFill>
                        <a:srgbClr val="C7D2DD"/>
                      </a:solidFill>
                      <a:prstDash val="solid"/>
                    </a:lnB>
                    <a:solidFill>
                      <a:srgbClr val="152E48"/>
                    </a:solidFill>
                  </a:tcPr>
                </a:tc>
                <a:tc>
                  <a:txBody>
                    <a:bodyPr/>
                    <a:lstStyle/>
                    <a:p>
                      <a:r>
                        <a:rPr sz="1725" b="1">
                          <a:solidFill>
                            <a:srgbClr val="FFFFFF"/>
                          </a:solidFill>
                          <a:latin typeface="Segoe UI"/>
                          <a:ea typeface="Segoe UI"/>
                          <a:cs typeface="Segoe UI"/>
                        </a:rPr>
                        <a:t>Requirement for the final system</a:t>
                      </a:r>
                    </a:p>
                  </a:txBody>
                  <a:tcPr marL="133350" marR="133350" marT="133350" marB="133350">
                    <a:lnR w="9525">
                      <a:solidFill>
                        <a:srgbClr val="C7D2DD"/>
                      </a:solidFill>
                      <a:prstDash val="solid"/>
                    </a:lnR>
                    <a:lnT w="9525">
                      <a:solidFill>
                        <a:srgbClr val="C7D2DD"/>
                      </a:solidFill>
                      <a:prstDash val="solid"/>
                    </a:lnT>
                    <a:lnB w="9525">
                      <a:solidFill>
                        <a:srgbClr val="C7D2DD"/>
                      </a:solidFill>
                      <a:prstDash val="solid"/>
                    </a:lnB>
                    <a:solidFill>
                      <a:srgbClr val="152E48"/>
                    </a:solidFill>
                  </a:tcPr>
                </a:tc>
              </a:tr>
              <a:tr h="674688">
                <a:tc>
                  <a:txBody>
                    <a:bodyPr/>
                    <a:lstStyle/>
                    <a:p>
                      <a:r>
                        <a:rPr sz="1725">
                          <a:solidFill>
                            <a:srgbClr val="172B3A"/>
                          </a:solidFill>
                          <a:latin typeface="Segoe UI"/>
                          <a:ea typeface="Segoe UI"/>
                          <a:cs typeface="Segoe UI"/>
                        </a:rPr>
                        <a:t>P1</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Server role checks, ownership and Rider disablement</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74688">
                <a:tc>
                  <a:txBody>
                    <a:bodyPr/>
                    <a:lstStyle/>
                    <a:p>
                      <a:r>
                        <a:rPr sz="1725">
                          <a:solidFill>
                            <a:srgbClr val="172B3A"/>
                          </a:solidFill>
                          <a:latin typeface="Segoe UI"/>
                          <a:ea typeface="Segoe UI"/>
                          <a:cs typeface="Segoe UI"/>
                        </a:rPr>
                        <a:t>P2</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10+ character passwords, hashing and compromise reporting</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74688">
                <a:tc>
                  <a:txBody>
                    <a:bodyPr/>
                    <a:lstStyle/>
                    <a:p>
                      <a:r>
                        <a:rPr sz="1725">
                          <a:solidFill>
                            <a:srgbClr val="172B3A"/>
                          </a:solidFill>
                          <a:latin typeface="Segoe UI"/>
                          <a:ea typeface="Segoe UI"/>
                          <a:cs typeface="Segoe UI"/>
                        </a:rPr>
                        <a:t>P3</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Minimal public data and 12-month delivery-data retention</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74688">
                <a:tc>
                  <a:txBody>
                    <a:bodyPr/>
                    <a:lstStyle/>
                    <a:p>
                      <a:r>
                        <a:rPr sz="1725">
                          <a:solidFill>
                            <a:srgbClr val="172B3A"/>
                          </a:solidFill>
                          <a:latin typeface="Segoe UI"/>
                          <a:ea typeface="Segoe UI"/>
                          <a:cs typeface="Segoe UI"/>
                        </a:rPr>
                        <a:t>P4</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Secrets outside source, synthetic tests and generic errors</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74688">
                <a:tc>
                  <a:txBody>
                    <a:bodyPr/>
                    <a:lstStyle/>
                    <a:p>
                      <a:r>
                        <a:rPr sz="1725">
                          <a:solidFill>
                            <a:srgbClr val="172B3A"/>
                          </a:solidFill>
                          <a:latin typeface="Segoe UI"/>
                          <a:ea typeface="Segoe UI"/>
                          <a:cs typeface="Segoe UI"/>
                        </a:rPr>
                        <a:t>P5</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Safe audit events and incident reporting within one hour</a:t>
                      </a:r>
                    </a:p>
                  </a:txBody>
                  <a:tcPr marL="133350" marR="133350" marT="133350" marB="133350">
                    <a:lnR w="9525">
                      <a:solidFill>
                        <a:srgbClr val="C7D2DD"/>
                      </a:solidFill>
                      <a:prstDash val="solid"/>
                    </a:lnR>
                    <a:lnB w="9525">
                      <a:solidFill>
                        <a:srgbClr val="C7D2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A5A6B2D-58C1-48CD-BF61-4963F6C76B94}"/>
              </a:ext>
            </a:extLst>
          </p:cNvPr>
          <p:cNvSpPr>
            <a:spLocks xmlns:a="http://schemas.openxmlformats.org/drawingml/2006/main" noGrp="1"/>
          </p:cNvSpPr>
          <p:nvPr/>
        </p:nvSpPr>
        <p:spPr>
          <a:xfrm xmlns:a="http://schemas.openxmlformats.org/drawingml/2006/main">
            <a:off x="714375" y="5905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A94110"/>
                </a:solidFill>
                <a:latin typeface="Segoe UI"/>
                <a:ea typeface="Segoe UI"/>
                <a:cs typeface="Segoe UI"/>
              </a:defRPr>
            </a:defPPr>
            <a:lvl1pPr>
              <a:defRPr sz="1875" b="0">
                <a:solidFill>
                  <a:srgbClr val="A94110"/>
                </a:solidFill>
                <a:latin typeface="Segoe UI"/>
                <a:ea typeface="Segoe UI"/>
                <a:cs typeface="Segoe UI"/>
              </a:defRPr>
            </a:lvl1pPr>
            <a:lvl2pPr>
              <a:defRPr sz="1875" b="0">
                <a:solidFill>
                  <a:srgbClr val="A94110"/>
                </a:solidFill>
                <a:latin typeface="Segoe UI"/>
                <a:ea typeface="Segoe UI"/>
                <a:cs typeface="Segoe UI"/>
              </a:defRPr>
            </a:lvl2pPr>
            <a:lvl3pPr>
              <a:defRPr sz="1875" b="0">
                <a:solidFill>
                  <a:srgbClr val="A94110"/>
                </a:solidFill>
                <a:latin typeface="Segoe UI"/>
                <a:ea typeface="Segoe UI"/>
                <a:cs typeface="Segoe UI"/>
              </a:defRPr>
            </a:lvl3pPr>
            <a:lvl4pPr>
              <a:defRPr sz="1875" b="0">
                <a:solidFill>
                  <a:srgbClr val="A94110"/>
                </a:solidFill>
                <a:latin typeface="Segoe UI"/>
                <a:ea typeface="Segoe UI"/>
                <a:cs typeface="Segoe UI"/>
              </a:defRPr>
            </a:lvl4pPr>
            <a:lvl5pPr>
              <a:defRPr sz="1875" b="0">
                <a:solidFill>
                  <a:srgbClr val="A94110"/>
                </a:solidFill>
                <a:latin typeface="Segoe UI"/>
                <a:ea typeface="Segoe UI"/>
                <a:cs typeface="Segoe UI"/>
              </a:defRPr>
            </a:lvl5pPr>
            <a:lvl6pPr>
              <a:defRPr sz="1875" b="0">
                <a:solidFill>
                  <a:srgbClr val="A94110"/>
                </a:solidFill>
                <a:latin typeface="Segoe UI"/>
                <a:ea typeface="Segoe UI"/>
                <a:cs typeface="Segoe UI"/>
              </a:defRPr>
            </a:lvl6pPr>
            <a:lvl7pPr>
              <a:defRPr sz="1875" b="0">
                <a:solidFill>
                  <a:srgbClr val="A94110"/>
                </a:solidFill>
                <a:latin typeface="Segoe UI"/>
                <a:ea typeface="Segoe UI"/>
                <a:cs typeface="Segoe UI"/>
              </a:defRPr>
            </a:lvl7pPr>
            <a:lvl8pPr>
              <a:defRPr sz="1875" b="0">
                <a:solidFill>
                  <a:srgbClr val="A94110"/>
                </a:solidFill>
                <a:latin typeface="Segoe UI"/>
                <a:ea typeface="Segoe UI"/>
                <a:cs typeface="Segoe UI"/>
              </a:defRPr>
            </a:lvl8pPr>
            <a:lvl9pPr>
              <a:defRPr sz="1875" b="0">
                <a:solidFill>
                  <a:srgbClr val="A94110"/>
                </a:solidFill>
                <a:latin typeface="Segoe UI"/>
                <a:ea typeface="Segoe UI"/>
                <a:cs typeface="Segoe UI"/>
              </a:defRPr>
            </a:lvl9pPr>
          </a:lstStyle>
          <a:p xmlns:a="http://schemas.openxmlformats.org/drawingml/2006/main">
            <a:pPr>
              <a:defRPr sz="1875" b="0">
                <a:solidFill>
                  <a:srgbClr val="A94110"/>
                </a:solidFill>
                <a:latin typeface="Segoe UI"/>
                <a:ea typeface="Segoe UI"/>
                <a:cs typeface="Segoe UI"/>
              </a:defRPr>
            </a:pPr>
            <a:r>
              <a:rPr sz="1875" b="0">
                <a:solidFill>
                  <a:srgbClr val="A94110"/>
                </a:solidFill>
                <a:latin typeface="Segoe UI"/>
                <a:ea typeface="Segoe UI"/>
                <a:cs typeface="Segoe UI"/>
              </a:rPr>
              <a:t>Server controls are planned. Prototype checks do not prove security.</a:t>
            </a:r>
          </a:p>
        </p:txBody>
      </p:sp>
    </p:spTree>
    <p:extLst>
      <p:ext uri="{BB962C8B-B14F-4D97-AF65-F5344CB8AC3E}">
        <p14:creationId xmlns:p14="http://schemas.microsoft.com/office/powerpoint/2010/main" val="1569073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800900-1F7E-41BD-88DF-43CAFE961D90}"/>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Completed work and current challenges</a:t>
            </a:r>
          </a:p>
        </p:txBody>
      </p:sp>
      <p:sp>
        <p:nvSpPr>
          <p:cNvPr id="2" name="">
            <a:extLst xmlns:a="http://schemas.openxmlformats.org/drawingml/2006/main">
              <a:ext uri="{FF2B5EF4-FFF2-40B4-BE49-F238E27FC236}">
                <a16:creationId xmlns:a16="http://schemas.microsoft.com/office/drawing/2014/main" id="{E9B2186F-A62E-42DD-BACA-01F4C90067B2}"/>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10</a:t>
            </a:r>
          </a:p>
        </p:txBody>
      </p:sp>
      <p:sp>
        <p:nvSpPr>
          <p:cNvPr id="3" name="">
            <a:extLst xmlns:a="http://schemas.openxmlformats.org/drawingml/2006/main">
              <a:ext uri="{FF2B5EF4-FFF2-40B4-BE49-F238E27FC236}">
                <a16:creationId xmlns:a16="http://schemas.microsoft.com/office/drawing/2014/main" id="{A1FD0A07-5DCD-4BE0-A7BC-7605480ACE89}"/>
              </a:ext>
            </a:extLst>
          </p:cNvPr>
          <p:cNvSpPr>
            <a:spLocks xmlns:a="http://schemas.openxmlformats.org/drawingml/2006/main" noGrp="1"/>
          </p:cNvSpPr>
          <p:nvPr/>
        </p:nvSpPr>
        <p:spPr>
          <a:xfrm xmlns:a="http://schemas.openxmlformats.org/drawingml/2006/main">
            <a:off x="666750" y="16668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Ready: allocation, ERD, shared contracts and module plans</a:t>
            </a:r>
          </a:p>
        </p:txBody>
      </p:sp>
      <p:sp>
        <p:nvSpPr>
          <p:cNvPr id="4" name="">
            <a:extLst xmlns:a="http://schemas.openxmlformats.org/drawingml/2006/main">
              <a:ext uri="{FF2B5EF4-FFF2-40B4-BE49-F238E27FC236}">
                <a16:creationId xmlns:a16="http://schemas.microsoft.com/office/drawing/2014/main" id="{6D9DE2E8-2CAF-4E09-9F9A-AEBAB2709788}"/>
              </a:ext>
            </a:extLst>
          </p:cNvPr>
          <p:cNvSpPr>
            <a:spLocks xmlns:a="http://schemas.openxmlformats.org/drawingml/2006/main" noGrp="1"/>
          </p:cNvSpPr>
          <p:nvPr/>
        </p:nvSpPr>
        <p:spPr>
          <a:xfrm xmlns:a="http://schemas.openxmlformats.org/drawingml/2006/main">
            <a:off x="666750" y="26003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Ready: three module interfaces and integrated sample workflow</a:t>
            </a:r>
          </a:p>
        </p:txBody>
      </p:sp>
      <p:sp>
        <p:nvSpPr>
          <p:cNvPr id="5" name="">
            <a:extLst xmlns:a="http://schemas.openxmlformats.org/drawingml/2006/main">
              <a:ext uri="{FF2B5EF4-FFF2-40B4-BE49-F238E27FC236}">
                <a16:creationId xmlns:a16="http://schemas.microsoft.com/office/drawing/2014/main" id="{BECA70AA-6302-4C63-9A3A-AF267B57DDD9}"/>
              </a:ext>
            </a:extLst>
          </p:cNvPr>
          <p:cNvSpPr>
            <a:spLocks xmlns:a="http://schemas.openxmlformats.org/drawingml/2006/main" noGrp="1"/>
          </p:cNvSpPr>
          <p:nvPr/>
        </p:nvSpPr>
        <p:spPr>
          <a:xfrm xmlns:a="http://schemas.openxmlformats.org/drawingml/2006/main">
            <a:off x="666750" y="35337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Checked: 6 prototype tests and 19 browser checkpoints</a:t>
            </a:r>
          </a:p>
        </p:txBody>
      </p:sp>
      <p:sp>
        <p:nvSpPr>
          <p:cNvPr id="6" name="">
            <a:extLst xmlns:a="http://schemas.openxmlformats.org/drawingml/2006/main">
              <a:ext uri="{FF2B5EF4-FFF2-40B4-BE49-F238E27FC236}">
                <a16:creationId xmlns:a16="http://schemas.microsoft.com/office/drawing/2014/main" id="{BE20E92E-75B4-4CC6-83BC-F35DE50707B2}"/>
              </a:ext>
            </a:extLst>
          </p:cNvPr>
          <p:cNvSpPr>
            <a:spLocks xmlns:a="http://schemas.openxmlformats.org/drawingml/2006/main" noGrp="1"/>
          </p:cNvSpPr>
          <p:nvPr/>
        </p:nvSpPr>
        <p:spPr>
          <a:xfrm xmlns:a="http://schemas.openxmlformats.org/drawingml/2006/main">
            <a:off x="666750" y="44672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Next: real APIs, database enforcement and AWS deployment</a:t>
            </a:r>
          </a:p>
        </p:txBody>
      </p:sp>
      <p:sp>
        <p:nvSpPr>
          <p:cNvPr id="7" name="">
            <a:extLst xmlns:a="http://schemas.openxmlformats.org/drawingml/2006/main">
              <a:ext uri="{FF2B5EF4-FFF2-40B4-BE49-F238E27FC236}">
                <a16:creationId xmlns:a16="http://schemas.microsoft.com/office/drawing/2014/main" id="{6FFB1342-ABC8-41D8-A9B6-BCA6D8DD900B}"/>
              </a:ext>
            </a:extLst>
          </p:cNvPr>
          <p:cNvSpPr>
            <a:spLocks xmlns:a="http://schemas.openxmlformats.org/drawingml/2006/main" noGrp="1"/>
          </p:cNvSpPr>
          <p:nvPr/>
        </p:nvSpPr>
        <p:spPr>
          <a:xfrm xmlns:a="http://schemas.openxmlformats.org/drawingml/2006/main">
            <a:off x="714375" y="57150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A94110"/>
                </a:solidFill>
                <a:latin typeface="Segoe UI"/>
                <a:ea typeface="Segoe UI"/>
                <a:cs typeface="Segoe UI"/>
              </a:defRPr>
            </a:defPPr>
            <a:lvl1pPr>
              <a:defRPr sz="1875" b="0">
                <a:solidFill>
                  <a:srgbClr val="A94110"/>
                </a:solidFill>
                <a:latin typeface="Segoe UI"/>
                <a:ea typeface="Segoe UI"/>
                <a:cs typeface="Segoe UI"/>
              </a:defRPr>
            </a:lvl1pPr>
            <a:lvl2pPr>
              <a:defRPr sz="1875" b="0">
                <a:solidFill>
                  <a:srgbClr val="A94110"/>
                </a:solidFill>
                <a:latin typeface="Segoe UI"/>
                <a:ea typeface="Segoe UI"/>
                <a:cs typeface="Segoe UI"/>
              </a:defRPr>
            </a:lvl2pPr>
            <a:lvl3pPr>
              <a:defRPr sz="1875" b="0">
                <a:solidFill>
                  <a:srgbClr val="A94110"/>
                </a:solidFill>
                <a:latin typeface="Segoe UI"/>
                <a:ea typeface="Segoe UI"/>
                <a:cs typeface="Segoe UI"/>
              </a:defRPr>
            </a:lvl3pPr>
            <a:lvl4pPr>
              <a:defRPr sz="1875" b="0">
                <a:solidFill>
                  <a:srgbClr val="A94110"/>
                </a:solidFill>
                <a:latin typeface="Segoe UI"/>
                <a:ea typeface="Segoe UI"/>
                <a:cs typeface="Segoe UI"/>
              </a:defRPr>
            </a:lvl4pPr>
            <a:lvl5pPr>
              <a:defRPr sz="1875" b="0">
                <a:solidFill>
                  <a:srgbClr val="A94110"/>
                </a:solidFill>
                <a:latin typeface="Segoe UI"/>
                <a:ea typeface="Segoe UI"/>
                <a:cs typeface="Segoe UI"/>
              </a:defRPr>
            </a:lvl5pPr>
            <a:lvl6pPr>
              <a:defRPr sz="1875" b="0">
                <a:solidFill>
                  <a:srgbClr val="A94110"/>
                </a:solidFill>
                <a:latin typeface="Segoe UI"/>
                <a:ea typeface="Segoe UI"/>
                <a:cs typeface="Segoe UI"/>
              </a:defRPr>
            </a:lvl6pPr>
            <a:lvl7pPr>
              <a:defRPr sz="1875" b="0">
                <a:solidFill>
                  <a:srgbClr val="A94110"/>
                </a:solidFill>
                <a:latin typeface="Segoe UI"/>
                <a:ea typeface="Segoe UI"/>
                <a:cs typeface="Segoe UI"/>
              </a:defRPr>
            </a:lvl7pPr>
            <a:lvl8pPr>
              <a:defRPr sz="1875" b="0">
                <a:solidFill>
                  <a:srgbClr val="A94110"/>
                </a:solidFill>
                <a:latin typeface="Segoe UI"/>
                <a:ea typeface="Segoe UI"/>
                <a:cs typeface="Segoe UI"/>
              </a:defRPr>
            </a:lvl8pPr>
            <a:lvl9pPr>
              <a:defRPr sz="1875" b="0">
                <a:solidFill>
                  <a:srgbClr val="A94110"/>
                </a:solidFill>
                <a:latin typeface="Segoe UI"/>
                <a:ea typeface="Segoe UI"/>
                <a:cs typeface="Segoe UI"/>
              </a:defRPr>
            </a:lvl9pPr>
          </a:lstStyle>
          <a:p xmlns:a="http://schemas.openxmlformats.org/drawingml/2006/main">
            <a:pPr>
              <a:defRPr sz="1875" b="0">
                <a:solidFill>
                  <a:srgbClr val="A94110"/>
                </a:solidFill>
                <a:latin typeface="Segoe UI"/>
                <a:ea typeface="Segoe UI"/>
                <a:cs typeface="Segoe UI"/>
              </a:defRPr>
            </a:pPr>
            <a:r>
              <a:rPr sz="1875" b="0">
                <a:solidFill>
                  <a:srgbClr val="A94110"/>
                </a:solidFill>
                <a:latin typeface="Segoe UI"/>
                <a:ea typeface="Segoe UI"/>
                <a:cs typeface="Segoe UI"/>
              </a:rPr>
              <a:t>Challenges: shared contracts, stack acceptance and AWS access</a:t>
            </a:r>
          </a:p>
        </p:txBody>
      </p:sp>
    </p:spTree>
    <p:extLst>
      <p:ext uri="{BB962C8B-B14F-4D97-AF65-F5344CB8AC3E}">
        <p14:creationId xmlns:p14="http://schemas.microsoft.com/office/powerpoint/2010/main" val="17102701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57EAD4-B3B1-4C76-9A26-674407A9ECD9}"/>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Proposed route to Week 14</a:t>
            </a:r>
          </a:p>
        </p:txBody>
      </p:sp>
      <p:sp>
        <p:nvSpPr>
          <p:cNvPr id="2" name="">
            <a:extLst xmlns:a="http://schemas.openxmlformats.org/drawingml/2006/main">
              <a:ext uri="{FF2B5EF4-FFF2-40B4-BE49-F238E27FC236}">
                <a16:creationId xmlns:a16="http://schemas.microsoft.com/office/drawing/2014/main" id="{181141BA-457F-41D1-8C6B-D038AED6B024}"/>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11</a:t>
            </a:r>
          </a:p>
        </p:txBody>
      </p:sp>
      <p:graphicFrame>
        <p:nvGraphicFramePr>
          <p:cNvPr id="3" name="">
            <a:extLst xmlns:a="http://schemas.openxmlformats.org/drawingml/2006/main">
              <a:ext uri="{FF2B5EF4-FFF2-40B4-BE49-F238E27FC236}">
                <a16:creationId xmlns:a16="http://schemas.microsoft.com/office/drawing/2014/main" id="{C1B81A32-CED3-4B92-9E32-E54BD679715B}"/>
              </a:ext>
            </a:extLst>
          </p:cNvPr>
          <p:cNvGraphicFramePr/>
          <p:nvPr/>
        </p:nvGraphicFramePr>
        <p:xfrm>
          <a:off xmlns:a="http://schemas.openxmlformats.org/drawingml/2006/main" x="666750" y="1619250"/>
          <a:ext xmlns:a="http://schemas.openxmlformats.org/drawingml/2006/main" cx="10858500" cy="4095750"/>
        </p:xfrm>
        <a:graphic xmlns:a="http://schemas.openxmlformats.org/drawingml/2006/main">
          <a:graphicData uri="http://schemas.openxmlformats.org/drawingml/2006/table">
            <a:tbl>
              <a:tblPr/>
              <a:tblGrid>
                <a:gridCol w="2000250"/>
                <a:gridCol w="8858250"/>
              </a:tblGrid>
              <a:tr h="682625">
                <a:tc>
                  <a:txBody>
                    <a:bodyPr/>
                    <a:lstStyle/>
                    <a:p>
                      <a:r>
                        <a:rPr sz="1725" b="1">
                          <a:solidFill>
                            <a:srgbClr val="FFFFFF"/>
                          </a:solidFill>
                          <a:latin typeface="Segoe UI"/>
                          <a:ea typeface="Segoe UI"/>
                          <a:cs typeface="Segoe UI"/>
                        </a:rPr>
                        <a:t>Teaching week</a:t>
                      </a:r>
                    </a:p>
                  </a:txBody>
                  <a:tcPr marL="133350" marR="133350" marT="133350" marB="133350">
                    <a:lnL w="9525">
                      <a:solidFill>
                        <a:srgbClr val="C7D2DD"/>
                      </a:solidFill>
                      <a:prstDash val="solid"/>
                    </a:lnL>
                    <a:lnR w="9525">
                      <a:solidFill>
                        <a:srgbClr val="C7D2DD"/>
                      </a:solidFill>
                      <a:prstDash val="solid"/>
                    </a:lnR>
                    <a:lnT w="9525">
                      <a:solidFill>
                        <a:srgbClr val="C7D2DD"/>
                      </a:solidFill>
                      <a:prstDash val="solid"/>
                    </a:lnT>
                    <a:lnB w="9525">
                      <a:solidFill>
                        <a:srgbClr val="C7D2DD"/>
                      </a:solidFill>
                      <a:prstDash val="solid"/>
                    </a:lnB>
                    <a:solidFill>
                      <a:srgbClr val="152E48"/>
                    </a:solidFill>
                  </a:tcPr>
                </a:tc>
                <a:tc>
                  <a:txBody>
                    <a:bodyPr/>
                    <a:lstStyle/>
                    <a:p>
                      <a:r>
                        <a:rPr sz="1725" b="1">
                          <a:solidFill>
                            <a:srgbClr val="FFFFFF"/>
                          </a:solidFill>
                          <a:latin typeface="Segoe UI"/>
                          <a:ea typeface="Segoe UI"/>
                          <a:cs typeface="Segoe UI"/>
                        </a:rPr>
                        <a:t>Proposed milestone</a:t>
                      </a:r>
                    </a:p>
                  </a:txBody>
                  <a:tcPr marL="133350" marR="133350" marT="133350" marB="133350">
                    <a:lnR w="9525">
                      <a:solidFill>
                        <a:srgbClr val="C7D2DD"/>
                      </a:solidFill>
                      <a:prstDash val="solid"/>
                    </a:lnR>
                    <a:lnT w="9525">
                      <a:solidFill>
                        <a:srgbClr val="C7D2DD"/>
                      </a:solidFill>
                      <a:prstDash val="solid"/>
                    </a:lnT>
                    <a:lnB w="9525">
                      <a:solidFill>
                        <a:srgbClr val="C7D2DD"/>
                      </a:solidFill>
                      <a:prstDash val="solid"/>
                    </a:lnB>
                    <a:solidFill>
                      <a:srgbClr val="152E48"/>
                    </a:solidFill>
                  </a:tcPr>
                </a:tc>
              </a:tr>
              <a:tr h="682625">
                <a:tc>
                  <a:txBody>
                    <a:bodyPr/>
                    <a:lstStyle/>
                    <a:p>
                      <a:r>
                        <a:rPr sz="1725">
                          <a:solidFill>
                            <a:srgbClr val="172B3A"/>
                          </a:solidFill>
                          <a:latin typeface="Segoe UI"/>
                          <a:ea typeface="Segoe UI"/>
                          <a:cs typeface="Segoe UI"/>
                        </a:rPr>
                        <a:t>6</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PH1: shared foundation and test harness</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82625">
                <a:tc>
                  <a:txBody>
                    <a:bodyPr/>
                    <a:lstStyle/>
                    <a:p>
                      <a:r>
                        <a:rPr sz="1725">
                          <a:solidFill>
                            <a:srgbClr val="172B3A"/>
                          </a:solidFill>
                          <a:latin typeface="Segoe UI"/>
                          <a:ea typeface="Segoe UI"/>
                          <a:cs typeface="Segoe UI"/>
                        </a:rPr>
                        <a:t>7</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PH2: real authenticated module slices</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82625">
                <a:tc>
                  <a:txBody>
                    <a:bodyPr/>
                    <a:lstStyle/>
                    <a:p>
                      <a:r>
                        <a:rPr sz="1725">
                          <a:solidFill>
                            <a:srgbClr val="172B3A"/>
                          </a:solidFill>
                          <a:latin typeface="Segoe UI"/>
                          <a:ea typeface="Segoe UI"/>
                          <a:cs typeface="Segoe UI"/>
                        </a:rPr>
                        <a:t>8-9</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PH3: full functionality and early AWS smoke</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82625">
                <a:tc>
                  <a:txBody>
                    <a:bodyPr/>
                    <a:lstStyle/>
                    <a:p>
                      <a:r>
                        <a:rPr sz="1725">
                          <a:solidFill>
                            <a:srgbClr val="172B3A"/>
                          </a:solidFill>
                          <a:latin typeface="Segoe UI"/>
                          <a:ea typeface="Segoe UI"/>
                          <a:cs typeface="Segoe UI"/>
                        </a:rPr>
                        <a:t>10-12</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PH4-PH5: security regression and AWS operations</a:t>
                      </a:r>
                    </a:p>
                  </a:txBody>
                  <a:tcPr marL="133350" marR="133350" marT="133350" marB="133350">
                    <a:lnR w="9525">
                      <a:solidFill>
                        <a:srgbClr val="C7D2DD"/>
                      </a:solidFill>
                      <a:prstDash val="solid"/>
                    </a:lnR>
                    <a:lnB w="9525">
                      <a:solidFill>
                        <a:srgbClr val="C7D2DD"/>
                      </a:solidFill>
                      <a:prstDash val="solid"/>
                    </a:lnB>
                    <a:solidFill>
                      <a:srgbClr val="FFFFFF"/>
                    </a:solidFill>
                  </a:tcPr>
                </a:tc>
              </a:tr>
              <a:tr h="682625">
                <a:tc>
                  <a:txBody>
                    <a:bodyPr/>
                    <a:lstStyle/>
                    <a:p>
                      <a:r>
                        <a:rPr sz="1725">
                          <a:solidFill>
                            <a:srgbClr val="172B3A"/>
                          </a:solidFill>
                          <a:latin typeface="Segoe UI"/>
                          <a:ea typeface="Segoe UI"/>
                          <a:cs typeface="Segoe UI"/>
                        </a:rPr>
                        <a:t>13-14</a:t>
                      </a:r>
                    </a:p>
                  </a:txBody>
                  <a:tcPr marL="133350" marR="133350" marT="133350" marB="133350">
                    <a:lnL w="9525">
                      <a:solidFill>
                        <a:srgbClr val="C7D2DD"/>
                      </a:solidFill>
                      <a:prstDash val="solid"/>
                    </a:lnL>
                    <a:lnR w="9525">
                      <a:solidFill>
                        <a:srgbClr val="C7D2DD"/>
                      </a:solidFill>
                      <a:prstDash val="solid"/>
                    </a:lnR>
                    <a:lnB w="9525">
                      <a:solidFill>
                        <a:srgbClr val="C7D2DD"/>
                      </a:solidFill>
                      <a:prstDash val="solid"/>
                    </a:lnB>
                    <a:solidFill>
                      <a:srgbClr val="FFFFFF"/>
                    </a:solidFill>
                  </a:tcPr>
                </a:tc>
                <a:tc>
                  <a:txBody>
                    <a:bodyPr/>
                    <a:lstStyle/>
                    <a:p>
                      <a:r>
                        <a:rPr sz="1725">
                          <a:solidFill>
                            <a:srgbClr val="172B3A"/>
                          </a:solidFill>
                          <a:latin typeface="Segoe UI"/>
                          <a:ea typeface="Segoe UI"/>
                          <a:cs typeface="Segoe UI"/>
                        </a:rPr>
                        <a:t>PH6: evidence, rehearsal and final submission</a:t>
                      </a:r>
                    </a:p>
                  </a:txBody>
                  <a:tcPr marL="133350" marR="133350" marT="133350" marB="133350">
                    <a:lnR w="9525">
                      <a:solidFill>
                        <a:srgbClr val="C7D2DD"/>
                      </a:solidFill>
                      <a:prstDash val="solid"/>
                    </a:lnR>
                    <a:lnB w="9525">
                      <a:solidFill>
                        <a:srgbClr val="C7D2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969B535-F81F-4DD7-A92F-7456993B060A}"/>
              </a:ext>
            </a:extLst>
          </p:cNvPr>
          <p:cNvSpPr>
            <a:spLocks xmlns:a="http://schemas.openxmlformats.org/drawingml/2006/main" noGrp="1"/>
          </p:cNvSpPr>
          <p:nvPr/>
        </p:nvSpPr>
        <p:spPr>
          <a:xfrm xmlns:a="http://schemas.openxmlformats.org/drawingml/2006/main">
            <a:off x="714375" y="60007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171"/>
                </a:solidFill>
                <a:latin typeface="Segoe UI"/>
                <a:ea typeface="Segoe UI"/>
                <a:cs typeface="Segoe UI"/>
              </a:defRPr>
            </a:defPPr>
            <a:lvl1pPr>
              <a:defRPr sz="1800" b="0">
                <a:solidFill>
                  <a:srgbClr val="526171"/>
                </a:solidFill>
                <a:latin typeface="Segoe UI"/>
                <a:ea typeface="Segoe UI"/>
                <a:cs typeface="Segoe UI"/>
              </a:defRPr>
            </a:lvl1pPr>
            <a:lvl2pPr>
              <a:defRPr sz="1800" b="0">
                <a:solidFill>
                  <a:srgbClr val="526171"/>
                </a:solidFill>
                <a:latin typeface="Segoe UI"/>
                <a:ea typeface="Segoe UI"/>
                <a:cs typeface="Segoe UI"/>
              </a:defRPr>
            </a:lvl2pPr>
            <a:lvl3pPr>
              <a:defRPr sz="1800" b="0">
                <a:solidFill>
                  <a:srgbClr val="526171"/>
                </a:solidFill>
                <a:latin typeface="Segoe UI"/>
                <a:ea typeface="Segoe UI"/>
                <a:cs typeface="Segoe UI"/>
              </a:defRPr>
            </a:lvl3pPr>
            <a:lvl4pPr>
              <a:defRPr sz="1800" b="0">
                <a:solidFill>
                  <a:srgbClr val="526171"/>
                </a:solidFill>
                <a:latin typeface="Segoe UI"/>
                <a:ea typeface="Segoe UI"/>
                <a:cs typeface="Segoe UI"/>
              </a:defRPr>
            </a:lvl4pPr>
            <a:lvl5pPr>
              <a:defRPr sz="1800" b="0">
                <a:solidFill>
                  <a:srgbClr val="526171"/>
                </a:solidFill>
                <a:latin typeface="Segoe UI"/>
                <a:ea typeface="Segoe UI"/>
                <a:cs typeface="Segoe UI"/>
              </a:defRPr>
            </a:lvl5pPr>
            <a:lvl6pPr>
              <a:defRPr sz="1800" b="0">
                <a:solidFill>
                  <a:srgbClr val="526171"/>
                </a:solidFill>
                <a:latin typeface="Segoe UI"/>
                <a:ea typeface="Segoe UI"/>
                <a:cs typeface="Segoe UI"/>
              </a:defRPr>
            </a:lvl6pPr>
            <a:lvl7pPr>
              <a:defRPr sz="1800" b="0">
                <a:solidFill>
                  <a:srgbClr val="526171"/>
                </a:solidFill>
                <a:latin typeface="Segoe UI"/>
                <a:ea typeface="Segoe UI"/>
                <a:cs typeface="Segoe UI"/>
              </a:defRPr>
            </a:lvl7pPr>
            <a:lvl8pPr>
              <a:defRPr sz="1800" b="0">
                <a:solidFill>
                  <a:srgbClr val="526171"/>
                </a:solidFill>
                <a:latin typeface="Segoe UI"/>
                <a:ea typeface="Segoe UI"/>
                <a:cs typeface="Segoe UI"/>
              </a:defRPr>
            </a:lvl8pPr>
            <a:lvl9pPr>
              <a:defRPr sz="1800" b="0">
                <a:solidFill>
                  <a:srgbClr val="526171"/>
                </a:solidFill>
                <a:latin typeface="Segoe UI"/>
                <a:ea typeface="Segoe UI"/>
                <a:cs typeface="Segoe UI"/>
              </a:defRPr>
            </a:lvl9pPr>
          </a:lstStyle>
          <a:p xmlns:a="http://schemas.openxmlformats.org/drawingml/2006/main">
            <a:pPr>
              <a:defRPr sz="1800" b="0">
                <a:solidFill>
                  <a:srgbClr val="526171"/>
                </a:solidFill>
                <a:latin typeface="Segoe UI"/>
                <a:ea typeface="Segoe UI"/>
                <a:cs typeface="Segoe UI"/>
              </a:defRPr>
            </a:pPr>
            <a:r>
              <a:rPr sz="1800" b="0">
                <a:solidFill>
                  <a:srgbClr val="526171"/>
                </a:solidFill>
                <a:latin typeface="Segoe UI"/>
                <a:ea typeface="Segoe UI"/>
                <a:cs typeface="Segoe UI"/>
              </a:rPr>
              <a:t>Proposed schedule. Confirm the Week 14 calendar date.</a:t>
            </a:r>
          </a:p>
        </p:txBody>
      </p:sp>
    </p:spTree>
    <p:extLst>
      <p:ext uri="{BB962C8B-B14F-4D97-AF65-F5344CB8AC3E}">
        <p14:creationId xmlns:p14="http://schemas.microsoft.com/office/powerpoint/2010/main" val="15876217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7C9FA7-0844-438A-A82E-EFC36B924CBB}"/>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E48"/>
                </a:solidFill>
                <a:latin typeface="Segoe UI"/>
                <a:ea typeface="Segoe UI"/>
                <a:cs typeface="Segoe UI"/>
              </a:defRPr>
            </a:defPPr>
            <a:lvl1pPr>
              <a:defRPr sz="3225" b="1">
                <a:solidFill>
                  <a:srgbClr val="152E48"/>
                </a:solidFill>
                <a:latin typeface="Segoe UI"/>
                <a:ea typeface="Segoe UI"/>
                <a:cs typeface="Segoe UI"/>
              </a:defRPr>
            </a:lvl1pPr>
            <a:lvl2pPr>
              <a:defRPr sz="3225" b="1">
                <a:solidFill>
                  <a:srgbClr val="152E48"/>
                </a:solidFill>
                <a:latin typeface="Segoe UI"/>
                <a:ea typeface="Segoe UI"/>
                <a:cs typeface="Segoe UI"/>
              </a:defRPr>
            </a:lvl2pPr>
            <a:lvl3pPr>
              <a:defRPr sz="3225" b="1">
                <a:solidFill>
                  <a:srgbClr val="152E48"/>
                </a:solidFill>
                <a:latin typeface="Segoe UI"/>
                <a:ea typeface="Segoe UI"/>
                <a:cs typeface="Segoe UI"/>
              </a:defRPr>
            </a:lvl3pPr>
            <a:lvl4pPr>
              <a:defRPr sz="3225" b="1">
                <a:solidFill>
                  <a:srgbClr val="152E48"/>
                </a:solidFill>
                <a:latin typeface="Segoe UI"/>
                <a:ea typeface="Segoe UI"/>
                <a:cs typeface="Segoe UI"/>
              </a:defRPr>
            </a:lvl4pPr>
            <a:lvl5pPr>
              <a:defRPr sz="3225" b="1">
                <a:solidFill>
                  <a:srgbClr val="152E48"/>
                </a:solidFill>
                <a:latin typeface="Segoe UI"/>
                <a:ea typeface="Segoe UI"/>
                <a:cs typeface="Segoe UI"/>
              </a:defRPr>
            </a:lvl5pPr>
            <a:lvl6pPr>
              <a:defRPr sz="3225" b="1">
                <a:solidFill>
                  <a:srgbClr val="152E48"/>
                </a:solidFill>
                <a:latin typeface="Segoe UI"/>
                <a:ea typeface="Segoe UI"/>
                <a:cs typeface="Segoe UI"/>
              </a:defRPr>
            </a:lvl6pPr>
            <a:lvl7pPr>
              <a:defRPr sz="3225" b="1">
                <a:solidFill>
                  <a:srgbClr val="152E48"/>
                </a:solidFill>
                <a:latin typeface="Segoe UI"/>
                <a:ea typeface="Segoe UI"/>
                <a:cs typeface="Segoe UI"/>
              </a:defRPr>
            </a:lvl7pPr>
            <a:lvl8pPr>
              <a:defRPr sz="3225" b="1">
                <a:solidFill>
                  <a:srgbClr val="152E48"/>
                </a:solidFill>
                <a:latin typeface="Segoe UI"/>
                <a:ea typeface="Segoe UI"/>
                <a:cs typeface="Segoe UI"/>
              </a:defRPr>
            </a:lvl8pPr>
            <a:lvl9pPr>
              <a:defRPr sz="3225" b="1">
                <a:solidFill>
                  <a:srgbClr val="152E48"/>
                </a:solidFill>
                <a:latin typeface="Segoe UI"/>
                <a:ea typeface="Segoe UI"/>
                <a:cs typeface="Segoe UI"/>
              </a:defRPr>
            </a:lvl9pPr>
          </a:lstStyle>
          <a:p xmlns:a="http://schemas.openxmlformats.org/drawingml/2006/main">
            <a:pPr>
              <a:defRPr sz="3225" b="1">
                <a:solidFill>
                  <a:srgbClr val="152E48"/>
                </a:solidFill>
                <a:latin typeface="Segoe UI"/>
                <a:ea typeface="Segoe UI"/>
                <a:cs typeface="Segoe UI"/>
              </a:defRPr>
            </a:pPr>
            <a:r>
              <a:rPr sz="3225" b="1">
                <a:solidFill>
                  <a:srgbClr val="152E48"/>
                </a:solidFill>
                <a:latin typeface="Segoe UI"/>
                <a:ea typeface="Segoe UI"/>
                <a:cs typeface="Segoe UI"/>
              </a:rPr>
              <a:t>Live demonstration</a:t>
            </a:r>
          </a:p>
        </p:txBody>
      </p:sp>
      <p:sp>
        <p:nvSpPr>
          <p:cNvPr id="2" name="">
            <a:extLst xmlns:a="http://schemas.openxmlformats.org/drawingml/2006/main">
              <a:ext uri="{FF2B5EF4-FFF2-40B4-BE49-F238E27FC236}">
                <a16:creationId xmlns:a16="http://schemas.microsoft.com/office/drawing/2014/main" id="{55C26603-C70E-401D-8163-64F9AC4FE58F}"/>
              </a:ext>
            </a:extLst>
          </p:cNvPr>
          <p:cNvSpPr>
            <a:spLocks xmlns:a="http://schemas.openxmlformats.org/drawingml/2006/main" noGrp="1"/>
          </p:cNvSpPr>
          <p:nvPr/>
        </p:nvSpPr>
        <p:spPr>
          <a:xfrm xmlns:a="http://schemas.openxmlformats.org/drawingml/2006/main">
            <a:off x="11049000" y="62388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171"/>
                </a:solidFill>
                <a:latin typeface="Segoe UI"/>
                <a:ea typeface="Segoe UI"/>
                <a:cs typeface="Segoe UI"/>
              </a:defRPr>
            </a:defPPr>
            <a:lvl1pPr>
              <a:defRPr sz="1350" b="0">
                <a:solidFill>
                  <a:srgbClr val="526171"/>
                </a:solidFill>
                <a:latin typeface="Segoe UI"/>
                <a:ea typeface="Segoe UI"/>
                <a:cs typeface="Segoe UI"/>
              </a:defRPr>
            </a:lvl1pPr>
            <a:lvl2pPr>
              <a:defRPr sz="1350" b="0">
                <a:solidFill>
                  <a:srgbClr val="526171"/>
                </a:solidFill>
                <a:latin typeface="Segoe UI"/>
                <a:ea typeface="Segoe UI"/>
                <a:cs typeface="Segoe UI"/>
              </a:defRPr>
            </a:lvl2pPr>
            <a:lvl3pPr>
              <a:defRPr sz="1350" b="0">
                <a:solidFill>
                  <a:srgbClr val="526171"/>
                </a:solidFill>
                <a:latin typeface="Segoe UI"/>
                <a:ea typeface="Segoe UI"/>
                <a:cs typeface="Segoe UI"/>
              </a:defRPr>
            </a:lvl3pPr>
            <a:lvl4pPr>
              <a:defRPr sz="1350" b="0">
                <a:solidFill>
                  <a:srgbClr val="526171"/>
                </a:solidFill>
                <a:latin typeface="Segoe UI"/>
                <a:ea typeface="Segoe UI"/>
                <a:cs typeface="Segoe UI"/>
              </a:defRPr>
            </a:lvl4pPr>
            <a:lvl5pPr>
              <a:defRPr sz="1350" b="0">
                <a:solidFill>
                  <a:srgbClr val="526171"/>
                </a:solidFill>
                <a:latin typeface="Segoe UI"/>
                <a:ea typeface="Segoe UI"/>
                <a:cs typeface="Segoe UI"/>
              </a:defRPr>
            </a:lvl5pPr>
            <a:lvl6pPr>
              <a:defRPr sz="1350" b="0">
                <a:solidFill>
                  <a:srgbClr val="526171"/>
                </a:solidFill>
                <a:latin typeface="Segoe UI"/>
                <a:ea typeface="Segoe UI"/>
                <a:cs typeface="Segoe UI"/>
              </a:defRPr>
            </a:lvl6pPr>
            <a:lvl7pPr>
              <a:defRPr sz="1350" b="0">
                <a:solidFill>
                  <a:srgbClr val="526171"/>
                </a:solidFill>
                <a:latin typeface="Segoe UI"/>
                <a:ea typeface="Segoe UI"/>
                <a:cs typeface="Segoe UI"/>
              </a:defRPr>
            </a:lvl7pPr>
            <a:lvl8pPr>
              <a:defRPr sz="1350" b="0">
                <a:solidFill>
                  <a:srgbClr val="526171"/>
                </a:solidFill>
                <a:latin typeface="Segoe UI"/>
                <a:ea typeface="Segoe UI"/>
                <a:cs typeface="Segoe UI"/>
              </a:defRPr>
            </a:lvl8pPr>
            <a:lvl9pPr>
              <a:defRPr sz="1350" b="0">
                <a:solidFill>
                  <a:srgbClr val="526171"/>
                </a:solidFill>
                <a:latin typeface="Segoe UI"/>
                <a:ea typeface="Segoe UI"/>
                <a:cs typeface="Segoe UI"/>
              </a:defRPr>
            </a:lvl9pPr>
          </a:lstStyle>
          <a:p xmlns:a="http://schemas.openxmlformats.org/drawingml/2006/main">
            <a:pPr>
              <a:defRPr sz="1350" b="0">
                <a:solidFill>
                  <a:srgbClr val="526171"/>
                </a:solidFill>
                <a:latin typeface="Segoe UI"/>
                <a:ea typeface="Segoe UI"/>
                <a:cs typeface="Segoe UI"/>
              </a:defRPr>
            </a:pPr>
            <a:r>
              <a:rPr sz="1350" b="0">
                <a:solidFill>
                  <a:srgbClr val="526171"/>
                </a:solidFill>
                <a:latin typeface="Segoe UI"/>
                <a:ea typeface="Segoe UI"/>
                <a:cs typeface="Segoe UI"/>
              </a:rPr>
              <a:t>12</a:t>
            </a:r>
          </a:p>
        </p:txBody>
      </p:sp>
      <p:sp>
        <p:nvSpPr>
          <p:cNvPr id="3" name="">
            <a:extLst xmlns:a="http://schemas.openxmlformats.org/drawingml/2006/main">
              <a:ext uri="{FF2B5EF4-FFF2-40B4-BE49-F238E27FC236}">
                <a16:creationId xmlns:a16="http://schemas.microsoft.com/office/drawing/2014/main" id="{9D1CB245-30E8-415C-AE07-742772A0C889}"/>
              </a:ext>
            </a:extLst>
          </p:cNvPr>
          <p:cNvSpPr>
            <a:spLocks xmlns:a="http://schemas.openxmlformats.org/drawingml/2006/main" noGrp="1"/>
          </p:cNvSpPr>
          <p:nvPr/>
        </p:nvSpPr>
        <p:spPr>
          <a:xfrm xmlns:a="http://schemas.openxmlformats.org/drawingml/2006/main">
            <a:off x="666750" y="16192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Naszrul: sample sign-in and role interface</a:t>
            </a:r>
          </a:p>
        </p:txBody>
      </p:sp>
      <p:sp>
        <p:nvSpPr>
          <p:cNvPr id="4" name="">
            <a:extLst xmlns:a="http://schemas.openxmlformats.org/drawingml/2006/main">
              <a:ext uri="{FF2B5EF4-FFF2-40B4-BE49-F238E27FC236}">
                <a16:creationId xmlns:a16="http://schemas.microsoft.com/office/drawing/2014/main" id="{F043C417-4A4C-4E06-BF8F-424FFBE4C21F}"/>
              </a:ext>
            </a:extLst>
          </p:cNvPr>
          <p:cNvSpPr>
            <a:spLocks xmlns:a="http://schemas.openxmlformats.org/drawingml/2006/main" noGrp="1"/>
          </p:cNvSpPr>
          <p:nvPr/>
        </p:nvSpPr>
        <p:spPr>
          <a:xfrm xmlns:a="http://schemas.openxmlformats.org/drawingml/2006/main">
            <a:off x="666750" y="23717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Zikri: create parcel and retain its token</a:t>
            </a:r>
          </a:p>
        </p:txBody>
      </p:sp>
      <p:sp>
        <p:nvSpPr>
          <p:cNvPr id="5" name="">
            <a:extLst xmlns:a="http://schemas.openxmlformats.org/drawingml/2006/main">
              <a:ext uri="{FF2B5EF4-FFF2-40B4-BE49-F238E27FC236}">
                <a16:creationId xmlns:a16="http://schemas.microsoft.com/office/drawing/2014/main" id="{D7712879-2DDA-464D-86E6-B249FA4D1785}"/>
              </a:ext>
            </a:extLst>
          </p:cNvPr>
          <p:cNvSpPr>
            <a:spLocks xmlns:a="http://schemas.openxmlformats.org/drawingml/2006/main" noGrp="1"/>
          </p:cNvSpPr>
          <p:nvPr/>
        </p:nvSpPr>
        <p:spPr>
          <a:xfrm xmlns:a="http://schemas.openxmlformats.org/drawingml/2006/main">
            <a:off x="666750" y="31242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Syauqi: assign, start delivery and record outcome</a:t>
            </a:r>
          </a:p>
        </p:txBody>
      </p:sp>
      <p:sp>
        <p:nvSpPr>
          <p:cNvPr id="6" name="">
            <a:extLst xmlns:a="http://schemas.openxmlformats.org/drawingml/2006/main">
              <a:ext uri="{FF2B5EF4-FFF2-40B4-BE49-F238E27FC236}">
                <a16:creationId xmlns:a16="http://schemas.microsoft.com/office/drawing/2014/main" id="{02E8C933-0253-45AE-8162-E88B19F3B8CD}"/>
              </a:ext>
            </a:extLst>
          </p:cNvPr>
          <p:cNvSpPr>
            <a:spLocks xmlns:a="http://schemas.openxmlformats.org/drawingml/2006/main" noGrp="1"/>
          </p:cNvSpPr>
          <p:nvPr/>
        </p:nvSpPr>
        <p:spPr>
          <a:xfrm xmlns:a="http://schemas.openxmlformats.org/drawingml/2006/main">
            <a:off x="666750" y="38766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Zikri: public tracking of the same parcel</a:t>
            </a:r>
          </a:p>
        </p:txBody>
      </p:sp>
      <p:sp>
        <p:nvSpPr>
          <p:cNvPr id="7" name="">
            <a:extLst xmlns:a="http://schemas.openxmlformats.org/drawingml/2006/main">
              <a:ext uri="{FF2B5EF4-FFF2-40B4-BE49-F238E27FC236}">
                <a16:creationId xmlns:a16="http://schemas.microsoft.com/office/drawing/2014/main" id="{C027CCF6-1FDC-45AD-8BB1-4688FB77C3B5}"/>
              </a:ext>
            </a:extLst>
          </p:cNvPr>
          <p:cNvSpPr>
            <a:spLocks xmlns:a="http://schemas.openxmlformats.org/drawingml/2006/main" noGrp="1"/>
          </p:cNvSpPr>
          <p:nvPr/>
        </p:nvSpPr>
        <p:spPr>
          <a:xfrm xmlns:a="http://schemas.openxmlformats.org/drawingml/2006/main">
            <a:off x="666750" y="46291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3A"/>
                </a:solidFill>
                <a:latin typeface="Segoe UI"/>
                <a:ea typeface="Segoe UI"/>
                <a:cs typeface="Segoe UI"/>
              </a:defRPr>
            </a:defPPr>
            <a:lvl1pPr>
              <a:defRPr sz="2100" b="0">
                <a:solidFill>
                  <a:srgbClr val="172B3A"/>
                </a:solidFill>
                <a:latin typeface="Segoe UI"/>
                <a:ea typeface="Segoe UI"/>
                <a:cs typeface="Segoe UI"/>
              </a:defRPr>
            </a:lvl1pPr>
            <a:lvl2pPr>
              <a:defRPr sz="2100" b="0">
                <a:solidFill>
                  <a:srgbClr val="172B3A"/>
                </a:solidFill>
                <a:latin typeface="Segoe UI"/>
                <a:ea typeface="Segoe UI"/>
                <a:cs typeface="Segoe UI"/>
              </a:defRPr>
            </a:lvl2pPr>
            <a:lvl3pPr>
              <a:defRPr sz="2100" b="0">
                <a:solidFill>
                  <a:srgbClr val="172B3A"/>
                </a:solidFill>
                <a:latin typeface="Segoe UI"/>
                <a:ea typeface="Segoe UI"/>
                <a:cs typeface="Segoe UI"/>
              </a:defRPr>
            </a:lvl3pPr>
            <a:lvl4pPr>
              <a:defRPr sz="2100" b="0">
                <a:solidFill>
                  <a:srgbClr val="172B3A"/>
                </a:solidFill>
                <a:latin typeface="Segoe UI"/>
                <a:ea typeface="Segoe UI"/>
                <a:cs typeface="Segoe UI"/>
              </a:defRPr>
            </a:lvl4pPr>
            <a:lvl5pPr>
              <a:defRPr sz="2100" b="0">
                <a:solidFill>
                  <a:srgbClr val="172B3A"/>
                </a:solidFill>
                <a:latin typeface="Segoe UI"/>
                <a:ea typeface="Segoe UI"/>
                <a:cs typeface="Segoe UI"/>
              </a:defRPr>
            </a:lvl5pPr>
            <a:lvl6pPr>
              <a:defRPr sz="2100" b="0">
                <a:solidFill>
                  <a:srgbClr val="172B3A"/>
                </a:solidFill>
                <a:latin typeface="Segoe UI"/>
                <a:ea typeface="Segoe UI"/>
                <a:cs typeface="Segoe UI"/>
              </a:defRPr>
            </a:lvl6pPr>
            <a:lvl7pPr>
              <a:defRPr sz="2100" b="0">
                <a:solidFill>
                  <a:srgbClr val="172B3A"/>
                </a:solidFill>
                <a:latin typeface="Segoe UI"/>
                <a:ea typeface="Segoe UI"/>
                <a:cs typeface="Segoe UI"/>
              </a:defRPr>
            </a:lvl7pPr>
            <a:lvl8pPr>
              <a:defRPr sz="2100" b="0">
                <a:solidFill>
                  <a:srgbClr val="172B3A"/>
                </a:solidFill>
                <a:latin typeface="Segoe UI"/>
                <a:ea typeface="Segoe UI"/>
                <a:cs typeface="Segoe UI"/>
              </a:defRPr>
            </a:lvl8pPr>
            <a:lvl9pPr>
              <a:defRPr sz="2100" b="0">
                <a:solidFill>
                  <a:srgbClr val="172B3A"/>
                </a:solidFill>
                <a:latin typeface="Segoe UI"/>
                <a:ea typeface="Segoe UI"/>
                <a:cs typeface="Segoe UI"/>
              </a:defRPr>
            </a:lvl9pPr>
          </a:lstStyle>
          <a:p xmlns:a="http://schemas.openxmlformats.org/drawingml/2006/main">
            <a:pPr>
              <a:defRPr sz="2100" b="0">
                <a:solidFill>
                  <a:srgbClr val="172B3A"/>
                </a:solidFill>
                <a:latin typeface="Segoe UI"/>
                <a:ea typeface="Segoe UI"/>
                <a:cs typeface="Segoe UI"/>
              </a:defRPr>
            </a:pPr>
            <a:r>
              <a:rPr sz="2100" b="0">
                <a:solidFill>
                  <a:srgbClr val="172B3A"/>
                </a:solidFill>
                <a:latin typeface="Segoe UI"/>
                <a:ea typeface="Segoe UI"/>
                <a:cs typeface="Segoe UI"/>
              </a:rPr>
              <a:t>Reset sample data before each rehearsal</a:t>
            </a:r>
          </a:p>
        </p:txBody>
      </p:sp>
      <p:sp>
        <p:nvSpPr>
          <p:cNvPr id="8" name="">
            <a:extLst xmlns:a="http://schemas.openxmlformats.org/drawingml/2006/main">
              <a:ext uri="{FF2B5EF4-FFF2-40B4-BE49-F238E27FC236}">
                <a16:creationId xmlns:a16="http://schemas.microsoft.com/office/drawing/2014/main" id="{3E0E61B3-8126-44D0-84DE-A0B23B870176}"/>
              </a:ext>
            </a:extLst>
          </p:cNvPr>
          <p:cNvSpPr>
            <a:spLocks xmlns:a="http://schemas.openxmlformats.org/drawingml/2006/main" noGrp="1"/>
          </p:cNvSpPr>
          <p:nvPr/>
        </p:nvSpPr>
        <p:spPr>
          <a:xfrm xmlns:a="http://schemas.openxmlformats.org/drawingml/2006/main">
            <a:off x="714375" y="5810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A94110"/>
                </a:solidFill>
                <a:latin typeface="Segoe UI"/>
                <a:ea typeface="Segoe UI"/>
                <a:cs typeface="Segoe UI"/>
              </a:defRPr>
            </a:defPPr>
            <a:lvl1pPr>
              <a:defRPr sz="1875" b="0">
                <a:solidFill>
                  <a:srgbClr val="A94110"/>
                </a:solidFill>
                <a:latin typeface="Segoe UI"/>
                <a:ea typeface="Segoe UI"/>
                <a:cs typeface="Segoe UI"/>
              </a:defRPr>
            </a:lvl1pPr>
            <a:lvl2pPr>
              <a:defRPr sz="1875" b="0">
                <a:solidFill>
                  <a:srgbClr val="A94110"/>
                </a:solidFill>
                <a:latin typeface="Segoe UI"/>
                <a:ea typeface="Segoe UI"/>
                <a:cs typeface="Segoe UI"/>
              </a:defRPr>
            </a:lvl2pPr>
            <a:lvl3pPr>
              <a:defRPr sz="1875" b="0">
                <a:solidFill>
                  <a:srgbClr val="A94110"/>
                </a:solidFill>
                <a:latin typeface="Segoe UI"/>
                <a:ea typeface="Segoe UI"/>
                <a:cs typeface="Segoe UI"/>
              </a:defRPr>
            </a:lvl3pPr>
            <a:lvl4pPr>
              <a:defRPr sz="1875" b="0">
                <a:solidFill>
                  <a:srgbClr val="A94110"/>
                </a:solidFill>
                <a:latin typeface="Segoe UI"/>
                <a:ea typeface="Segoe UI"/>
                <a:cs typeface="Segoe UI"/>
              </a:defRPr>
            </a:lvl4pPr>
            <a:lvl5pPr>
              <a:defRPr sz="1875" b="0">
                <a:solidFill>
                  <a:srgbClr val="A94110"/>
                </a:solidFill>
                <a:latin typeface="Segoe UI"/>
                <a:ea typeface="Segoe UI"/>
                <a:cs typeface="Segoe UI"/>
              </a:defRPr>
            </a:lvl5pPr>
            <a:lvl6pPr>
              <a:defRPr sz="1875" b="0">
                <a:solidFill>
                  <a:srgbClr val="A94110"/>
                </a:solidFill>
                <a:latin typeface="Segoe UI"/>
                <a:ea typeface="Segoe UI"/>
                <a:cs typeface="Segoe UI"/>
              </a:defRPr>
            </a:lvl6pPr>
            <a:lvl7pPr>
              <a:defRPr sz="1875" b="0">
                <a:solidFill>
                  <a:srgbClr val="A94110"/>
                </a:solidFill>
                <a:latin typeface="Segoe UI"/>
                <a:ea typeface="Segoe UI"/>
                <a:cs typeface="Segoe UI"/>
              </a:defRPr>
            </a:lvl7pPr>
            <a:lvl8pPr>
              <a:defRPr sz="1875" b="0">
                <a:solidFill>
                  <a:srgbClr val="A94110"/>
                </a:solidFill>
                <a:latin typeface="Segoe UI"/>
                <a:ea typeface="Segoe UI"/>
                <a:cs typeface="Segoe UI"/>
              </a:defRPr>
            </a:lvl8pPr>
            <a:lvl9pPr>
              <a:defRPr sz="1875" b="0">
                <a:solidFill>
                  <a:srgbClr val="A94110"/>
                </a:solidFill>
                <a:latin typeface="Segoe UI"/>
                <a:ea typeface="Segoe UI"/>
                <a:cs typeface="Segoe UI"/>
              </a:defRPr>
            </a:lvl9pPr>
          </a:lstStyle>
          <a:p xmlns:a="http://schemas.openxmlformats.org/drawingml/2006/main">
            <a:pPr>
              <a:defRPr sz="1875" b="0">
                <a:solidFill>
                  <a:srgbClr val="A94110"/>
                </a:solidFill>
                <a:latin typeface="Segoe UI"/>
                <a:ea typeface="Segoe UI"/>
                <a:cs typeface="Segoe UI"/>
              </a:defRPr>
            </a:pPr>
            <a:r>
              <a:rPr sz="1875" b="0">
                <a:solidFill>
                  <a:srgbClr val="A94110"/>
                </a:solidFill>
                <a:latin typeface="Segoe UI"/>
                <a:ea typeface="Segoe UI"/>
                <a:cs typeface="Segoe UI"/>
              </a:rPr>
              <a:t>github.com/Naszrul-NZL/ParcelTrack-Lite</a:t>
            </a:r>
          </a:p>
        </p:txBody>
      </p:sp>
    </p:spTree>
    <p:extLst>
      <p:ext uri="{BB962C8B-B14F-4D97-AF65-F5344CB8AC3E}">
        <p14:creationId xmlns:p14="http://schemas.microsoft.com/office/powerpoint/2010/main" val="2082546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2026-10-21T14:04:07.0260000Z</dcterms:created>
  <dcterms:modified xsi:type="dcterms:W3CDTF">2026-10-21T14:04:07.0260000Z</dcterms:modified>
</coreProperties>
</file>